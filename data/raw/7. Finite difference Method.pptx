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302" r:id="rId3"/>
    <p:sldId id="291" r:id="rId4"/>
    <p:sldId id="293" r:id="rId5"/>
    <p:sldId id="294" r:id="rId6"/>
    <p:sldId id="296" r:id="rId7"/>
    <p:sldId id="292" r:id="rId8"/>
    <p:sldId id="298" r:id="rId9"/>
    <p:sldId id="299" r:id="rId10"/>
    <p:sldId id="297" r:id="rId11"/>
    <p:sldId id="410" r:id="rId12"/>
    <p:sldId id="467" r:id="rId13"/>
    <p:sldId id="412" r:id="rId14"/>
    <p:sldId id="416" r:id="rId15"/>
    <p:sldId id="419" r:id="rId16"/>
    <p:sldId id="417" r:id="rId17"/>
    <p:sldId id="469" r:id="rId18"/>
    <p:sldId id="470" r:id="rId19"/>
    <p:sldId id="471" r:id="rId20"/>
    <p:sldId id="474" r:id="rId21"/>
    <p:sldId id="475" r:id="rId22"/>
    <p:sldId id="476" r:id="rId23"/>
    <p:sldId id="477" r:id="rId24"/>
    <p:sldId id="4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3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5D5C9-6E48-46EC-9AAE-17B6B9249DDC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7D0C2-B352-43AE-A2E4-8CBB5BA8E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0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1811C547-8B83-FC12-FBE4-7D2D0F6F2B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DAD657-BD1A-44A2-99D3-DEFBAB0B016C}" type="slidenum">
              <a:rPr lang="ar-SA" altLang="en-US">
                <a:latin typeface="Arial" panose="020B0604020202020204" pitchFamily="34" charset="0"/>
              </a:rPr>
              <a:pPr eaLnBrk="1" hangingPunct="1"/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559EBF33-CBA9-8734-4B65-993D43403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4A666DB-4C27-F7CB-6D65-9D7BBFB91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953FCB3-59D1-28B3-592C-38129C7786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C2E992-B8EC-43CF-9E72-649088C43B7B}" type="slidenum">
              <a:rPr lang="ar-SA" altLang="en-US">
                <a:latin typeface="Arial" panose="020B0604020202020204" pitchFamily="34" charset="0"/>
              </a:rPr>
              <a:pPr eaLnBrk="1" hangingPunct="1"/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167397D-9DE7-9B5B-07AE-493CB31850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17690B0-988B-5B87-E6C7-C1E699FAE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CB7DFDC-E9C7-4B41-C719-A5649A89BA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061865-3A74-4584-815F-84E04FFB9651}" type="slidenum">
              <a:rPr lang="ar-SA" altLang="en-US">
                <a:latin typeface="Arial" panose="020B0604020202020204" pitchFamily="34" charset="0"/>
              </a:rPr>
              <a:pPr eaLnBrk="1" hangingPunct="1"/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0D4FABC5-EE89-CFE2-392B-744968445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F2F35F7A-EBFC-FB76-016E-853CAA06EA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BEFA5E7B-CB83-F6C4-E9C2-F9F4384B5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86F7A3-FC19-4271-B996-EE23A016CD9E}" type="slidenum">
              <a:rPr lang="ar-SA" altLang="en-US">
                <a:latin typeface="Arial" panose="020B0604020202020204" pitchFamily="34" charset="0"/>
              </a:rPr>
              <a:pPr eaLnBrk="1" hangingPunct="1"/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9DC67EA-5825-1391-102C-9F42AD71D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C217159F-940C-F010-A68C-C02211D1D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75621DBC-E165-609C-1E80-FF9762707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CBCFA3-F4CE-420E-BE0E-E5AC3B199089}" type="slidenum">
              <a:rPr lang="ar-SA" altLang="en-US">
                <a:latin typeface="Arial" panose="020B0604020202020204" pitchFamily="34" charset="0"/>
              </a:rPr>
              <a:pPr eaLnBrk="1" hangingPunct="1"/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14340041-8CD4-14D4-3115-C79A7EA8C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6747C512-D214-D1C7-F08C-E65A949A3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318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A9BC8BF5-D06A-CDB0-D190-8458BC45A2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BB5F2A-363C-474B-A9C0-FF9252A0FA3E}" type="slidenum">
              <a:rPr lang="ar-SA" altLang="en-US">
                <a:latin typeface="Arial" panose="020B0604020202020204" pitchFamily="34" charset="0"/>
              </a:rPr>
              <a:pPr eaLnBrk="1" hangingPunct="1"/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3481574C-636D-71DF-2FBF-3E242D2751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AA0F0AD0-BB62-595C-A728-C175B22D4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148C7E70-C354-63AB-F9A2-F15EA38DDB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07CEFD-C227-4B2E-AD47-97D304706773}" type="slidenum">
              <a:rPr lang="ar-SA" altLang="en-US">
                <a:latin typeface="Arial" panose="020B0604020202020204" pitchFamily="34" charset="0"/>
              </a:rPr>
              <a:pPr eaLnBrk="1" hangingPunct="1"/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0F751E25-CB72-22EF-C1BA-525B10A243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26035F1C-DC08-2546-B3F5-D898640BC6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914F7424-FBC3-575C-6C39-9C8E306639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86B007-476B-4F84-B3CE-511CCF0844A3}" type="slidenum">
              <a:rPr lang="ar-SA" altLang="en-US">
                <a:latin typeface="Arial" panose="020B0604020202020204" pitchFamily="34" charset="0"/>
              </a:rPr>
              <a:pPr eaLnBrk="1" hangingPunct="1"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A4630687-A1C7-2AD5-216E-E230B45943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FF74285A-7E4B-8009-44B0-F028FEA5C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2DD34F49-ADCA-AEBA-7276-907DCD745B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9C0B626-7F5A-47A6-90F5-FFB0165F7C76}" type="slidenum">
              <a:rPr lang="ar-SA" altLang="en-US">
                <a:latin typeface="Arial" panose="020B0604020202020204" pitchFamily="34" charset="0"/>
              </a:rPr>
              <a:pPr eaLnBrk="1" hangingPunct="1"/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56EF7A13-0398-2543-B1AC-071C0842D8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5C224964-C8E6-23D4-365B-E4859425B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ACC702B6-1657-5C9F-B34C-65966CF87D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015F48A-6AB8-48ED-B214-22BF7D85EE8A}" type="slidenum">
              <a:rPr lang="ar-SA" altLang="en-US">
                <a:latin typeface="Arial" panose="020B0604020202020204" pitchFamily="34" charset="0"/>
              </a:rPr>
              <a:pPr eaLnBrk="1" hangingPunct="1"/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AF1821B8-E763-E3AF-F331-D9CC8480FB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78048F1C-29BA-3366-CC16-8FF81230C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68574277-636C-DEA3-8B54-649DA88C4C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B6700C1-EEB9-493E-8191-6A34CA918019}" type="slidenum">
              <a:rPr lang="ar-SA" altLang="en-US">
                <a:latin typeface="Arial" panose="020B0604020202020204" pitchFamily="34" charset="0"/>
              </a:rPr>
              <a:pPr eaLnBrk="1" hangingPunct="1"/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5EB6BA8A-1C54-7C75-C5C9-4ADD6D5E30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8F3D577-C1DA-6EAB-B509-0C2F90364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FB7D2FA0-CAAE-D72F-D78A-DAE7775319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ED2DF09-1F21-4817-B6F6-BB1FDF868DB0}" type="slidenum">
              <a:rPr lang="ar-SA" altLang="en-US">
                <a:latin typeface="Arial" panose="020B0604020202020204" pitchFamily="34" charset="0"/>
              </a:rPr>
              <a:pPr eaLnBrk="1" hangingPunct="1"/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ED4AA743-23BD-2F98-625B-558684BF88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1AFCB5CB-6680-87F7-2F36-B3CCFF41D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D954CA02-9B7E-89F5-7E70-E674665907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02A691-D7F4-43C4-9051-B5C3BDE896F2}" type="slidenum">
              <a:rPr lang="ar-SA" altLang="en-US">
                <a:latin typeface="Arial" panose="020B0604020202020204" pitchFamily="34" charset="0"/>
              </a:rPr>
              <a:pPr eaLnBrk="1" hangingPunct="1"/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33783E9C-B40B-84F4-0203-2885CCF973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D3B7A94-4C31-BEBF-E532-689920E56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63BDFF99-467D-8693-0395-54FE517773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55CE334-C0B5-4FD6-BDCD-1E682E81D829}" type="slidenum">
              <a:rPr lang="ar-SA" altLang="en-US">
                <a:latin typeface="Arial" panose="020B0604020202020204" pitchFamily="34" charset="0"/>
              </a:rPr>
              <a:pPr eaLnBrk="1" hangingPunct="1"/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1282EDE-F141-9719-4386-7D88A7DD6D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91B527E-4FF0-15AC-92D3-D806BBB4B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57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01EC-8677-FF16-AE3D-4D47C445B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5E77B-6A4C-6C3B-9B11-CD22DEC02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A74E-1F16-18D1-DF20-CF079DD6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98A7F-FCA2-7EB5-4957-010E05C0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3207F-6DDB-42D7-565D-D8930953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63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DD48-ABDF-2C8A-FB1E-E747C635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1FCE1-757E-3ED1-9761-E2CD9AC9B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77FFD-7601-4151-08E4-2F477B23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3CD66-637B-2A69-06A1-A0CD8C70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B881-015A-7FF1-AE00-AD6A3D3E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3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8153-1C8D-C62F-AF90-07D50B6F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765B3-06C8-3519-823A-66481A8DF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7B66B-B104-AA47-35B0-C374BA2C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10141-1B19-FFE6-4901-8C767BDB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2BDCF-C6C9-1558-A156-6A2E1C08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88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FB15-7204-3778-D95D-F0DB950A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114F-8560-C379-0BD9-828BAB276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AC7C-1F2B-B2E4-604A-E9E2E2DF8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C1B38-B0D4-76A3-BDCE-591B9F65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904A-3AC3-77BE-7ADD-6AAEA26C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65A81-28E3-147C-CEF1-42C20F98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04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A4A2-8F04-24E3-B2B5-AE1904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64753-3C67-0BF3-E367-2AE487E94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D43B3-3251-12BB-961B-69435DC0E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DEDF3-36A4-A12D-5396-A8EA4E80C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7EE75-EF32-7206-C10E-D34A3BD4C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15E8C-4E72-2A1A-31CD-A98A79EB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AB5F8-DDFE-9916-63C1-BA324C7C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E98BD-2D6E-8070-794B-6972823B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4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85A7-B1B5-8706-9C30-53B849E8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073E0-7353-259D-D5D4-B30B935B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CB8BC-4A89-205C-FB41-80F38F462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1877E-2A78-376F-7EA9-CE98DB26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35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8632D-7179-F7B0-5836-FD9B3613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CBF76-CD18-50DC-99B5-E3A61CD7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167E-EF59-1FE7-1176-30908462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88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5045-3F96-13D2-7301-88ECB6DE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DFB5-6AC5-985C-489F-C0C280DAA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4F395-1536-4761-9196-EF84D74D7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155A2-FF5F-78F4-FE9C-CA6A3789F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91C3F-DF74-1EA3-7B52-D65CD2E5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49470-CFCA-0DDC-6841-6BEE7C20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13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FA3A-8765-FF74-9812-5F657EEB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56A2D-2921-1BAA-068F-CD9BFA3A2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8739-BC40-9E26-6059-3D75E5302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CD784-5AF9-F9BA-191E-750134DC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249A5-66FC-6671-7235-260E1451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7B108-E9FD-9B90-8F73-EA5F174C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2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E760-91A5-DEED-A9AB-FA677DB3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BAA67-19D9-F80E-97B0-F09D03DFF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0BED-743E-6AC1-7E15-7D6D25AE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1CF67-0EC4-09AF-242F-6CE7FC2D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5FBBA-CA10-BA9D-0C05-D53A6DA8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84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9F4ED-2CD0-CADC-B291-C6B1523DE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1A8D0-1DE6-ED99-B119-774981F46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5F97E-1762-9E96-8EA1-89A4B47BF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DC212-315F-9C07-A918-BB51A943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A8DD1-FADD-1D09-9341-24EDF433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6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71CC9-CE99-C9AF-DD54-6A95E065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B73EE-6876-8ED9-2CC3-01C4E1243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98033-287B-80A0-2608-09677183E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C9655-E37F-4647-AFD4-4AF0E68FF503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F6CAE-47A3-64C3-F5C4-F4873BB74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487FB-29B6-AF35-59EA-A6AD8ADB7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7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11.wmf"/><Relationship Id="rId4" Type="http://schemas.openxmlformats.org/officeDocument/2006/relationships/image" Target="../media/image1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32261"/>
            <a:ext cx="7772400" cy="432628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PARTIAL DIFFERENTIAL EQUATIONS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BCD72-7E7A-527E-3357-E7AD83789661}"/>
              </a:ext>
            </a:extLst>
          </p:cNvPr>
          <p:cNvSpPr txBox="1"/>
          <p:nvPr/>
        </p:nvSpPr>
        <p:spPr>
          <a:xfrm>
            <a:off x="3236343" y="3642006"/>
            <a:ext cx="5719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Dr. Anirban Tarafdar</a:t>
            </a:r>
          </a:p>
          <a:p>
            <a:pPr algn="ctr"/>
            <a:r>
              <a:rPr lang="en-IN" dirty="0"/>
              <a:t>Amrita Vishwa Vidyapeetham, Faridabad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003396-05C0-722A-FBD8-1DCEC255F25F}"/>
              </a:ext>
            </a:extLst>
          </p:cNvPr>
          <p:cNvSpPr txBox="1">
            <a:spLocks/>
          </p:cNvSpPr>
          <p:nvPr/>
        </p:nvSpPr>
        <p:spPr>
          <a:xfrm>
            <a:off x="2395451" y="1745645"/>
            <a:ext cx="7772400" cy="114718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 Black" panose="020B0A04020102020204" pitchFamily="34" charset="0"/>
              </a:rPr>
              <a:t>Finite Difference Method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89F26C64-A773-1829-A193-BEC417467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Numerical methods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86C9FA4E-DB93-AFAA-CEE7-C73E73BC09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0"/>
            <a:ext cx="86868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Most PDEs cannot be solved analytically.</a:t>
            </a:r>
          </a:p>
          <a:p>
            <a:pPr>
              <a:lnSpc>
                <a:spcPct val="80000"/>
              </a:lnSpc>
            </a:pPr>
            <a:r>
              <a:rPr lang="en-US" altLang="en-US"/>
              <a:t>Variable separation works only for some</a:t>
            </a:r>
            <a:br>
              <a:rPr lang="en-US" altLang="en-US"/>
            </a:br>
            <a:r>
              <a:rPr lang="en-US" altLang="en-US"/>
              <a:t>simple cases and in particular usually not</a:t>
            </a:r>
            <a:br>
              <a:rPr lang="en-US" altLang="en-US"/>
            </a:br>
            <a:r>
              <a:rPr lang="en-US" altLang="en-US"/>
              <a:t>for inhomogenous and/or nonlinear PDEs.</a:t>
            </a:r>
          </a:p>
          <a:p>
            <a:pPr>
              <a:lnSpc>
                <a:spcPct val="80000"/>
              </a:lnSpc>
            </a:pPr>
            <a:r>
              <a:rPr lang="en-US" altLang="en-US"/>
              <a:t>Numerical methods require that the PDE</a:t>
            </a:r>
            <a:br>
              <a:rPr lang="en-US" altLang="en-US"/>
            </a:br>
            <a:r>
              <a:rPr lang="en-US" altLang="en-US"/>
              <a:t>become discretized on a grid.</a:t>
            </a:r>
          </a:p>
          <a:p>
            <a:pPr>
              <a:lnSpc>
                <a:spcPct val="80000"/>
              </a:lnSpc>
            </a:pPr>
            <a:r>
              <a:rPr lang="en-US" altLang="en-US" b="1"/>
              <a:t>Finite difference methods</a:t>
            </a:r>
            <a:r>
              <a:rPr lang="en-US" altLang="en-US"/>
              <a:t> are popular/</a:t>
            </a:r>
            <a:br>
              <a:rPr lang="en-US" altLang="en-US"/>
            </a:br>
            <a:r>
              <a:rPr lang="en-US" altLang="en-US"/>
              <a:t>most commonly used in science. They replace differential equation by difference equations)</a:t>
            </a:r>
          </a:p>
          <a:p>
            <a:pPr>
              <a:lnSpc>
                <a:spcPct val="80000"/>
              </a:lnSpc>
            </a:pPr>
            <a:r>
              <a:rPr lang="en-US" altLang="en-US"/>
              <a:t>Engineers (and a growing number of</a:t>
            </a:r>
            <a:br>
              <a:rPr lang="en-US" altLang="en-US"/>
            </a:br>
            <a:r>
              <a:rPr lang="en-US" altLang="en-US"/>
              <a:t>scientists too) often use </a:t>
            </a:r>
            <a:r>
              <a:rPr lang="en-US" altLang="en-US" b="1"/>
              <a:t>Finite Elements.</a:t>
            </a:r>
          </a:p>
          <a:p>
            <a:pPr>
              <a:lnSpc>
                <a:spcPct val="80000"/>
              </a:lnSpc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9341642-CA80-61E6-9FA0-B2CF1D30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63AE-BB0D-4E2B-B0F1-88AE5DEC300C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2" name="Rectangle 6">
            <a:extLst>
              <a:ext uri="{FF2B5EF4-FFF2-40B4-BE49-F238E27FC236}">
                <a16:creationId xmlns:a16="http://schemas.microsoft.com/office/drawing/2014/main" id="{28630A44-85E9-8705-9E5D-B045A3F46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763" y="83416"/>
            <a:ext cx="10515600" cy="835819"/>
          </a:xfrm>
        </p:spPr>
        <p:txBody>
          <a:bodyPr/>
          <a:lstStyle/>
          <a:p>
            <a:r>
              <a:rPr lang="en-US" altLang="en-US" dirty="0"/>
              <a:t>Finite differences</a:t>
            </a:r>
          </a:p>
        </p:txBody>
      </p:sp>
      <p:pic>
        <p:nvPicPr>
          <p:cNvPr id="65541" name="Picture 5">
            <a:extLst>
              <a:ext uri="{FF2B5EF4-FFF2-40B4-BE49-F238E27FC236}">
                <a16:creationId xmlns:a16="http://schemas.microsoft.com/office/drawing/2014/main" id="{2BF86E2A-B755-1F97-224F-647AF89EB2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1371600"/>
            <a:ext cx="7315200" cy="1322388"/>
          </a:xfrm>
          <a:noFill/>
          <a:ln/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07141-273A-1E62-87FB-9CBBE0ED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3A40F-B44E-4A03-86E9-CEA6A5EC371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5546" name="Rectangle 10">
            <a:extLst>
              <a:ext uri="{FF2B5EF4-FFF2-40B4-BE49-F238E27FC236}">
                <a16:creationId xmlns:a16="http://schemas.microsoft.com/office/drawing/2014/main" id="{B46DBB52-7B70-25D0-D34D-3CE4E04435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3048000"/>
            <a:ext cx="7772400" cy="3429000"/>
          </a:xfrm>
        </p:spPr>
        <p:txBody>
          <a:bodyPr/>
          <a:lstStyle/>
          <a:p>
            <a:r>
              <a:rPr lang="en-US" altLang="en-US"/>
              <a:t>How to compute differential quotient numerically?</a:t>
            </a:r>
          </a:p>
          <a:p>
            <a:r>
              <a:rPr lang="en-US" altLang="en-US"/>
              <a:t>Just apply the formular above for a finite </a:t>
            </a:r>
            <a:r>
              <a:rPr lang="en-US" altLang="en-US" b="1"/>
              <a:t>h</a:t>
            </a:r>
            <a:r>
              <a:rPr lang="en-US" altLang="en-US"/>
              <a:t>.</a:t>
            </a:r>
          </a:p>
          <a:p>
            <a:r>
              <a:rPr lang="en-US" altLang="en-US"/>
              <a:t>For simplicity we use an equidistant grid in</a:t>
            </a:r>
            <a:br>
              <a:rPr lang="en-US" altLang="en-US"/>
            </a:br>
            <a:r>
              <a:rPr lang="en-US" altLang="en-US"/>
              <a:t>x=[0,h,2h,3h,......(n-1) h] and evaluate f(x)</a:t>
            </a:r>
            <a:br>
              <a:rPr lang="en-US" altLang="en-US"/>
            </a:br>
            <a:r>
              <a:rPr lang="en-US" altLang="en-US"/>
              <a:t>on the corresponding grid points xi. </a:t>
            </a:r>
          </a:p>
          <a:p>
            <a:r>
              <a:rPr lang="en-US" altLang="en-US"/>
              <a:t>Grid resolution h must be sufficient high.</a:t>
            </a:r>
            <a:br>
              <a:rPr lang="en-US" altLang="en-US"/>
            </a:br>
            <a:r>
              <a:rPr lang="en-US" altLang="en-US"/>
              <a:t>Depends strongly on function f(x)! </a:t>
            </a:r>
          </a:p>
        </p:txBody>
      </p:sp>
      <p:sp>
        <p:nvSpPr>
          <p:cNvPr id="65544" name="Text Box 8">
            <a:extLst>
              <a:ext uri="{FF2B5EF4-FFF2-40B4-BE49-F238E27FC236}">
                <a16:creationId xmlns:a16="http://schemas.microsoft.com/office/drawing/2014/main" id="{0F1C81F6-F921-A4C4-88AB-EAE7FFAFF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914401"/>
            <a:ext cx="63228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Remember the definition of differential quotient:</a:t>
            </a:r>
          </a:p>
        </p:txBody>
      </p:sp>
      <p:sp>
        <p:nvSpPr>
          <p:cNvPr id="65545" name="Text Box 9">
            <a:extLst>
              <a:ext uri="{FF2B5EF4-FFF2-40B4-BE49-F238E27FC236}">
                <a16:creationId xmlns:a16="http://schemas.microsoft.com/office/drawing/2014/main" id="{C4C547CE-B321-80D4-3512-F7DD1A84D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725" y="2784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>
            <a:extLst>
              <a:ext uri="{FF2B5EF4-FFF2-40B4-BE49-F238E27FC236}">
                <a16:creationId xmlns:a16="http://schemas.microsoft.com/office/drawing/2014/main" id="{C4E10C18-94AD-C39F-954C-3FAF164C6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763" y="0"/>
            <a:ext cx="10515600" cy="1101347"/>
          </a:xfrm>
        </p:spPr>
        <p:txBody>
          <a:bodyPr/>
          <a:lstStyle/>
          <a:p>
            <a:r>
              <a:rPr lang="en-US" altLang="en-US" dirty="0"/>
              <a:t>Accuracy of finite differences</a:t>
            </a:r>
          </a:p>
        </p:txBody>
      </p:sp>
      <p:pic>
        <p:nvPicPr>
          <p:cNvPr id="70662" name="Picture 6">
            <a:extLst>
              <a:ext uri="{FF2B5EF4-FFF2-40B4-BE49-F238E27FC236}">
                <a16:creationId xmlns:a16="http://schemas.microsoft.com/office/drawing/2014/main" id="{8DD74B02-B023-F10C-8F16-50D71BEBEF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6420" y="2777837"/>
            <a:ext cx="4876800" cy="3989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698AC9-4580-8182-0658-50593C26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E3EC6-8912-4AEB-9B50-86D45A43C989}" type="slidenum">
              <a:rPr lang="en-US" altLang="en-US"/>
              <a:pPr/>
              <a:t>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661" name="Text Box 5">
                <a:extLst>
                  <a:ext uri="{FF2B5EF4-FFF2-40B4-BE49-F238E27FC236}">
                    <a16:creationId xmlns:a16="http://schemas.microsoft.com/office/drawing/2014/main" id="{65763D16-76E6-AEB3-4D32-F5D46DA87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636" y="927004"/>
                <a:ext cx="10778836" cy="147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/>
                  <a:t>We approximate the derivative of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𝒔𝒊</m:t>
                    </m:r>
                    <m:func>
                      <m:funcPr>
                        <m:ctrlP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fName>
                      <m:e>
                        <m:d>
                          <m:dPr>
                            <m:ctrlP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on a grid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altLang="en-US" sz="2000" b="1" i="1" dirty="0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altLang="en-US" sz="2000" dirty="0"/>
                  <a:t> with 50 (and 500) grid points by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  <m:t>𝒅𝒇</m:t>
                        </m:r>
                      </m:num>
                      <m:den>
                        <m:r>
                          <a:rPr lang="en-US" altLang="en-US" sz="2000" b="1" i="1" dirty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US" altLang="en-US" sz="2000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0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en-US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b="1" i="1" dirty="0" err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en-US" sz="2000" b="1" i="1" dirty="0" err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2000" b="1" i="1" dirty="0" err="1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</m:d>
                            <m: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en-US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altLang="en-US" sz="20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r>
                      <a:rPr lang="en-IN" alt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 and compare with the exact solution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i="1" dirty="0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en-US" sz="2000" i="1" dirty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2000" i="0" dirty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70661" name="Text Box 5">
                <a:extLst>
                  <a:ext uri="{FF2B5EF4-FFF2-40B4-BE49-F238E27FC236}">
                    <a16:creationId xmlns:a16="http://schemas.microsoft.com/office/drawing/2014/main" id="{65763D16-76E6-AEB3-4D32-F5D46DA87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636" y="927004"/>
                <a:ext cx="10778836" cy="1477777"/>
              </a:xfrm>
              <a:prstGeom prst="rect">
                <a:avLst/>
              </a:prstGeom>
              <a:blipFill>
                <a:blip r:embed="rId3"/>
                <a:stretch>
                  <a:fillRect l="-566" t="-20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664" name="Text Box 8">
            <a:extLst>
              <a:ext uri="{FF2B5EF4-FFF2-40B4-BE49-F238E27FC236}">
                <a16:creationId xmlns:a16="http://schemas.microsoft.com/office/drawing/2014/main" id="{2F284EB5-69B4-637D-AA46-4658A052A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657600"/>
            <a:ext cx="3733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Average error done by discretisation: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50 grid points:  0.040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500 grid points: 0.004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BC590DD1-2CBC-BD14-035B-6786B5A93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55" y="0"/>
            <a:ext cx="10515600" cy="1325563"/>
          </a:xfrm>
        </p:spPr>
        <p:txBody>
          <a:bodyPr/>
          <a:lstStyle/>
          <a:p>
            <a:r>
              <a:rPr lang="en-US" altLang="en-US" dirty="0"/>
              <a:t>Accuracy of finite differences</a:t>
            </a:r>
          </a:p>
        </p:txBody>
      </p:sp>
      <p:pic>
        <p:nvPicPr>
          <p:cNvPr id="73735" name="Picture 7">
            <a:extLst>
              <a:ext uri="{FF2B5EF4-FFF2-40B4-BE49-F238E27FC236}">
                <a16:creationId xmlns:a16="http://schemas.microsoft.com/office/drawing/2014/main" id="{381AAF43-2B55-2A43-8A50-51EAC2A6F9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27432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45EA57-54E7-19BB-E772-CAF14177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8F539-9853-42A6-8B7B-261D399206C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3733" name="Text Box 5">
            <a:extLst>
              <a:ext uri="{FF2B5EF4-FFF2-40B4-BE49-F238E27FC236}">
                <a16:creationId xmlns:a16="http://schemas.microsoft.com/office/drawing/2014/main" id="{D47A01F2-46FF-65FB-E93D-409DD5524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657600"/>
            <a:ext cx="3733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Average error done by discretisation: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50 grid points:  2.49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500 grid points: 0.256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9A3F9424-1836-415A-3064-05EE0C873F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636" y="927004"/>
                <a:ext cx="10778836" cy="147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/>
                  <a:t>We approximate the derivative of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𝒔𝒊</m:t>
                    </m:r>
                    <m:func>
                      <m:funcPr>
                        <m:ctrlP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fName>
                      <m:e>
                        <m:d>
                          <m:dPr>
                            <m:ctrlP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20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on a grid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altLang="en-US" sz="2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altLang="en-US" sz="2000" b="1" i="1" dirty="0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altLang="en-US" sz="2000" dirty="0"/>
                  <a:t> with 50 (and 500) grid points by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1" i="1" dirty="0" smtClean="0">
                            <a:latin typeface="Cambria Math" panose="02040503050406030204" pitchFamily="18" charset="0"/>
                          </a:rPr>
                          <m:t>𝒅𝒇</m:t>
                        </m:r>
                      </m:num>
                      <m:den>
                        <m:r>
                          <a:rPr lang="en-US" altLang="en-US" sz="2000" b="1" i="1" dirty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US" altLang="en-US" sz="2000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0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en-US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b="1" i="1" dirty="0" err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en-US" sz="2000" b="1" i="1" dirty="0" err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2000" b="1" i="1" dirty="0" err="1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</m:d>
                            <m: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000" b="1" i="1" dirty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en-US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altLang="en-US" sz="2000" b="1" i="1" dirty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r>
                      <a:rPr lang="en-IN" alt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 and compare with the exact solution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i="1" dirty="0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en-US" sz="2000" i="1" dirty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2000" i="0" dirty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9A3F9424-1836-415A-3064-05EE0C873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636" y="927004"/>
                <a:ext cx="10778836" cy="1477777"/>
              </a:xfrm>
              <a:prstGeom prst="rect">
                <a:avLst/>
              </a:prstGeom>
              <a:blipFill>
                <a:blip r:embed="rId3"/>
                <a:stretch>
                  <a:fillRect l="-566" t="-20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2" name="Rectangle 6">
            <a:extLst>
              <a:ext uri="{FF2B5EF4-FFF2-40B4-BE49-F238E27FC236}">
                <a16:creationId xmlns:a16="http://schemas.microsoft.com/office/drawing/2014/main" id="{512A7425-615C-30AD-1BE2-CF99B6611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altLang="en-US"/>
              <a:t>How to find higher order formulars?</a:t>
            </a:r>
          </a:p>
        </p:txBody>
      </p:sp>
      <p:pic>
        <p:nvPicPr>
          <p:cNvPr id="75781" name="Picture 5">
            <a:extLst>
              <a:ext uri="{FF2B5EF4-FFF2-40B4-BE49-F238E27FC236}">
                <a16:creationId xmlns:a16="http://schemas.microsoft.com/office/drawing/2014/main" id="{F70C7D3F-ACDE-6758-8C00-5307FA228C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3581400"/>
            <a:ext cx="8466138" cy="2147888"/>
          </a:xfrm>
          <a:noFill/>
          <a:ln/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B9FAFE-6CE4-8867-2733-5121E962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CBE0-1A06-4EB9-9B3C-F36AB42E2671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5784" name="Text Box 8">
            <a:extLst>
              <a:ext uri="{FF2B5EF4-FFF2-40B4-BE49-F238E27FC236}">
                <a16:creationId xmlns:a16="http://schemas.microsoft.com/office/drawing/2014/main" id="{0ED34D3E-146D-3E78-83ED-B2F1ADD8C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066801"/>
            <a:ext cx="76011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For sufficient smooth functions we describe the function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/>
              <a:t>f(x)</a:t>
            </a:r>
            <a:r>
              <a:rPr lang="en-US" altLang="en-US" sz="2400"/>
              <a:t> locally by polynomial of </a:t>
            </a:r>
            <a:r>
              <a:rPr lang="en-US" altLang="en-US" sz="2400" b="1"/>
              <a:t>n</a:t>
            </a:r>
            <a:r>
              <a:rPr lang="en-US" altLang="en-US" sz="2400"/>
              <a:t>th order. To do so </a:t>
            </a:r>
            <a:r>
              <a:rPr lang="en-US" altLang="en-US" sz="2400" b="1"/>
              <a:t>n+1</a:t>
            </a:r>
            <a:br>
              <a:rPr lang="en-US" altLang="en-US" sz="2400"/>
            </a:br>
            <a:r>
              <a:rPr lang="en-US" altLang="en-US" sz="2400"/>
              <a:t>grid points are required.</a:t>
            </a:r>
            <a:r>
              <a:rPr lang="en-US" altLang="en-US" sz="2400" b="1"/>
              <a:t> n</a:t>
            </a:r>
            <a:r>
              <a:rPr lang="en-US" altLang="en-US" sz="2400"/>
              <a:t> defines the </a:t>
            </a:r>
            <a:r>
              <a:rPr lang="en-US" altLang="en-US" sz="2400" b="1"/>
              <a:t>order</a:t>
            </a:r>
            <a:r>
              <a:rPr lang="en-US" altLang="en-US" sz="2400"/>
              <a:t> of the scheme.</a:t>
            </a:r>
          </a:p>
        </p:txBody>
      </p:sp>
      <p:sp>
        <p:nvSpPr>
          <p:cNvPr id="75785" name="Text Box 9">
            <a:extLst>
              <a:ext uri="{FF2B5EF4-FFF2-40B4-BE49-F238E27FC236}">
                <a16:creationId xmlns:a16="http://schemas.microsoft.com/office/drawing/2014/main" id="{9C64D6D4-D02F-46F2-E6C3-21633F015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4384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Make a Taylor expansion (Definition                         ):</a:t>
            </a:r>
          </a:p>
        </p:txBody>
      </p:sp>
      <p:pic>
        <p:nvPicPr>
          <p:cNvPr id="75788" name="Picture 12">
            <a:extLst>
              <a:ext uri="{FF2B5EF4-FFF2-40B4-BE49-F238E27FC236}">
                <a16:creationId xmlns:a16="http://schemas.microsoft.com/office/drawing/2014/main" id="{EEA07C04-58C9-0D1A-0FC1-19CD1DE8A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14600"/>
            <a:ext cx="1752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>
            <a:extLst>
              <a:ext uri="{FF2B5EF4-FFF2-40B4-BE49-F238E27FC236}">
                <a16:creationId xmlns:a16="http://schemas.microsoft.com/office/drawing/2014/main" id="{BDB85204-DEDF-76D2-32E9-62B1D42A5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How to find higher order formulars?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03F141E-1544-616E-A374-A4797E20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3D3-D22D-464D-B8D5-765DB4B948F4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8B78A771-8A10-9F8E-B3D7-F0128AF30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6" y="1336676"/>
            <a:ext cx="72882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And by linear combination we get the central difference: </a:t>
            </a:r>
          </a:p>
        </p:txBody>
      </p:sp>
      <p:pic>
        <p:nvPicPr>
          <p:cNvPr id="68614" name="Picture 6">
            <a:extLst>
              <a:ext uri="{FF2B5EF4-FFF2-40B4-BE49-F238E27FC236}">
                <a16:creationId xmlns:a16="http://schemas.microsoft.com/office/drawing/2014/main" id="{80A58E34-35E6-69E0-1903-F6CEAFBAF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843088"/>
            <a:ext cx="6324600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615" name="Text Box 7">
            <a:extLst>
              <a:ext uri="{FF2B5EF4-FFF2-40B4-BE49-F238E27FC236}">
                <a16:creationId xmlns:a16="http://schemas.microsoft.com/office/drawing/2014/main" id="{2EA3D70C-BA5C-5945-377B-010BA5E21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3124200"/>
            <a:ext cx="685142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At boundary points central differences might not be</a:t>
            </a:r>
            <a:br>
              <a:rPr lang="en-US" altLang="en-US" sz="2400"/>
            </a:br>
            <a:r>
              <a:rPr lang="en-US" altLang="en-US" sz="2400"/>
              <a:t>possible (because the point i-1 does not exist at the</a:t>
            </a:r>
            <a:br>
              <a:rPr lang="en-US" altLang="en-US" sz="2400"/>
            </a:br>
            <a:r>
              <a:rPr lang="en-US" altLang="en-US" sz="2400"/>
              <a:t>boundary i=0), but we can still find schemes of the</a:t>
            </a:r>
            <a:br>
              <a:rPr lang="en-US" altLang="en-US" sz="2400"/>
            </a:br>
            <a:r>
              <a:rPr lang="en-US" altLang="en-US" sz="2400"/>
              <a:t>same order by </a:t>
            </a:r>
            <a:r>
              <a:rPr lang="en-US" altLang="en-US" sz="2400" b="1"/>
              <a:t>one-sited</a:t>
            </a:r>
            <a:r>
              <a:rPr lang="en-US" altLang="en-US" sz="2400"/>
              <a:t> (here </a:t>
            </a:r>
            <a:r>
              <a:rPr lang="en-US" altLang="en-US" sz="2400" b="1"/>
              <a:t>right-sited</a:t>
            </a:r>
            <a:r>
              <a:rPr lang="en-US" altLang="en-US" sz="2400"/>
              <a:t>) derivative:</a:t>
            </a:r>
          </a:p>
        </p:txBody>
      </p:sp>
      <p:pic>
        <p:nvPicPr>
          <p:cNvPr id="68616" name="Picture 8">
            <a:extLst>
              <a:ext uri="{FF2B5EF4-FFF2-40B4-BE49-F238E27FC236}">
                <a16:creationId xmlns:a16="http://schemas.microsoft.com/office/drawing/2014/main" id="{3C2EDEC1-0595-9533-3DE9-131FE4BA1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648200"/>
            <a:ext cx="70104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618" name="Text Box 10">
            <a:extLst>
              <a:ext uri="{FF2B5EF4-FFF2-40B4-BE49-F238E27FC236}">
                <a16:creationId xmlns:a16="http://schemas.microsoft.com/office/drawing/2014/main" id="{C6161D3C-24DD-F79F-B4C2-98A54FFD7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5908676"/>
            <a:ext cx="62220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Alternatives to one sited derivatives are periodic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boundary conditions or to introduce ghost-cells.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5" grpId="0"/>
      <p:bldP spid="686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4">
            <a:extLst>
              <a:ext uri="{FF2B5EF4-FFF2-40B4-BE49-F238E27FC236}">
                <a16:creationId xmlns:a16="http://schemas.microsoft.com/office/drawing/2014/main" id="{D0D1590E-81A9-8DF9-40DC-47CFCF471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618" y="-2380"/>
            <a:ext cx="10515600" cy="1325563"/>
          </a:xfrm>
        </p:spPr>
        <p:txBody>
          <a:bodyPr/>
          <a:lstStyle/>
          <a:p>
            <a:r>
              <a:rPr lang="en-US" altLang="en-US" dirty="0"/>
              <a:t>Higher order methods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033E331-ACB0-6836-6C30-87DFFABF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A04BD-12E7-4E34-B56B-F4B630F027C1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82949" name="Text Box 5">
            <a:extLst>
              <a:ext uri="{FF2B5EF4-FFF2-40B4-BE49-F238E27FC236}">
                <a16:creationId xmlns:a16="http://schemas.microsoft.com/office/drawing/2014/main" id="{35FA71AB-FCFC-3F18-414C-EA853E5E6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18" y="1143775"/>
            <a:ext cx="1096587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By using more points (higher order polynomials) to approximate f(x) locally we can get higher orders, e.g. by an appropriate combination of</a:t>
            </a:r>
          </a:p>
        </p:txBody>
      </p:sp>
      <p:pic>
        <p:nvPicPr>
          <p:cNvPr id="82950" name="Picture 6">
            <a:extLst>
              <a:ext uri="{FF2B5EF4-FFF2-40B4-BE49-F238E27FC236}">
                <a16:creationId xmlns:a16="http://schemas.microsoft.com/office/drawing/2014/main" id="{BE08658A-5EDF-A91C-AD36-6C601BA90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2373314"/>
            <a:ext cx="7600950" cy="210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951" name="Text Box 7">
            <a:extLst>
              <a:ext uri="{FF2B5EF4-FFF2-40B4-BE49-F238E27FC236}">
                <a16:creationId xmlns:a16="http://schemas.microsoft.com/office/drawing/2014/main" id="{A82F6D00-1635-6215-D61A-B9CD0284C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056" y="4609296"/>
            <a:ext cx="592974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we get </a:t>
            </a:r>
            <a:r>
              <a:rPr lang="en-US" altLang="en-US" sz="2400" dirty="0"/>
              <a:t>4th order central differences: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/>
          </a:p>
        </p:txBody>
      </p:sp>
      <p:pic>
        <p:nvPicPr>
          <p:cNvPr id="82952" name="Picture 8">
            <a:extLst>
              <a:ext uri="{FF2B5EF4-FFF2-40B4-BE49-F238E27FC236}">
                <a16:creationId xmlns:a16="http://schemas.microsoft.com/office/drawing/2014/main" id="{0A651122-A385-A644-BF41-740AD9CC0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257800"/>
            <a:ext cx="822960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>
            <a:extLst>
              <a:ext uri="{FF2B5EF4-FFF2-40B4-BE49-F238E27FC236}">
                <a16:creationId xmlns:a16="http://schemas.microsoft.com/office/drawing/2014/main" id="{00E7052D-9610-5C04-F738-CB29C465E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en-US" dirty="0"/>
              <a:t>Accuracy of finite differences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DEE3E2D-CE71-869D-935A-A5611D88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B27-4C14-4969-AAD7-E9CE5193D991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84997" name="Text Box 5">
            <a:extLst>
              <a:ext uri="{FF2B5EF4-FFF2-40B4-BE49-F238E27FC236}">
                <a16:creationId xmlns:a16="http://schemas.microsoft.com/office/drawing/2014/main" id="{F29D5CC2-07C2-F4E0-EEAB-93F55A23E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990601"/>
            <a:ext cx="64366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We approximate the derivative of f(x)=sin(n x) 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a grid x=0 ...2 Pi with 50 (and 500) grid points with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1th, 2th and 4th order schemes:</a:t>
            </a:r>
          </a:p>
        </p:txBody>
      </p:sp>
      <p:graphicFrame>
        <p:nvGraphicFramePr>
          <p:cNvPr id="85047" name="Group 55">
            <a:extLst>
              <a:ext uri="{FF2B5EF4-FFF2-40B4-BE49-F238E27FC236}">
                <a16:creationId xmlns:a16="http://schemas.microsoft.com/office/drawing/2014/main" id="{56187ED5-47D7-F278-5C7B-AA7397A7C61E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2209801"/>
          <a:ext cx="8077200" cy="3987801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1700364409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89994617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488869648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1998383754"/>
                    </a:ext>
                  </a:extLst>
                </a:gridCol>
              </a:tblGrid>
              <a:tr h="588963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1th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2th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4th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147655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n=1, 50 pixel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0.04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0.0017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5.4 10</a:t>
                      </a:r>
                      <a:r>
                        <a:rPr kumimoji="0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-6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065066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n=1, 500 pixel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0.004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1.7 10</a:t>
                      </a:r>
                      <a:r>
                        <a:rPr kumimoji="0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-5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4.9 10</a:t>
                      </a:r>
                      <a:r>
                        <a:rPr kumimoji="0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-6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54174"/>
                  </a:ext>
                </a:extLst>
              </a:tr>
              <a:tr h="590550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n=8, 50 pixel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2.49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0.82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249827"/>
                  </a:ext>
                </a:extLst>
              </a:tr>
              <a:tr h="588963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n=8, 500 pixel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0.26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0.0086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4.5 10</a:t>
                      </a:r>
                      <a:r>
                        <a:rPr kumimoji="0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93250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n=20, 50 pixel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13.5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9.9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8.1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650787"/>
                  </a:ext>
                </a:extLst>
              </a:tr>
              <a:tr h="392113"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n=20, 500 pix.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1.60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0.13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0.0017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071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>
            <a:extLst>
              <a:ext uri="{FF2B5EF4-FFF2-40B4-BE49-F238E27FC236}">
                <a16:creationId xmlns:a16="http://schemas.microsoft.com/office/drawing/2014/main" id="{0FCF34A5-A314-4525-10C9-8FFBB7B83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8818" y="173503"/>
            <a:ext cx="10515600" cy="1325563"/>
          </a:xfrm>
        </p:spPr>
        <p:txBody>
          <a:bodyPr/>
          <a:lstStyle/>
          <a:p>
            <a:r>
              <a:rPr lang="en-US" altLang="en-US" dirty="0"/>
              <a:t>Higher derivatives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A7BA01F-14DA-3004-1BFA-CC6EBE11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1D23-1B14-459E-AA13-BEA96D508B28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80901" name="Text Box 5">
            <a:extLst>
              <a:ext uri="{FF2B5EF4-FFF2-40B4-BE49-F238E27FC236}">
                <a16:creationId xmlns:a16="http://schemas.microsoft.com/office/drawing/2014/main" id="{54C71A2E-B0E0-6993-E8EA-FC9543EA2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6" y="1209676"/>
            <a:ext cx="507247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How to derive higher derivatives?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From the Taylor expansion</a:t>
            </a:r>
          </a:p>
        </p:txBody>
      </p:sp>
      <p:pic>
        <p:nvPicPr>
          <p:cNvPr id="80902" name="Picture 6">
            <a:extLst>
              <a:ext uri="{FF2B5EF4-FFF2-40B4-BE49-F238E27FC236}">
                <a16:creationId xmlns:a16="http://schemas.microsoft.com/office/drawing/2014/main" id="{453D2EE0-1D9F-AF20-B131-5893620F7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2209800"/>
            <a:ext cx="8636000" cy="144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0903" name="Text Box 7">
            <a:extLst>
              <a:ext uri="{FF2B5EF4-FFF2-40B4-BE49-F238E27FC236}">
                <a16:creationId xmlns:a16="http://schemas.microsoft.com/office/drawing/2014/main" id="{1FB289AE-4825-4B95-B27E-C9EA95714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3800475"/>
            <a:ext cx="52130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we derive by a linear combination:</a:t>
            </a:r>
          </a:p>
        </p:txBody>
      </p:sp>
      <p:pic>
        <p:nvPicPr>
          <p:cNvPr id="80904" name="Picture 8">
            <a:extLst>
              <a:ext uri="{FF2B5EF4-FFF2-40B4-BE49-F238E27FC236}">
                <a16:creationId xmlns:a16="http://schemas.microsoft.com/office/drawing/2014/main" id="{7AD9BEF5-AEF9-3630-36AB-3DBF3A4AA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419600"/>
            <a:ext cx="7315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0905" name="Rectangle 9">
            <a:extLst>
              <a:ext uri="{FF2B5EF4-FFF2-40B4-BE49-F238E27FC236}">
                <a16:creationId xmlns:a16="http://schemas.microsoft.com/office/drawing/2014/main" id="{A45B7F2D-0BFF-197E-9A59-E11F1A2EE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419600"/>
            <a:ext cx="7315200" cy="9906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06" name="Text Box 10">
            <a:extLst>
              <a:ext uri="{FF2B5EF4-FFF2-40B4-BE49-F238E27FC236}">
                <a16:creationId xmlns:a16="http://schemas.microsoft.com/office/drawing/2014/main" id="{3699D899-1EBD-A5D4-3203-01BE16A4A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5454651"/>
            <a:ext cx="36289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</a:rPr>
              <a:t>Basic formular used to discretise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</a:rPr>
              <a:t>2.order Partial Differencial Equations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86AFBEEE-1F0D-4362-C68D-F55DE8F1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37989DC-F17C-44B2-ABB9-1226534FB05B}" type="slidenum">
              <a:rPr lang="ar-SA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F50EB81B-C07B-352B-996E-73DCF37D3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Parabolic Problems</a:t>
            </a:r>
            <a:endParaRPr lang="en-US" altLang="en-US" sz="4000"/>
          </a:p>
        </p:txBody>
      </p:sp>
      <p:graphicFrame>
        <p:nvGraphicFramePr>
          <p:cNvPr id="15362" name="Object 3">
            <a:extLst>
              <a:ext uri="{FF2B5EF4-FFF2-40B4-BE49-F238E27FC236}">
                <a16:creationId xmlns:a16="http://schemas.microsoft.com/office/drawing/2014/main" id="{04E6E52A-2A52-9FD2-50CA-7BD2B7F1FF60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47875" y="1881188"/>
          <a:ext cx="8324850" cy="331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12920" imgH="1600200" progId="Equation.3">
                  <p:embed/>
                </p:oleObj>
              </mc:Choice>
              <mc:Fallback>
                <p:oleObj name="Equation" r:id="rId3" imgW="4012920" imgH="1600200" progId="Equation.3">
                  <p:embed/>
                  <p:pic>
                    <p:nvPicPr>
                      <p:cNvPr id="15362" name="Object 3">
                        <a:extLst>
                          <a:ext uri="{FF2B5EF4-FFF2-40B4-BE49-F238E27FC236}">
                            <a16:creationId xmlns:a16="http://schemas.microsoft.com/office/drawing/2014/main" id="{04E6E52A-2A52-9FD2-50CA-7BD2B7F1FF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881188"/>
                        <a:ext cx="8324850" cy="331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Line 4">
            <a:extLst>
              <a:ext uri="{FF2B5EF4-FFF2-40B4-BE49-F238E27FC236}">
                <a16:creationId xmlns:a16="http://schemas.microsoft.com/office/drawing/2014/main" id="{75E53F0D-2DF5-FCB2-F4BD-D3787FF49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7338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367" name="Text Box 5">
            <a:extLst>
              <a:ext uri="{FF2B5EF4-FFF2-40B4-BE49-F238E27FC236}">
                <a16:creationId xmlns:a16="http://schemas.microsoft.com/office/drawing/2014/main" id="{3F71CF03-6D63-BC20-14F7-84A9985F1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37480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15368" name="Rectangle 6">
            <a:extLst>
              <a:ext uri="{FF2B5EF4-FFF2-40B4-BE49-F238E27FC236}">
                <a16:creationId xmlns:a16="http://schemas.microsoft.com/office/drawing/2014/main" id="{2A7EB0DC-EB2B-69F8-01C4-8D8B7CFB5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819400"/>
            <a:ext cx="2667000" cy="381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9" name="Rectangle 7">
            <a:extLst>
              <a:ext uri="{FF2B5EF4-FFF2-40B4-BE49-F238E27FC236}">
                <a16:creationId xmlns:a16="http://schemas.microsoft.com/office/drawing/2014/main" id="{1FC4A40D-6E35-213C-34AA-51BEB0F68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76600"/>
            <a:ext cx="2667000" cy="457200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0" name="AutoShape 8">
            <a:extLst>
              <a:ext uri="{FF2B5EF4-FFF2-40B4-BE49-F238E27FC236}">
                <a16:creationId xmlns:a16="http://schemas.microsoft.com/office/drawing/2014/main" id="{ABF87D50-30DF-233E-3CBA-1DBFB1DCDF4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43900" y="2476500"/>
            <a:ext cx="152400" cy="2209800"/>
          </a:xfrm>
          <a:prstGeom prst="can">
            <a:avLst>
              <a:gd name="adj" fmla="val 7505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1" name="Text Box 9">
            <a:extLst>
              <a:ext uri="{FF2B5EF4-FFF2-40B4-BE49-F238E27FC236}">
                <a16:creationId xmlns:a16="http://schemas.microsoft.com/office/drawing/2014/main" id="{CDD5425A-A167-CCD0-D438-FFA8C55CF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352801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ice</a:t>
            </a:r>
          </a:p>
        </p:txBody>
      </p:sp>
      <p:sp>
        <p:nvSpPr>
          <p:cNvPr id="15372" name="Text Box 10">
            <a:extLst>
              <a:ext uri="{FF2B5EF4-FFF2-40B4-BE49-F238E27FC236}">
                <a16:creationId xmlns:a16="http://schemas.microsoft.com/office/drawing/2014/main" id="{F9567D92-04F7-A29B-69AE-921C54EAE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32766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ice</a:t>
            </a:r>
          </a:p>
        </p:txBody>
      </p:sp>
      <p:sp>
        <p:nvSpPr>
          <p:cNvPr id="15373" name="Rectangle 11">
            <a:extLst>
              <a:ext uri="{FF2B5EF4-FFF2-40B4-BE49-F238E27FC236}">
                <a16:creationId xmlns:a16="http://schemas.microsoft.com/office/drawing/2014/main" id="{6BC7AFED-6E35-8CB0-8F96-8FA83B0F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124200"/>
            <a:ext cx="762000" cy="533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4" name="Rectangle 12">
            <a:extLst>
              <a:ext uri="{FF2B5EF4-FFF2-40B4-BE49-F238E27FC236}">
                <a16:creationId xmlns:a16="http://schemas.microsoft.com/office/drawing/2014/main" id="{D48B6972-DAB3-AA90-EB26-F78C10966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3124200"/>
            <a:ext cx="685800" cy="533400"/>
          </a:xfrm>
          <a:prstGeom prst="rect">
            <a:avLst/>
          </a:prstGeom>
          <a:solidFill>
            <a:schemeClr val="bg1">
              <a:alpha val="30196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D604C839-5941-2EDC-D3B3-507A391E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E823F3-5A32-4C38-9399-F7038701121A}" type="slidenum">
              <a:rPr lang="ar-SA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65540" name="Rectangle 2">
            <a:extLst>
              <a:ext uri="{FF2B5EF4-FFF2-40B4-BE49-F238E27FC236}">
                <a16:creationId xmlns:a16="http://schemas.microsoft.com/office/drawing/2014/main" id="{4858881B-0ABB-9869-B8F8-E297CC79D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237" y="443346"/>
            <a:ext cx="6615545" cy="757815"/>
          </a:xfrm>
        </p:spPr>
        <p:txBody>
          <a:bodyPr/>
          <a:lstStyle/>
          <a:p>
            <a:pPr eaLnBrk="1" hangingPunct="1"/>
            <a:r>
              <a:rPr lang="en-US" altLang="en-US" sz="4800" dirty="0"/>
              <a:t>Finite Difference Methods</a:t>
            </a:r>
            <a:endParaRPr lang="en-US" altLang="en-US" sz="4000" dirty="0"/>
          </a:p>
        </p:txBody>
      </p:sp>
      <p:grpSp>
        <p:nvGrpSpPr>
          <p:cNvPr id="65541" name="Group 23">
            <a:extLst>
              <a:ext uri="{FF2B5EF4-FFF2-40B4-BE49-F238E27FC236}">
                <a16:creationId xmlns:a16="http://schemas.microsoft.com/office/drawing/2014/main" id="{3D37FB8F-604D-7B6A-605C-46D4E40A5B03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3276600"/>
            <a:ext cx="2743200" cy="2590800"/>
            <a:chOff x="5029200" y="3276600"/>
            <a:chExt cx="2743200" cy="2590800"/>
          </a:xfrm>
        </p:grpSpPr>
        <p:sp>
          <p:nvSpPr>
            <p:cNvPr id="65543" name="Rectangle 4">
              <a:extLst>
                <a:ext uri="{FF2B5EF4-FFF2-40B4-BE49-F238E27FC236}">
                  <a16:creationId xmlns:a16="http://schemas.microsoft.com/office/drawing/2014/main" id="{9082A837-6A0F-37E6-F650-B37873B5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733800"/>
              <a:ext cx="2133600" cy="19954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5544" name="Line 5">
              <a:extLst>
                <a:ext uri="{FF2B5EF4-FFF2-40B4-BE49-F238E27FC236}">
                  <a16:creationId xmlns:a16="http://schemas.microsoft.com/office/drawing/2014/main" id="{386F0F18-1AD1-A9FE-8201-57A00FC83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5713413"/>
              <a:ext cx="2438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45" name="Line 6">
              <a:extLst>
                <a:ext uri="{FF2B5EF4-FFF2-40B4-BE49-F238E27FC236}">
                  <a16:creationId xmlns:a16="http://schemas.microsoft.com/office/drawing/2014/main" id="{6213843A-F558-7527-1898-9A5E190C1C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29200" y="3429000"/>
              <a:ext cx="0" cy="2320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46" name="Text Box 7">
              <a:extLst>
                <a:ext uri="{FF2B5EF4-FFF2-40B4-BE49-F238E27FC236}">
                  <a16:creationId xmlns:a16="http://schemas.microsoft.com/office/drawing/2014/main" id="{5DE981A8-B03E-D96B-24B7-764D27ABD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276600"/>
              <a:ext cx="666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65547" name="Text Box 8">
              <a:extLst>
                <a:ext uri="{FF2B5EF4-FFF2-40B4-BE49-F238E27FC236}">
                  <a16:creationId xmlns:a16="http://schemas.microsoft.com/office/drawing/2014/main" id="{F15FFEDE-B035-17D3-745F-25A075DFA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5500688"/>
              <a:ext cx="304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65548" name="Line 9">
              <a:extLst>
                <a:ext uri="{FF2B5EF4-FFF2-40B4-BE49-F238E27FC236}">
                  <a16:creationId xmlns:a16="http://schemas.microsoft.com/office/drawing/2014/main" id="{4FEBD4F5-9A5A-F109-76AF-DA5F85546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9625" y="3733800"/>
              <a:ext cx="3175" cy="199548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49" name="Line 10">
              <a:extLst>
                <a:ext uri="{FF2B5EF4-FFF2-40B4-BE49-F238E27FC236}">
                  <a16:creationId xmlns:a16="http://schemas.microsoft.com/office/drawing/2014/main" id="{8FDADF71-8422-591C-0EC2-E6CA9B184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3733800"/>
              <a:ext cx="3175" cy="199548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50" name="Line 11">
              <a:extLst>
                <a:ext uri="{FF2B5EF4-FFF2-40B4-BE49-F238E27FC236}">
                  <a16:creationId xmlns:a16="http://schemas.microsoft.com/office/drawing/2014/main" id="{0249C3B1-D092-2BB5-D8A3-873249C70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5713413"/>
              <a:ext cx="2133600" cy="1587"/>
            </a:xfrm>
            <a:prstGeom prst="line">
              <a:avLst/>
            </a:prstGeom>
            <a:noFill/>
            <a:ln w="5715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51" name="Line 14">
              <a:extLst>
                <a:ext uri="{FF2B5EF4-FFF2-40B4-BE49-F238E27FC236}">
                  <a16:creationId xmlns:a16="http://schemas.microsoft.com/office/drawing/2014/main" id="{2E1D2DDA-69FF-11D1-0991-1A6BB788B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5334000"/>
              <a:ext cx="2133600" cy="0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52" name="Line 15">
              <a:extLst>
                <a:ext uri="{FF2B5EF4-FFF2-40B4-BE49-F238E27FC236}">
                  <a16:creationId xmlns:a16="http://schemas.microsoft.com/office/drawing/2014/main" id="{35CE3CF6-39EC-647C-7ACC-BC108404F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4800600"/>
              <a:ext cx="2133600" cy="0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53" name="Line 16">
              <a:extLst>
                <a:ext uri="{FF2B5EF4-FFF2-40B4-BE49-F238E27FC236}">
                  <a16:creationId xmlns:a16="http://schemas.microsoft.com/office/drawing/2014/main" id="{84E611E4-A82E-0A60-1098-EB063E568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4267200"/>
              <a:ext cx="2133600" cy="0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54" name="Line 17">
              <a:extLst>
                <a:ext uri="{FF2B5EF4-FFF2-40B4-BE49-F238E27FC236}">
                  <a16:creationId xmlns:a16="http://schemas.microsoft.com/office/drawing/2014/main" id="{58257561-34AE-5A39-9E6E-3FF49FCA4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6400" y="3733800"/>
              <a:ext cx="0" cy="1905000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55" name="Line 18">
              <a:extLst>
                <a:ext uri="{FF2B5EF4-FFF2-40B4-BE49-F238E27FC236}">
                  <a16:creationId xmlns:a16="http://schemas.microsoft.com/office/drawing/2014/main" id="{79014F79-2118-237C-D91D-24CE6059C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6000" y="3733800"/>
              <a:ext cx="0" cy="1905000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556" name="Line 19">
              <a:extLst>
                <a:ext uri="{FF2B5EF4-FFF2-40B4-BE49-F238E27FC236}">
                  <a16:creationId xmlns:a16="http://schemas.microsoft.com/office/drawing/2014/main" id="{B0E661AC-7D60-47A5-25C8-351CEB089D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9400" y="3733800"/>
              <a:ext cx="0" cy="1905000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542" name="Content Placeholder 21">
            <a:extLst>
              <a:ext uri="{FF2B5EF4-FFF2-40B4-BE49-F238E27FC236}">
                <a16:creationId xmlns:a16="http://schemas.microsoft.com/office/drawing/2014/main" id="{79BB128C-063F-A8D6-D1AA-F2B8E9352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648200"/>
          </a:xfrm>
        </p:spPr>
        <p:txBody>
          <a:bodyPr/>
          <a:lstStyle/>
          <a:p>
            <a:r>
              <a:rPr lang="en-US" altLang="en-US"/>
              <a:t>Divide the interval </a:t>
            </a:r>
            <a:r>
              <a:rPr lang="en-US" altLang="en-US" i="1"/>
              <a:t>x</a:t>
            </a:r>
            <a:r>
              <a:rPr lang="en-US" altLang="en-US"/>
              <a:t> into sub-intervals, each of width </a:t>
            </a:r>
            <a:r>
              <a:rPr lang="en-US" altLang="en-US" i="1"/>
              <a:t>h</a:t>
            </a:r>
          </a:p>
          <a:p>
            <a:r>
              <a:rPr lang="en-US" altLang="en-US"/>
              <a:t>Divide the interval </a:t>
            </a:r>
            <a:r>
              <a:rPr lang="en-US" altLang="en-US" i="1"/>
              <a:t>t</a:t>
            </a:r>
            <a:r>
              <a:rPr lang="en-US" altLang="en-US"/>
              <a:t> into sub-intervals, each of width </a:t>
            </a:r>
            <a:r>
              <a:rPr lang="en-US" altLang="en-US" i="1"/>
              <a:t>k</a:t>
            </a:r>
          </a:p>
          <a:p>
            <a:r>
              <a:rPr lang="en-US" altLang="en-US"/>
              <a:t>A grid of points is used for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the finite difference solution</a:t>
            </a:r>
          </a:p>
          <a:p>
            <a:r>
              <a:rPr lang="en-US" altLang="en-US"/>
              <a:t>T</a:t>
            </a:r>
            <a:r>
              <a:rPr lang="en-US" altLang="en-US" baseline="-25000"/>
              <a:t>i,j</a:t>
            </a:r>
            <a:r>
              <a:rPr lang="en-US" altLang="en-US"/>
              <a:t> represents T(x</a:t>
            </a:r>
            <a:r>
              <a:rPr lang="en-US" altLang="en-US" baseline="-25000"/>
              <a:t>i</a:t>
            </a:r>
            <a:r>
              <a:rPr lang="en-US" altLang="en-US"/>
              <a:t>, t</a:t>
            </a:r>
            <a:r>
              <a:rPr lang="en-US" altLang="en-US" baseline="-25000"/>
              <a:t>j</a:t>
            </a:r>
            <a:r>
              <a:rPr lang="en-US" altLang="en-US"/>
              <a:t>)</a:t>
            </a:r>
          </a:p>
          <a:p>
            <a:r>
              <a:rPr lang="en-US" altLang="en-US"/>
              <a:t>Replace the derivates by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finite-difference formulas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72B2BD07-04AC-E101-88E1-DAF04BF2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BDDF48-2EEB-4AFD-9DCC-D872A8806408}" type="slidenum">
              <a:rPr lang="ar-SA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FE0D84E7-0E90-738B-E0F0-C48C1B647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Finite Difference Methods</a:t>
            </a:r>
            <a:endParaRPr lang="en-US" altLang="en-US" sz="3600"/>
          </a:p>
        </p:txBody>
      </p:sp>
      <p:graphicFrame>
        <p:nvGraphicFramePr>
          <p:cNvPr id="16386" name="Object 3">
            <a:extLst>
              <a:ext uri="{FF2B5EF4-FFF2-40B4-BE49-F238E27FC236}">
                <a16:creationId xmlns:a16="http://schemas.microsoft.com/office/drawing/2014/main" id="{FD2A029D-F607-9FD8-81AD-8C0766DB1FB4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290841"/>
              </p:ext>
            </p:extLst>
          </p:nvPr>
        </p:nvGraphicFramePr>
        <p:xfrm>
          <a:off x="1717936" y="1620838"/>
          <a:ext cx="7138987" cy="432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160" imgH="1968480" progId="Equation.3">
                  <p:embed/>
                </p:oleObj>
              </mc:Choice>
              <mc:Fallback>
                <p:oleObj name="Equation" r:id="rId3" imgW="3251160" imgH="1968480" progId="Equation.3">
                  <p:embed/>
                  <p:pic>
                    <p:nvPicPr>
                      <p:cNvPr id="16386" name="Object 3">
                        <a:extLst>
                          <a:ext uri="{FF2B5EF4-FFF2-40B4-BE49-F238E27FC236}">
                            <a16:creationId xmlns:a16="http://schemas.microsoft.com/office/drawing/2014/main" id="{FD2A029D-F607-9FD8-81AD-8C0766DB1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936" y="1620838"/>
                        <a:ext cx="7138987" cy="432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8">
            <a:extLst>
              <a:ext uri="{FF2B5EF4-FFF2-40B4-BE49-F238E27FC236}">
                <a16:creationId xmlns:a16="http://schemas.microsoft.com/office/drawing/2014/main" id="{AD0E2C29-CB5C-4D77-50A3-60EBD5B8D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553" y="23419"/>
            <a:ext cx="5568371" cy="75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A33E3777-1B41-7082-50EC-A78740879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935" y="4432655"/>
            <a:ext cx="4614530" cy="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94348DE5-D15C-7D18-9C1E-C831094CC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5589" y="5297875"/>
            <a:ext cx="4374335" cy="79076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A3491AEA-2711-FD17-DDA8-7636DBB39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DD8646-74C6-4EF6-A92E-07F1EBF0E119}" type="slidenum">
              <a:rPr lang="ar-SA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F0580529-E268-34A1-9B25-7A84C7161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Explicit Method</a:t>
            </a:r>
            <a:endParaRPr lang="en-US" altLang="en-US" sz="4000"/>
          </a:p>
        </p:txBody>
      </p:sp>
      <p:graphicFrame>
        <p:nvGraphicFramePr>
          <p:cNvPr id="17410" name="Object 3">
            <a:extLst>
              <a:ext uri="{FF2B5EF4-FFF2-40B4-BE49-F238E27FC236}">
                <a16:creationId xmlns:a16="http://schemas.microsoft.com/office/drawing/2014/main" id="{A27109F6-8D01-5568-1078-8C249F2A1AB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54251" y="1739900"/>
          <a:ext cx="7681913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06480" imgH="1904760" progId="Equation.3">
                  <p:embed/>
                </p:oleObj>
              </mc:Choice>
              <mc:Fallback>
                <p:oleObj name="Equation" r:id="rId3" imgW="3606480" imgH="1904760" progId="Equation.3">
                  <p:embed/>
                  <p:pic>
                    <p:nvPicPr>
                      <p:cNvPr id="17410" name="Object 3">
                        <a:extLst>
                          <a:ext uri="{FF2B5EF4-FFF2-40B4-BE49-F238E27FC236}">
                            <a16:creationId xmlns:a16="http://schemas.microsoft.com/office/drawing/2014/main" id="{A27109F6-8D01-5568-1078-8C249F2A1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1" y="1739900"/>
                        <a:ext cx="7681913" cy="405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91680EFC-AC70-29D7-9A1E-B0CD6656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E7C5AC6-2F42-40EC-AF0B-CA0D9ED7B2DF}" type="slidenum">
              <a:rPr lang="ar-SA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96BC20CA-CF3F-834D-92E9-9637F5002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Convergence and Stability</a:t>
            </a:r>
            <a:endParaRPr lang="en-US" altLang="en-US" sz="4000"/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6E4E5077-005E-4342-3263-F358F6E7384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57401" y="1752600"/>
          <a:ext cx="8099425" cy="412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17560" imgH="1790640" progId="Equation.3">
                  <p:embed/>
                </p:oleObj>
              </mc:Choice>
              <mc:Fallback>
                <p:oleObj name="Equation" r:id="rId3" imgW="3517560" imgH="1790640" progId="Equation.3">
                  <p:embed/>
                  <p:pic>
                    <p:nvPicPr>
                      <p:cNvPr id="19458" name="Object 3">
                        <a:extLst>
                          <a:ext uri="{FF2B5EF4-FFF2-40B4-BE49-F238E27FC236}">
                            <a16:creationId xmlns:a16="http://schemas.microsoft.com/office/drawing/2014/main" id="{6E4E5077-005E-4342-3263-F358F6E738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1752600"/>
                        <a:ext cx="8099425" cy="412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4">
            <a:extLst>
              <a:ext uri="{FF2B5EF4-FFF2-40B4-BE49-F238E27FC236}">
                <a16:creationId xmlns:a16="http://schemas.microsoft.com/office/drawing/2014/main" id="{E20C6422-36B2-23CF-DF10-DB20BB084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01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167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FA124E2F-7D3F-004A-A9FA-83158635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1A0846D-5CAA-44D9-BD3E-BDE2E0AD3817}" type="slidenum">
              <a:rPr lang="ar-SA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193BB16F-C508-700D-3F60-8762B0ED6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Explicit Method</a:t>
            </a:r>
            <a:br>
              <a:rPr lang="en-US" altLang="en-US" sz="4800"/>
            </a:br>
            <a:r>
              <a:rPr lang="en-US" altLang="en-US" sz="3600"/>
              <a:t>How Do We Compute?</a:t>
            </a:r>
            <a:endParaRPr lang="en-US" altLang="en-US" sz="2900"/>
          </a:p>
        </p:txBody>
      </p:sp>
      <p:graphicFrame>
        <p:nvGraphicFramePr>
          <p:cNvPr id="18434" name="Object 3">
            <a:extLst>
              <a:ext uri="{FF2B5EF4-FFF2-40B4-BE49-F238E27FC236}">
                <a16:creationId xmlns:a16="http://schemas.microsoft.com/office/drawing/2014/main" id="{F082ED08-052D-C510-B459-76988EAA7C1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79626" y="1752600"/>
          <a:ext cx="80803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17560" imgH="406080" progId="Equation.3">
                  <p:embed/>
                </p:oleObj>
              </mc:Choice>
              <mc:Fallback>
                <p:oleObj name="Equation" r:id="rId3" imgW="3517560" imgH="406080" progId="Equation.3">
                  <p:embed/>
                  <p:pic>
                    <p:nvPicPr>
                      <p:cNvPr id="18434" name="Object 3">
                        <a:extLst>
                          <a:ext uri="{FF2B5EF4-FFF2-40B4-BE49-F238E27FC236}">
                            <a16:creationId xmlns:a16="http://schemas.microsoft.com/office/drawing/2014/main" id="{F082ED08-052D-C510-B459-76988EAA7C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6" y="1752600"/>
                        <a:ext cx="808037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Line 4">
            <a:extLst>
              <a:ext uri="{FF2B5EF4-FFF2-40B4-BE49-F238E27FC236}">
                <a16:creationId xmlns:a16="http://schemas.microsoft.com/office/drawing/2014/main" id="{1182263D-AB22-7620-1828-4B79CBA96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724400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39" name="Oval 5">
            <a:extLst>
              <a:ext uri="{FF2B5EF4-FFF2-40B4-BE49-F238E27FC236}">
                <a16:creationId xmlns:a16="http://schemas.microsoft.com/office/drawing/2014/main" id="{95C7A4F6-FACD-4F0C-27EA-53FDC8E2C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0" name="Oval 6">
            <a:extLst>
              <a:ext uri="{FF2B5EF4-FFF2-40B4-BE49-F238E27FC236}">
                <a16:creationId xmlns:a16="http://schemas.microsoft.com/office/drawing/2014/main" id="{C2B6543D-E67A-7B2D-29C4-66EE3C665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1" name="Oval 7">
            <a:extLst>
              <a:ext uri="{FF2B5EF4-FFF2-40B4-BE49-F238E27FC236}">
                <a16:creationId xmlns:a16="http://schemas.microsoft.com/office/drawing/2014/main" id="{7DA10402-0182-3D32-A912-A94AC955C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2" name="Oval 8">
            <a:extLst>
              <a:ext uri="{FF2B5EF4-FFF2-40B4-BE49-F238E27FC236}">
                <a16:creationId xmlns:a16="http://schemas.microsoft.com/office/drawing/2014/main" id="{F0020236-5CE7-199F-77B0-0C708CC6F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43" name="Text Box 9">
            <a:extLst>
              <a:ext uri="{FF2B5EF4-FFF2-40B4-BE49-F238E27FC236}">
                <a16:creationId xmlns:a16="http://schemas.microsoft.com/office/drawing/2014/main" id="{AF5A689B-6226-CD8E-9EC6-8C125FF61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953001"/>
            <a:ext cx="624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T(x-h,t)                            T(x,t)                             T(x+h,t)  </a:t>
            </a:r>
          </a:p>
        </p:txBody>
      </p:sp>
      <p:sp>
        <p:nvSpPr>
          <p:cNvPr id="18444" name="Line 10">
            <a:extLst>
              <a:ext uri="{FF2B5EF4-FFF2-40B4-BE49-F238E27FC236}">
                <a16:creationId xmlns:a16="http://schemas.microsoft.com/office/drawing/2014/main" id="{D7991092-32FA-BAE6-3A3D-3A578E884F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733800"/>
            <a:ext cx="2209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5" name="Line 11">
            <a:extLst>
              <a:ext uri="{FF2B5EF4-FFF2-40B4-BE49-F238E27FC236}">
                <a16:creationId xmlns:a16="http://schemas.microsoft.com/office/drawing/2014/main" id="{CB15184A-4D2C-F813-E798-7F0A0443BF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3810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6" name="Line 12">
            <a:extLst>
              <a:ext uri="{FF2B5EF4-FFF2-40B4-BE49-F238E27FC236}">
                <a16:creationId xmlns:a16="http://schemas.microsoft.com/office/drawing/2014/main" id="{ED703ED6-BA5F-F5BF-BAE5-A87CF58438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38800" y="3657600"/>
            <a:ext cx="2438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47" name="Text Box 13">
            <a:extLst>
              <a:ext uri="{FF2B5EF4-FFF2-40B4-BE49-F238E27FC236}">
                <a16:creationId xmlns:a16="http://schemas.microsoft.com/office/drawing/2014/main" id="{7341CF3A-556A-BCA6-DB8C-798CCDC69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124201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T(x,t+k)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379D5B88-283B-0A74-7AD9-D407273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D7277C1-15AB-438B-89CF-A59F1C052463}" type="slidenum">
              <a:rPr lang="ar-SA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4FD28C36-C92F-05BA-B930-EBED8CAA2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Example 1: Heat Equation</a:t>
            </a:r>
            <a:endParaRPr lang="en-US" altLang="en-US" sz="4000"/>
          </a:p>
        </p:txBody>
      </p:sp>
      <p:graphicFrame>
        <p:nvGraphicFramePr>
          <p:cNvPr id="21506" name="Object 3">
            <a:extLst>
              <a:ext uri="{FF2B5EF4-FFF2-40B4-BE49-F238E27FC236}">
                <a16:creationId xmlns:a16="http://schemas.microsoft.com/office/drawing/2014/main" id="{705EC0EF-B8F4-C811-CFC3-33359D2457E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133600" y="1806575"/>
          <a:ext cx="7620000" cy="41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06480" imgH="1981080" progId="Equation.3">
                  <p:embed/>
                </p:oleObj>
              </mc:Choice>
              <mc:Fallback>
                <p:oleObj name="Equation" r:id="rId3" imgW="3606480" imgH="1981080" progId="Equation.3">
                  <p:embed/>
                  <p:pic>
                    <p:nvPicPr>
                      <p:cNvPr id="21506" name="Object 3">
                        <a:extLst>
                          <a:ext uri="{FF2B5EF4-FFF2-40B4-BE49-F238E27FC236}">
                            <a16:creationId xmlns:a16="http://schemas.microsoft.com/office/drawing/2014/main" id="{705EC0EF-B8F4-C811-CFC3-33359D2457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806575"/>
                        <a:ext cx="7620000" cy="418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0" name="Group 5">
            <a:extLst>
              <a:ext uri="{FF2B5EF4-FFF2-40B4-BE49-F238E27FC236}">
                <a16:creationId xmlns:a16="http://schemas.microsoft.com/office/drawing/2014/main" id="{57F07E27-5A4D-505F-4533-4B9E7E38F8FC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276600"/>
            <a:ext cx="3886200" cy="990600"/>
            <a:chOff x="5029200" y="3124200"/>
            <a:chExt cx="3886200" cy="990600"/>
          </a:xfrm>
        </p:grpSpPr>
        <p:sp>
          <p:nvSpPr>
            <p:cNvPr id="21511" name="Line 4">
              <a:extLst>
                <a:ext uri="{FF2B5EF4-FFF2-40B4-BE49-F238E27FC236}">
                  <a16:creationId xmlns:a16="http://schemas.microsoft.com/office/drawing/2014/main" id="{15C79FB3-8DA9-31F0-BAD3-790F7C9B0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37338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512" name="Text Box 5">
              <a:extLst>
                <a:ext uri="{FF2B5EF4-FFF2-40B4-BE49-F238E27FC236}">
                  <a16:creationId xmlns:a16="http://schemas.microsoft.com/office/drawing/2014/main" id="{43E262BF-39B4-ED6D-372B-893B09C63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3748088"/>
              <a:ext cx="304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21513" name="AutoShape 8">
              <a:extLst>
                <a:ext uri="{FF2B5EF4-FFF2-40B4-BE49-F238E27FC236}">
                  <a16:creationId xmlns:a16="http://schemas.microsoft.com/office/drawing/2014/main" id="{48271CA4-340E-F50B-BDF7-C5773DC364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819900" y="2476500"/>
              <a:ext cx="152400" cy="2209800"/>
            </a:xfrm>
            <a:prstGeom prst="can">
              <a:avLst>
                <a:gd name="adj" fmla="val 7505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14" name="Text Box 9">
              <a:extLst>
                <a:ext uri="{FF2B5EF4-FFF2-40B4-BE49-F238E27FC236}">
                  <a16:creationId xmlns:a16="http://schemas.microsoft.com/office/drawing/2014/main" id="{EB0D5845-B76B-BBE3-AC62-57BBEBFE0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3352800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Arial" panose="020B0604020202020204" pitchFamily="34" charset="0"/>
                </a:rPr>
                <a:t>ice</a:t>
              </a:r>
            </a:p>
          </p:txBody>
        </p:sp>
        <p:sp>
          <p:nvSpPr>
            <p:cNvPr id="21515" name="Text Box 10">
              <a:extLst>
                <a:ext uri="{FF2B5EF4-FFF2-40B4-BE49-F238E27FC236}">
                  <a16:creationId xmlns:a16="http://schemas.microsoft.com/office/drawing/2014/main" id="{4718D146-9F1E-684C-B901-41AD03A45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3276600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Arial" panose="020B0604020202020204" pitchFamily="34" charset="0"/>
                </a:rPr>
                <a:t>ice</a:t>
              </a:r>
            </a:p>
          </p:txBody>
        </p:sp>
        <p:sp>
          <p:nvSpPr>
            <p:cNvPr id="21516" name="Rectangle 11">
              <a:extLst>
                <a:ext uri="{FF2B5EF4-FFF2-40B4-BE49-F238E27FC236}">
                  <a16:creationId xmlns:a16="http://schemas.microsoft.com/office/drawing/2014/main" id="{742E2B34-ABFA-68FF-79A6-FD489914D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124200"/>
              <a:ext cx="762000" cy="5334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17" name="Rectangle 12">
              <a:extLst>
                <a:ext uri="{FF2B5EF4-FFF2-40B4-BE49-F238E27FC236}">
                  <a16:creationId xmlns:a16="http://schemas.microsoft.com/office/drawing/2014/main" id="{A01BD2D9-B4A9-6C6C-4286-5412375E7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3124200"/>
              <a:ext cx="685800" cy="5334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6">
            <a:extLst>
              <a:ext uri="{FF2B5EF4-FFF2-40B4-BE49-F238E27FC236}">
                <a16:creationId xmlns:a16="http://schemas.microsoft.com/office/drawing/2014/main" id="{379292BF-8DD2-46E9-067D-1D3C920F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301B9F-FC4F-4BAA-838E-C1F0AC5C35DB}" type="slidenum">
              <a:rPr lang="ar-SA" altLang="en-US"/>
              <a:pPr eaLnBrk="1" hangingPunct="1"/>
              <a:t>18</a:t>
            </a:fld>
            <a:endParaRPr lang="en-US" altLang="en-US"/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6731452D-ADEF-6D64-D5B5-AA79EED62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Example 1</a:t>
            </a:r>
            <a:endParaRPr lang="en-US" altLang="en-US" sz="4000"/>
          </a:p>
        </p:txBody>
      </p:sp>
      <p:graphicFrame>
        <p:nvGraphicFramePr>
          <p:cNvPr id="22530" name="Object 3">
            <a:extLst>
              <a:ext uri="{FF2B5EF4-FFF2-40B4-BE49-F238E27FC236}">
                <a16:creationId xmlns:a16="http://schemas.microsoft.com/office/drawing/2014/main" id="{3B97BC48-B2F1-C795-02D4-C4A7C4EE677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981201" y="1905000"/>
          <a:ext cx="8418513" cy="334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5080" imgH="1523880" progId="Equation.3">
                  <p:embed/>
                </p:oleObj>
              </mc:Choice>
              <mc:Fallback>
                <p:oleObj name="Equation" r:id="rId3" imgW="3835080" imgH="1523880" progId="Equation.3">
                  <p:embed/>
                  <p:pic>
                    <p:nvPicPr>
                      <p:cNvPr id="22530" name="Object 3">
                        <a:extLst>
                          <a:ext uri="{FF2B5EF4-FFF2-40B4-BE49-F238E27FC236}">
                            <a16:creationId xmlns:a16="http://schemas.microsoft.com/office/drawing/2014/main" id="{3B97BC48-B2F1-C795-02D4-C4A7C4EE67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1905000"/>
                        <a:ext cx="8418513" cy="334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0DD8A59-8C84-875C-27AD-A1F10A0CA1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252109"/>
              </p:ext>
            </p:extLst>
          </p:nvPr>
        </p:nvGraphicFramePr>
        <p:xfrm>
          <a:off x="4717040" y="464271"/>
          <a:ext cx="734049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41600" imgH="203040" progId="Equation.DSMT4">
                  <p:embed/>
                </p:oleObj>
              </mc:Choice>
              <mc:Fallback>
                <p:oleObj name="Equation" r:id="rId5" imgW="3441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7040" y="464271"/>
                        <a:ext cx="7340492" cy="43338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D60AA774-1E48-6914-82E6-E83DA037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8DCFF8-640A-4D01-87B9-FDB6B43DC790}" type="slidenum">
              <a:rPr lang="ar-SA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F7BF406E-725B-38E7-C6F3-D00752BE1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Example 1</a:t>
            </a:r>
            <a:endParaRPr lang="en-US" altLang="en-US" sz="3300"/>
          </a:p>
        </p:txBody>
      </p:sp>
      <p:graphicFrame>
        <p:nvGraphicFramePr>
          <p:cNvPr id="23554" name="Object 3">
            <a:extLst>
              <a:ext uri="{FF2B5EF4-FFF2-40B4-BE49-F238E27FC236}">
                <a16:creationId xmlns:a16="http://schemas.microsoft.com/office/drawing/2014/main" id="{70E73CE1-0A6B-BB0C-F155-88FEB02C39A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38400" y="1831975"/>
          <a:ext cx="746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84400" imgH="203040" progId="Equation.3">
                  <p:embed/>
                </p:oleObj>
              </mc:Choice>
              <mc:Fallback>
                <p:oleObj name="Equation" r:id="rId3" imgW="2984400" imgH="203040" progId="Equation.3">
                  <p:embed/>
                  <p:pic>
                    <p:nvPicPr>
                      <p:cNvPr id="23554" name="Object 3">
                        <a:extLst>
                          <a:ext uri="{FF2B5EF4-FFF2-40B4-BE49-F238E27FC236}">
                            <a16:creationId xmlns:a16="http://schemas.microsoft.com/office/drawing/2014/main" id="{70E73CE1-0A6B-BB0C-F155-88FEB02C3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31975"/>
                        <a:ext cx="7467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Line 4">
            <a:extLst>
              <a:ext uri="{FF2B5EF4-FFF2-40B4-BE49-F238E27FC236}">
                <a16:creationId xmlns:a16="http://schemas.microsoft.com/office/drawing/2014/main" id="{8281ED16-4666-1FC8-3DE7-9A6BABA4E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724400"/>
            <a:ext cx="4114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9" name="Oval 5">
            <a:extLst>
              <a:ext uri="{FF2B5EF4-FFF2-40B4-BE49-F238E27FC236}">
                <a16:creationId xmlns:a16="http://schemas.microsoft.com/office/drawing/2014/main" id="{421B51F9-2A87-8222-27CA-CFFBBE1A6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0" name="Oval 6">
            <a:extLst>
              <a:ext uri="{FF2B5EF4-FFF2-40B4-BE49-F238E27FC236}">
                <a16:creationId xmlns:a16="http://schemas.microsoft.com/office/drawing/2014/main" id="{5E39F005-AFC1-78C9-B3D1-12B7BC5ED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1" name="Oval 7">
            <a:extLst>
              <a:ext uri="{FF2B5EF4-FFF2-40B4-BE49-F238E27FC236}">
                <a16:creationId xmlns:a16="http://schemas.microsoft.com/office/drawing/2014/main" id="{388B0CD0-BC19-6B1A-1D3A-001330640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2" name="Oval 8">
            <a:extLst>
              <a:ext uri="{FF2B5EF4-FFF2-40B4-BE49-F238E27FC236}">
                <a16:creationId xmlns:a16="http://schemas.microsoft.com/office/drawing/2014/main" id="{5179A9C1-616C-1EC6-041B-F2FA726F9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3" name="Line 9">
            <a:extLst>
              <a:ext uri="{FF2B5EF4-FFF2-40B4-BE49-F238E27FC236}">
                <a16:creationId xmlns:a16="http://schemas.microsoft.com/office/drawing/2014/main" id="{168A8749-EDE8-1A31-E7C7-3381CA1112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2578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64" name="Oval 10">
            <a:extLst>
              <a:ext uri="{FF2B5EF4-FFF2-40B4-BE49-F238E27FC236}">
                <a16:creationId xmlns:a16="http://schemas.microsoft.com/office/drawing/2014/main" id="{B21BFA85-24EC-9B3E-E386-72177765E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5" name="Oval 11">
            <a:extLst>
              <a:ext uri="{FF2B5EF4-FFF2-40B4-BE49-F238E27FC236}">
                <a16:creationId xmlns:a16="http://schemas.microsoft.com/office/drawing/2014/main" id="{5AE0A3CA-1A85-08DC-ED9C-943C56981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6" name="Oval 12">
            <a:extLst>
              <a:ext uri="{FF2B5EF4-FFF2-40B4-BE49-F238E27FC236}">
                <a16:creationId xmlns:a16="http://schemas.microsoft.com/office/drawing/2014/main" id="{5BAAACEF-3534-BC44-12E5-CD83F0374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7" name="Oval 13">
            <a:extLst>
              <a:ext uri="{FF2B5EF4-FFF2-40B4-BE49-F238E27FC236}">
                <a16:creationId xmlns:a16="http://schemas.microsoft.com/office/drawing/2014/main" id="{3F16261E-9D71-62CB-4BD0-8EEBDD9EC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8" name="Oval 14">
            <a:extLst>
              <a:ext uri="{FF2B5EF4-FFF2-40B4-BE49-F238E27FC236}">
                <a16:creationId xmlns:a16="http://schemas.microsoft.com/office/drawing/2014/main" id="{27C1DC56-4CA3-10C2-DEC7-AD7615076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9" name="Oval 15">
            <a:extLst>
              <a:ext uri="{FF2B5EF4-FFF2-40B4-BE49-F238E27FC236}">
                <a16:creationId xmlns:a16="http://schemas.microsoft.com/office/drawing/2014/main" id="{A66B58EC-51A1-C63E-0EE0-5FA757A93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0" name="Line 16">
            <a:extLst>
              <a:ext uri="{FF2B5EF4-FFF2-40B4-BE49-F238E27FC236}">
                <a16:creationId xmlns:a16="http://schemas.microsoft.com/office/drawing/2014/main" id="{B188BAE3-F179-B69B-78E8-CB9C6AEB7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1910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71" name="Oval 17">
            <a:extLst>
              <a:ext uri="{FF2B5EF4-FFF2-40B4-BE49-F238E27FC236}">
                <a16:creationId xmlns:a16="http://schemas.microsoft.com/office/drawing/2014/main" id="{397CA6E9-8529-2A7D-F0AB-F5810CF24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2" name="Oval 18">
            <a:extLst>
              <a:ext uri="{FF2B5EF4-FFF2-40B4-BE49-F238E27FC236}">
                <a16:creationId xmlns:a16="http://schemas.microsoft.com/office/drawing/2014/main" id="{46E389EA-BC4A-9772-A4E5-8D5EB66C0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3" name="Oval 19">
            <a:extLst>
              <a:ext uri="{FF2B5EF4-FFF2-40B4-BE49-F238E27FC236}">
                <a16:creationId xmlns:a16="http://schemas.microsoft.com/office/drawing/2014/main" id="{8B5BB449-D210-21AC-C7D4-D416101A5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4" name="Oval 20">
            <a:extLst>
              <a:ext uri="{FF2B5EF4-FFF2-40B4-BE49-F238E27FC236}">
                <a16:creationId xmlns:a16="http://schemas.microsoft.com/office/drawing/2014/main" id="{631CF737-A6BD-9174-27C5-1ABA493EC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5" name="Oval 21">
            <a:extLst>
              <a:ext uri="{FF2B5EF4-FFF2-40B4-BE49-F238E27FC236}">
                <a16:creationId xmlns:a16="http://schemas.microsoft.com/office/drawing/2014/main" id="{B2388E8B-2A18-4094-FFD5-57CA91C2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6" name="Line 22">
            <a:extLst>
              <a:ext uri="{FF2B5EF4-FFF2-40B4-BE49-F238E27FC236}">
                <a16:creationId xmlns:a16="http://schemas.microsoft.com/office/drawing/2014/main" id="{CB2E8B9C-FC08-5209-7415-705F9DAB8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6576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77" name="Oval 23">
            <a:extLst>
              <a:ext uri="{FF2B5EF4-FFF2-40B4-BE49-F238E27FC236}">
                <a16:creationId xmlns:a16="http://schemas.microsoft.com/office/drawing/2014/main" id="{80626957-68DA-68B8-696F-B230F89F7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8" name="Oval 24">
            <a:extLst>
              <a:ext uri="{FF2B5EF4-FFF2-40B4-BE49-F238E27FC236}">
                <a16:creationId xmlns:a16="http://schemas.microsoft.com/office/drawing/2014/main" id="{0848541E-6415-0818-FCAC-3149C0ED9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79" name="Oval 25">
            <a:extLst>
              <a:ext uri="{FF2B5EF4-FFF2-40B4-BE49-F238E27FC236}">
                <a16:creationId xmlns:a16="http://schemas.microsoft.com/office/drawing/2014/main" id="{1BD1946C-B4B6-915A-CA3F-049098AB7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0" name="Oval 26">
            <a:extLst>
              <a:ext uri="{FF2B5EF4-FFF2-40B4-BE49-F238E27FC236}">
                <a16:creationId xmlns:a16="http://schemas.microsoft.com/office/drawing/2014/main" id="{5725A4E6-7268-8F95-F5D5-6524DF6E3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1" name="Oval 27">
            <a:extLst>
              <a:ext uri="{FF2B5EF4-FFF2-40B4-BE49-F238E27FC236}">
                <a16:creationId xmlns:a16="http://schemas.microsoft.com/office/drawing/2014/main" id="{61105BF8-59F2-8513-253A-D686103F3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2" name="Oval 28">
            <a:extLst>
              <a:ext uri="{FF2B5EF4-FFF2-40B4-BE49-F238E27FC236}">
                <a16:creationId xmlns:a16="http://schemas.microsoft.com/office/drawing/2014/main" id="{27049CD3-D801-FA3D-1AC2-7CD30CAA8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3" name="Oval 29">
            <a:extLst>
              <a:ext uri="{FF2B5EF4-FFF2-40B4-BE49-F238E27FC236}">
                <a16:creationId xmlns:a16="http://schemas.microsoft.com/office/drawing/2014/main" id="{06B07D10-C747-1F62-45C7-2E329E4D1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4" name="Oval 30">
            <a:extLst>
              <a:ext uri="{FF2B5EF4-FFF2-40B4-BE49-F238E27FC236}">
                <a16:creationId xmlns:a16="http://schemas.microsoft.com/office/drawing/2014/main" id="{1A8FFBEA-D3BA-F1BA-7465-6450E3658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5" name="Oval 31">
            <a:extLst>
              <a:ext uri="{FF2B5EF4-FFF2-40B4-BE49-F238E27FC236}">
                <a16:creationId xmlns:a16="http://schemas.microsoft.com/office/drawing/2014/main" id="{A7961F01-62E1-B739-FC34-8BFC50224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86" name="Text Box 32">
            <a:extLst>
              <a:ext uri="{FF2B5EF4-FFF2-40B4-BE49-F238E27FC236}">
                <a16:creationId xmlns:a16="http://schemas.microsoft.com/office/drawing/2014/main" id="{547518F7-213D-D4CC-C3CB-5D9B270F3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05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</a:t>
            </a:r>
          </a:p>
        </p:txBody>
      </p:sp>
      <p:sp>
        <p:nvSpPr>
          <p:cNvPr id="23587" name="Text Box 33">
            <a:extLst>
              <a:ext uri="{FF2B5EF4-FFF2-40B4-BE49-F238E27FC236}">
                <a16:creationId xmlns:a16="http://schemas.microsoft.com/office/drawing/2014/main" id="{8292C08D-EC65-893F-F588-A035CD1B1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4958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t=0.25</a:t>
            </a:r>
          </a:p>
        </p:txBody>
      </p:sp>
      <p:sp>
        <p:nvSpPr>
          <p:cNvPr id="23588" name="Text Box 34">
            <a:extLst>
              <a:ext uri="{FF2B5EF4-FFF2-40B4-BE49-F238E27FC236}">
                <a16:creationId xmlns:a16="http://schemas.microsoft.com/office/drawing/2014/main" id="{4F2D3E4F-49CC-3466-98B4-B5DCF1CD7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9624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t=0.5</a:t>
            </a:r>
          </a:p>
        </p:txBody>
      </p:sp>
      <p:sp>
        <p:nvSpPr>
          <p:cNvPr id="23589" name="Line 35">
            <a:extLst>
              <a:ext uri="{FF2B5EF4-FFF2-40B4-BE49-F238E27FC236}">
                <a16:creationId xmlns:a16="http://schemas.microsoft.com/office/drawing/2014/main" id="{1245EE8B-39D9-6A1B-15F9-255A6813A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200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90" name="Oval 36">
            <a:extLst>
              <a:ext uri="{FF2B5EF4-FFF2-40B4-BE49-F238E27FC236}">
                <a16:creationId xmlns:a16="http://schemas.microsoft.com/office/drawing/2014/main" id="{1882160C-5353-98D4-FDC7-29573EB19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1" name="Oval 37">
            <a:extLst>
              <a:ext uri="{FF2B5EF4-FFF2-40B4-BE49-F238E27FC236}">
                <a16:creationId xmlns:a16="http://schemas.microsoft.com/office/drawing/2014/main" id="{3AFE5230-BEF0-27D8-B1C2-B3698D933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2" name="Oval 38">
            <a:extLst>
              <a:ext uri="{FF2B5EF4-FFF2-40B4-BE49-F238E27FC236}">
                <a16:creationId xmlns:a16="http://schemas.microsoft.com/office/drawing/2014/main" id="{377E4770-0737-70A5-5675-8B27D4DDB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3" name="Oval 39">
            <a:extLst>
              <a:ext uri="{FF2B5EF4-FFF2-40B4-BE49-F238E27FC236}">
                <a16:creationId xmlns:a16="http://schemas.microsoft.com/office/drawing/2014/main" id="{A2C530E6-ABF7-A896-A205-013BEFD6C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4" name="Oval 40">
            <a:extLst>
              <a:ext uri="{FF2B5EF4-FFF2-40B4-BE49-F238E27FC236}">
                <a16:creationId xmlns:a16="http://schemas.microsoft.com/office/drawing/2014/main" id="{E020B282-04EC-F9D0-181B-62ECCBE72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5" name="Oval 41">
            <a:extLst>
              <a:ext uri="{FF2B5EF4-FFF2-40B4-BE49-F238E27FC236}">
                <a16:creationId xmlns:a16="http://schemas.microsoft.com/office/drawing/2014/main" id="{1175C265-2D2B-DEF6-541D-7A7523EFC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96" name="Text Box 42">
            <a:extLst>
              <a:ext uri="{FF2B5EF4-FFF2-40B4-BE49-F238E27FC236}">
                <a16:creationId xmlns:a16="http://schemas.microsoft.com/office/drawing/2014/main" id="{455757BC-8E24-5CEE-0A51-C7B8EA572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052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t=0.75</a:t>
            </a:r>
          </a:p>
        </p:txBody>
      </p:sp>
      <p:sp>
        <p:nvSpPr>
          <p:cNvPr id="23597" name="Text Box 43">
            <a:extLst>
              <a:ext uri="{FF2B5EF4-FFF2-40B4-BE49-F238E27FC236}">
                <a16:creationId xmlns:a16="http://schemas.microsoft.com/office/drawing/2014/main" id="{C32E5E31-88A5-5F79-E833-FDE285F5C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480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t=1.0</a:t>
            </a:r>
          </a:p>
        </p:txBody>
      </p:sp>
      <p:sp>
        <p:nvSpPr>
          <p:cNvPr id="23598" name="Text Box 44">
            <a:extLst>
              <a:ext uri="{FF2B5EF4-FFF2-40B4-BE49-F238E27FC236}">
                <a16:creationId xmlns:a16="http://schemas.microsoft.com/office/drawing/2014/main" id="{0696A741-E6AB-9899-6235-805E1BA1B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x=0.25</a:t>
            </a:r>
          </a:p>
        </p:txBody>
      </p:sp>
      <p:sp>
        <p:nvSpPr>
          <p:cNvPr id="23599" name="Text Box 45">
            <a:extLst>
              <a:ext uri="{FF2B5EF4-FFF2-40B4-BE49-F238E27FC236}">
                <a16:creationId xmlns:a16="http://schemas.microsoft.com/office/drawing/2014/main" id="{7385423E-8BE3-A755-9FEB-E23F11C87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x=0.5</a:t>
            </a:r>
          </a:p>
        </p:txBody>
      </p:sp>
      <p:sp>
        <p:nvSpPr>
          <p:cNvPr id="23600" name="Text Box 46">
            <a:extLst>
              <a:ext uri="{FF2B5EF4-FFF2-40B4-BE49-F238E27FC236}">
                <a16:creationId xmlns:a16="http://schemas.microsoft.com/office/drawing/2014/main" id="{40985855-F9AF-C92E-B754-097159528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x=0.0</a:t>
            </a:r>
          </a:p>
        </p:txBody>
      </p:sp>
      <p:sp>
        <p:nvSpPr>
          <p:cNvPr id="23601" name="Text Box 47">
            <a:extLst>
              <a:ext uri="{FF2B5EF4-FFF2-40B4-BE49-F238E27FC236}">
                <a16:creationId xmlns:a16="http://schemas.microsoft.com/office/drawing/2014/main" id="{5A25241C-6D66-7AC8-C1CC-6F3AB8C60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x=0.75</a:t>
            </a:r>
          </a:p>
        </p:txBody>
      </p:sp>
      <p:sp>
        <p:nvSpPr>
          <p:cNvPr id="23602" name="Text Box 48">
            <a:extLst>
              <a:ext uri="{FF2B5EF4-FFF2-40B4-BE49-F238E27FC236}">
                <a16:creationId xmlns:a16="http://schemas.microsoft.com/office/drawing/2014/main" id="{47831984-618E-7254-F77C-276DA9454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x=1.0</a:t>
            </a:r>
          </a:p>
        </p:txBody>
      </p:sp>
      <p:sp>
        <p:nvSpPr>
          <p:cNvPr id="23603" name="Text Box 49">
            <a:extLst>
              <a:ext uri="{FF2B5EF4-FFF2-40B4-BE49-F238E27FC236}">
                <a16:creationId xmlns:a16="http://schemas.microsoft.com/office/drawing/2014/main" id="{F8623593-EF16-1285-3B46-5791119CE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04" name="Text Box 50">
            <a:extLst>
              <a:ext uri="{FF2B5EF4-FFF2-40B4-BE49-F238E27FC236}">
                <a16:creationId xmlns:a16="http://schemas.microsoft.com/office/drawing/2014/main" id="{18CE2C00-E8CE-F2FF-8FF6-A7FDFEB77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05" name="Text Box 51">
            <a:extLst>
              <a:ext uri="{FF2B5EF4-FFF2-40B4-BE49-F238E27FC236}">
                <a16:creationId xmlns:a16="http://schemas.microsoft.com/office/drawing/2014/main" id="{BC315EBF-6D45-84E6-D28B-E0F47BD4C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06" name="Text Box 52">
            <a:extLst>
              <a:ext uri="{FF2B5EF4-FFF2-40B4-BE49-F238E27FC236}">
                <a16:creationId xmlns:a16="http://schemas.microsoft.com/office/drawing/2014/main" id="{C9BE6F52-CC86-FFBA-A1A0-2223C64E9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07" name="Text Box 53">
            <a:extLst>
              <a:ext uri="{FF2B5EF4-FFF2-40B4-BE49-F238E27FC236}">
                <a16:creationId xmlns:a16="http://schemas.microsoft.com/office/drawing/2014/main" id="{BED4E896-B7E0-6C17-6EE8-C85C18630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08" name="Text Box 54">
            <a:extLst>
              <a:ext uri="{FF2B5EF4-FFF2-40B4-BE49-F238E27FC236}">
                <a16:creationId xmlns:a16="http://schemas.microsoft.com/office/drawing/2014/main" id="{7AF9048F-2F57-A572-9E7F-F12EDE83C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09" name="Text Box 55">
            <a:extLst>
              <a:ext uri="{FF2B5EF4-FFF2-40B4-BE49-F238E27FC236}">
                <a16:creationId xmlns:a16="http://schemas.microsoft.com/office/drawing/2014/main" id="{F95DC571-588B-C7C6-B2BC-07896B777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10" name="Text Box 56">
            <a:extLst>
              <a:ext uri="{FF2B5EF4-FFF2-40B4-BE49-F238E27FC236}">
                <a16:creationId xmlns:a16="http://schemas.microsoft.com/office/drawing/2014/main" id="{4663BA18-1C52-0114-22C2-3484C8C66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11" name="Text Box 57">
            <a:extLst>
              <a:ext uri="{FF2B5EF4-FFF2-40B4-BE49-F238E27FC236}">
                <a16:creationId xmlns:a16="http://schemas.microsoft.com/office/drawing/2014/main" id="{33038AD1-1D65-587D-1A30-DC46DF144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12" name="Text Box 58">
            <a:extLst>
              <a:ext uri="{FF2B5EF4-FFF2-40B4-BE49-F238E27FC236}">
                <a16:creationId xmlns:a16="http://schemas.microsoft.com/office/drawing/2014/main" id="{7F130C8E-5917-590A-10CA-56972FF8E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13" name="Text Box 59">
            <a:extLst>
              <a:ext uri="{FF2B5EF4-FFF2-40B4-BE49-F238E27FC236}">
                <a16:creationId xmlns:a16="http://schemas.microsoft.com/office/drawing/2014/main" id="{EFE7EFE0-A075-244F-F140-52354B935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272088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Sin(0.25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  <a:endParaRPr lang="el-GR" altLang="en-US">
              <a:latin typeface="Arial" panose="020B0604020202020204" pitchFamily="34" charset="0"/>
            </a:endParaRPr>
          </a:p>
        </p:txBody>
      </p:sp>
      <p:sp>
        <p:nvSpPr>
          <p:cNvPr id="23614" name="Text Box 60">
            <a:extLst>
              <a:ext uri="{FF2B5EF4-FFF2-40B4-BE49-F238E27FC236}">
                <a16:creationId xmlns:a16="http://schemas.microsoft.com/office/drawing/2014/main" id="{F4A16F1D-DF81-11CC-949B-0218374C6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2720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 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3615" name="Text Box 61">
            <a:extLst>
              <a:ext uri="{FF2B5EF4-FFF2-40B4-BE49-F238E27FC236}">
                <a16:creationId xmlns:a16="http://schemas.microsoft.com/office/drawing/2014/main" id="{3EDA494D-D6B9-0133-AC4D-CCBB9A7A1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272088"/>
            <a:ext cx="1447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Sin(0.75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3616" name="Line 62">
            <a:extLst>
              <a:ext uri="{FF2B5EF4-FFF2-40B4-BE49-F238E27FC236}">
                <a16:creationId xmlns:a16="http://schemas.microsoft.com/office/drawing/2014/main" id="{91346074-966D-36A6-53EC-1EE2F5ABF5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8006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617" name="Line 63">
            <a:extLst>
              <a:ext uri="{FF2B5EF4-FFF2-40B4-BE49-F238E27FC236}">
                <a16:creationId xmlns:a16="http://schemas.microsoft.com/office/drawing/2014/main" id="{B3B78F26-F055-1818-94AE-67002A2845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4876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618" name="Line 64">
            <a:extLst>
              <a:ext uri="{FF2B5EF4-FFF2-40B4-BE49-F238E27FC236}">
                <a16:creationId xmlns:a16="http://schemas.microsoft.com/office/drawing/2014/main" id="{1272BC4D-A040-C4CB-9D4E-93E3DE6368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48006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BA14E481-9B9F-E35B-B520-4C3D1A60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F1A9B2-4FEA-436A-9FDB-DAC17EFD598D}" type="slidenum">
              <a:rPr lang="ar-SA" altLang="en-US"/>
              <a:pPr eaLnBrk="1" hangingPunct="1"/>
              <a:t>20</a:t>
            </a:fld>
            <a:endParaRPr lang="en-US" altLang="en-US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6B713572-4BB3-FD16-9617-C7EBE09FA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Remarks on Example 1</a:t>
            </a:r>
            <a:endParaRPr lang="en-US" altLang="en-US" sz="4000"/>
          </a:p>
        </p:txBody>
      </p:sp>
      <p:graphicFrame>
        <p:nvGraphicFramePr>
          <p:cNvPr id="26626" name="Object 3">
            <a:extLst>
              <a:ext uri="{FF2B5EF4-FFF2-40B4-BE49-F238E27FC236}">
                <a16:creationId xmlns:a16="http://schemas.microsoft.com/office/drawing/2014/main" id="{D003B19A-3E18-F62A-FA85-FB46A0A9A03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67001" y="1790700"/>
          <a:ext cx="6691313" cy="384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7760" imgH="1752480" progId="Equation.3">
                  <p:embed/>
                </p:oleObj>
              </mc:Choice>
              <mc:Fallback>
                <p:oleObj name="Equation" r:id="rId3" imgW="3047760" imgH="1752480" progId="Equation.3">
                  <p:embed/>
                  <p:pic>
                    <p:nvPicPr>
                      <p:cNvPr id="26626" name="Object 3">
                        <a:extLst>
                          <a:ext uri="{FF2B5EF4-FFF2-40B4-BE49-F238E27FC236}">
                            <a16:creationId xmlns:a16="http://schemas.microsoft.com/office/drawing/2014/main" id="{D003B19A-3E18-F62A-FA85-FB46A0A9A0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1790700"/>
                        <a:ext cx="6691313" cy="384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4C282009-94E0-1024-F8EA-2EC60ACE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E4F75BE-BDA3-479F-A3D2-83132F8F3600}" type="slidenum">
              <a:rPr lang="ar-SA" altLang="en-US"/>
              <a:pPr eaLnBrk="1" hangingPunct="1"/>
              <a:t>21</a:t>
            </a:fld>
            <a:endParaRPr lang="en-US" altLang="en-US"/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9230EE83-CDB0-08D0-41B3-43645888F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Example 1 – cont’d</a:t>
            </a:r>
            <a:endParaRPr lang="en-US" altLang="en-US" sz="3300"/>
          </a:p>
        </p:txBody>
      </p:sp>
      <p:graphicFrame>
        <p:nvGraphicFramePr>
          <p:cNvPr id="27650" name="Object 3">
            <a:extLst>
              <a:ext uri="{FF2B5EF4-FFF2-40B4-BE49-F238E27FC236}">
                <a16:creationId xmlns:a16="http://schemas.microsoft.com/office/drawing/2014/main" id="{7A6C83CD-60E5-61EF-ACDE-2B3FA3161F8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86001" y="1831976"/>
          <a:ext cx="76422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27120" imgH="203040" progId="Equation.3">
                  <p:embed/>
                </p:oleObj>
              </mc:Choice>
              <mc:Fallback>
                <p:oleObj name="Equation" r:id="rId3" imgW="3327120" imgH="203040" progId="Equation.3">
                  <p:embed/>
                  <p:pic>
                    <p:nvPicPr>
                      <p:cNvPr id="27650" name="Object 3">
                        <a:extLst>
                          <a:ext uri="{FF2B5EF4-FFF2-40B4-BE49-F238E27FC236}">
                            <a16:creationId xmlns:a16="http://schemas.microsoft.com/office/drawing/2014/main" id="{7A6C83CD-60E5-61EF-ACDE-2B3FA3161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1831976"/>
                        <a:ext cx="76422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Line 4">
            <a:extLst>
              <a:ext uri="{FF2B5EF4-FFF2-40B4-BE49-F238E27FC236}">
                <a16:creationId xmlns:a16="http://schemas.microsoft.com/office/drawing/2014/main" id="{3694BEBF-D9FF-768B-3238-86B4AD880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724400"/>
            <a:ext cx="4114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5" name="Oval 5">
            <a:extLst>
              <a:ext uri="{FF2B5EF4-FFF2-40B4-BE49-F238E27FC236}">
                <a16:creationId xmlns:a16="http://schemas.microsoft.com/office/drawing/2014/main" id="{5B994593-80BB-29E7-3DE2-EEE712B24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6" name="Oval 6">
            <a:extLst>
              <a:ext uri="{FF2B5EF4-FFF2-40B4-BE49-F238E27FC236}">
                <a16:creationId xmlns:a16="http://schemas.microsoft.com/office/drawing/2014/main" id="{0F6942B7-1B9F-68FE-948A-ECC875F14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7" name="Oval 7">
            <a:extLst>
              <a:ext uri="{FF2B5EF4-FFF2-40B4-BE49-F238E27FC236}">
                <a16:creationId xmlns:a16="http://schemas.microsoft.com/office/drawing/2014/main" id="{974FCDB5-A4B0-AE64-75E1-2EA925169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8" name="Oval 8">
            <a:extLst>
              <a:ext uri="{FF2B5EF4-FFF2-40B4-BE49-F238E27FC236}">
                <a16:creationId xmlns:a16="http://schemas.microsoft.com/office/drawing/2014/main" id="{6E504493-D341-FE40-7934-187953238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9" name="Line 9">
            <a:extLst>
              <a:ext uri="{FF2B5EF4-FFF2-40B4-BE49-F238E27FC236}">
                <a16:creationId xmlns:a16="http://schemas.microsoft.com/office/drawing/2014/main" id="{66DBDBED-83C3-0949-C212-685C23145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2578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60" name="Oval 10">
            <a:extLst>
              <a:ext uri="{FF2B5EF4-FFF2-40B4-BE49-F238E27FC236}">
                <a16:creationId xmlns:a16="http://schemas.microsoft.com/office/drawing/2014/main" id="{C4476D49-C22A-8E94-8857-39964CCE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1" name="Oval 11">
            <a:extLst>
              <a:ext uri="{FF2B5EF4-FFF2-40B4-BE49-F238E27FC236}">
                <a16:creationId xmlns:a16="http://schemas.microsoft.com/office/drawing/2014/main" id="{432C5502-D4B3-AB98-E4FA-FD446F657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2" name="Oval 12">
            <a:extLst>
              <a:ext uri="{FF2B5EF4-FFF2-40B4-BE49-F238E27FC236}">
                <a16:creationId xmlns:a16="http://schemas.microsoft.com/office/drawing/2014/main" id="{C5F7C357-A3C8-0984-EAAF-DE0F53518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3" name="Oval 13">
            <a:extLst>
              <a:ext uri="{FF2B5EF4-FFF2-40B4-BE49-F238E27FC236}">
                <a16:creationId xmlns:a16="http://schemas.microsoft.com/office/drawing/2014/main" id="{403F867C-9F41-BBA0-7AD8-469351A05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4" name="Oval 14">
            <a:extLst>
              <a:ext uri="{FF2B5EF4-FFF2-40B4-BE49-F238E27FC236}">
                <a16:creationId xmlns:a16="http://schemas.microsoft.com/office/drawing/2014/main" id="{FA8C2C6A-2489-80FA-214F-080B5CCF3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5" name="Oval 15">
            <a:extLst>
              <a:ext uri="{FF2B5EF4-FFF2-40B4-BE49-F238E27FC236}">
                <a16:creationId xmlns:a16="http://schemas.microsoft.com/office/drawing/2014/main" id="{05A152A5-9390-55A8-4537-8EFE5E066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6" name="Line 16">
            <a:extLst>
              <a:ext uri="{FF2B5EF4-FFF2-40B4-BE49-F238E27FC236}">
                <a16:creationId xmlns:a16="http://schemas.microsoft.com/office/drawing/2014/main" id="{021497CC-C7DF-354F-AE62-483442FE7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1910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67" name="Oval 17">
            <a:extLst>
              <a:ext uri="{FF2B5EF4-FFF2-40B4-BE49-F238E27FC236}">
                <a16:creationId xmlns:a16="http://schemas.microsoft.com/office/drawing/2014/main" id="{79FB224E-8804-D792-92B2-A8C5EDF7F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8" name="Oval 18">
            <a:extLst>
              <a:ext uri="{FF2B5EF4-FFF2-40B4-BE49-F238E27FC236}">
                <a16:creationId xmlns:a16="http://schemas.microsoft.com/office/drawing/2014/main" id="{452CA92F-A35E-6E85-772C-8AFF04C16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9" name="Oval 19">
            <a:extLst>
              <a:ext uri="{FF2B5EF4-FFF2-40B4-BE49-F238E27FC236}">
                <a16:creationId xmlns:a16="http://schemas.microsoft.com/office/drawing/2014/main" id="{76F8301E-F62F-5EDE-1332-6618C99CD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0" name="Oval 20">
            <a:extLst>
              <a:ext uri="{FF2B5EF4-FFF2-40B4-BE49-F238E27FC236}">
                <a16:creationId xmlns:a16="http://schemas.microsoft.com/office/drawing/2014/main" id="{8F935CA0-79C5-4F9E-B51E-D5FCF5BFC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1" name="Oval 21">
            <a:extLst>
              <a:ext uri="{FF2B5EF4-FFF2-40B4-BE49-F238E27FC236}">
                <a16:creationId xmlns:a16="http://schemas.microsoft.com/office/drawing/2014/main" id="{63A5C459-6782-8228-93AD-2996C3827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2" name="Line 22">
            <a:extLst>
              <a:ext uri="{FF2B5EF4-FFF2-40B4-BE49-F238E27FC236}">
                <a16:creationId xmlns:a16="http://schemas.microsoft.com/office/drawing/2014/main" id="{4BEE6507-294C-413E-7E3B-8FB616195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6576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73" name="Oval 23">
            <a:extLst>
              <a:ext uri="{FF2B5EF4-FFF2-40B4-BE49-F238E27FC236}">
                <a16:creationId xmlns:a16="http://schemas.microsoft.com/office/drawing/2014/main" id="{30C685DD-988B-B6BE-5737-A0E445CDF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4" name="Oval 24">
            <a:extLst>
              <a:ext uri="{FF2B5EF4-FFF2-40B4-BE49-F238E27FC236}">
                <a16:creationId xmlns:a16="http://schemas.microsoft.com/office/drawing/2014/main" id="{36491840-F417-8C99-F22F-61A0F6EE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5" name="Oval 25">
            <a:extLst>
              <a:ext uri="{FF2B5EF4-FFF2-40B4-BE49-F238E27FC236}">
                <a16:creationId xmlns:a16="http://schemas.microsoft.com/office/drawing/2014/main" id="{8704B9F4-6981-6F77-43BE-BB77CD3BC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6" name="Oval 26">
            <a:extLst>
              <a:ext uri="{FF2B5EF4-FFF2-40B4-BE49-F238E27FC236}">
                <a16:creationId xmlns:a16="http://schemas.microsoft.com/office/drawing/2014/main" id="{E1EAFB3D-81B1-7373-700F-95776C5CD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7" name="Oval 27">
            <a:extLst>
              <a:ext uri="{FF2B5EF4-FFF2-40B4-BE49-F238E27FC236}">
                <a16:creationId xmlns:a16="http://schemas.microsoft.com/office/drawing/2014/main" id="{6F2CDE71-81ED-D6C7-D4FD-6F69BC916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8" name="Oval 28">
            <a:extLst>
              <a:ext uri="{FF2B5EF4-FFF2-40B4-BE49-F238E27FC236}">
                <a16:creationId xmlns:a16="http://schemas.microsoft.com/office/drawing/2014/main" id="{E26C2BC3-A15C-E129-9BCE-FD72B09A3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9" name="Oval 29">
            <a:extLst>
              <a:ext uri="{FF2B5EF4-FFF2-40B4-BE49-F238E27FC236}">
                <a16:creationId xmlns:a16="http://schemas.microsoft.com/office/drawing/2014/main" id="{9CA6D9C3-DCEF-E2B4-6F05-2064BBAC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80" name="Oval 30">
            <a:extLst>
              <a:ext uri="{FF2B5EF4-FFF2-40B4-BE49-F238E27FC236}">
                <a16:creationId xmlns:a16="http://schemas.microsoft.com/office/drawing/2014/main" id="{02F32079-F61F-E1F7-8FF0-6B9A0F4E2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81" name="Oval 31">
            <a:extLst>
              <a:ext uri="{FF2B5EF4-FFF2-40B4-BE49-F238E27FC236}">
                <a16:creationId xmlns:a16="http://schemas.microsoft.com/office/drawing/2014/main" id="{DE62599D-84A5-3297-3343-069D3FA26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82" name="Text Box 32">
            <a:extLst>
              <a:ext uri="{FF2B5EF4-FFF2-40B4-BE49-F238E27FC236}">
                <a16:creationId xmlns:a16="http://schemas.microsoft.com/office/drawing/2014/main" id="{9DC6B5BE-C030-2AE9-86AF-C32BD9C35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05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</a:t>
            </a:r>
          </a:p>
        </p:txBody>
      </p:sp>
      <p:sp>
        <p:nvSpPr>
          <p:cNvPr id="27683" name="Text Box 33">
            <a:extLst>
              <a:ext uri="{FF2B5EF4-FFF2-40B4-BE49-F238E27FC236}">
                <a16:creationId xmlns:a16="http://schemas.microsoft.com/office/drawing/2014/main" id="{43AC9FC9-7B76-FB4E-6070-34093B2FE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495801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t=0.025</a:t>
            </a:r>
          </a:p>
        </p:txBody>
      </p:sp>
      <p:sp>
        <p:nvSpPr>
          <p:cNvPr id="27684" name="Text Box 34">
            <a:extLst>
              <a:ext uri="{FF2B5EF4-FFF2-40B4-BE49-F238E27FC236}">
                <a16:creationId xmlns:a16="http://schemas.microsoft.com/office/drawing/2014/main" id="{FA403305-AEAB-84CF-251D-DB8E471FC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9624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t=0.05</a:t>
            </a:r>
          </a:p>
        </p:txBody>
      </p:sp>
      <p:sp>
        <p:nvSpPr>
          <p:cNvPr id="27685" name="Line 35">
            <a:extLst>
              <a:ext uri="{FF2B5EF4-FFF2-40B4-BE49-F238E27FC236}">
                <a16:creationId xmlns:a16="http://schemas.microsoft.com/office/drawing/2014/main" id="{863C0D7D-D076-F633-1076-A49B07106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200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86" name="Oval 36">
            <a:extLst>
              <a:ext uri="{FF2B5EF4-FFF2-40B4-BE49-F238E27FC236}">
                <a16:creationId xmlns:a16="http://schemas.microsoft.com/office/drawing/2014/main" id="{620C11F1-F3F1-5311-D7ED-6EDBC5050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87" name="Oval 37">
            <a:extLst>
              <a:ext uri="{FF2B5EF4-FFF2-40B4-BE49-F238E27FC236}">
                <a16:creationId xmlns:a16="http://schemas.microsoft.com/office/drawing/2014/main" id="{332BC3D8-0393-0036-A97B-321B21448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88" name="Oval 38">
            <a:extLst>
              <a:ext uri="{FF2B5EF4-FFF2-40B4-BE49-F238E27FC236}">
                <a16:creationId xmlns:a16="http://schemas.microsoft.com/office/drawing/2014/main" id="{01B7A817-CD61-83DF-1F78-2E06BB88B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89" name="Oval 39">
            <a:extLst>
              <a:ext uri="{FF2B5EF4-FFF2-40B4-BE49-F238E27FC236}">
                <a16:creationId xmlns:a16="http://schemas.microsoft.com/office/drawing/2014/main" id="{A014ECB1-11A6-D644-351D-8928B9998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90" name="Oval 40">
            <a:extLst>
              <a:ext uri="{FF2B5EF4-FFF2-40B4-BE49-F238E27FC236}">
                <a16:creationId xmlns:a16="http://schemas.microsoft.com/office/drawing/2014/main" id="{762A4469-4C1C-EF9C-8760-D423AC60B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91" name="Oval 41">
            <a:extLst>
              <a:ext uri="{FF2B5EF4-FFF2-40B4-BE49-F238E27FC236}">
                <a16:creationId xmlns:a16="http://schemas.microsoft.com/office/drawing/2014/main" id="{7C981216-198A-1349-8A88-53B3DBBF0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92" name="Text Box 42">
            <a:extLst>
              <a:ext uri="{FF2B5EF4-FFF2-40B4-BE49-F238E27FC236}">
                <a16:creationId xmlns:a16="http://schemas.microsoft.com/office/drawing/2014/main" id="{90875BF5-5B50-F079-9065-280F2C1DE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052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t=0.075</a:t>
            </a:r>
          </a:p>
        </p:txBody>
      </p:sp>
      <p:sp>
        <p:nvSpPr>
          <p:cNvPr id="27693" name="Text Box 43">
            <a:extLst>
              <a:ext uri="{FF2B5EF4-FFF2-40B4-BE49-F238E27FC236}">
                <a16:creationId xmlns:a16="http://schemas.microsoft.com/office/drawing/2014/main" id="{39077CD7-6792-7F09-22A7-87C5E3251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480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t=0.10</a:t>
            </a:r>
          </a:p>
        </p:txBody>
      </p:sp>
      <p:sp>
        <p:nvSpPr>
          <p:cNvPr id="27694" name="Text Box 44">
            <a:extLst>
              <a:ext uri="{FF2B5EF4-FFF2-40B4-BE49-F238E27FC236}">
                <a16:creationId xmlns:a16="http://schemas.microsoft.com/office/drawing/2014/main" id="{0FE1F55E-8542-3A61-4F01-699CB294C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x=0.25</a:t>
            </a:r>
          </a:p>
        </p:txBody>
      </p:sp>
      <p:sp>
        <p:nvSpPr>
          <p:cNvPr id="27695" name="Text Box 45">
            <a:extLst>
              <a:ext uri="{FF2B5EF4-FFF2-40B4-BE49-F238E27FC236}">
                <a16:creationId xmlns:a16="http://schemas.microsoft.com/office/drawing/2014/main" id="{BA2D9905-CDA4-A4F1-F850-68A58BC12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x=0.5</a:t>
            </a:r>
          </a:p>
        </p:txBody>
      </p:sp>
      <p:sp>
        <p:nvSpPr>
          <p:cNvPr id="27696" name="Text Box 46">
            <a:extLst>
              <a:ext uri="{FF2B5EF4-FFF2-40B4-BE49-F238E27FC236}">
                <a16:creationId xmlns:a16="http://schemas.microsoft.com/office/drawing/2014/main" id="{31531A35-8695-CCE9-306F-B9D15980B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x=0.0</a:t>
            </a:r>
          </a:p>
        </p:txBody>
      </p:sp>
      <p:sp>
        <p:nvSpPr>
          <p:cNvPr id="27697" name="Text Box 47">
            <a:extLst>
              <a:ext uri="{FF2B5EF4-FFF2-40B4-BE49-F238E27FC236}">
                <a16:creationId xmlns:a16="http://schemas.microsoft.com/office/drawing/2014/main" id="{FF4EA953-F9FA-110A-0A96-A4DC24636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x=0.75</a:t>
            </a:r>
          </a:p>
        </p:txBody>
      </p:sp>
      <p:sp>
        <p:nvSpPr>
          <p:cNvPr id="27698" name="Text Box 48">
            <a:extLst>
              <a:ext uri="{FF2B5EF4-FFF2-40B4-BE49-F238E27FC236}">
                <a16:creationId xmlns:a16="http://schemas.microsoft.com/office/drawing/2014/main" id="{E0F5ADDD-B97C-1DD3-85D7-2AC370B08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x=1.0</a:t>
            </a:r>
          </a:p>
        </p:txBody>
      </p:sp>
      <p:sp>
        <p:nvSpPr>
          <p:cNvPr id="27699" name="Text Box 49">
            <a:extLst>
              <a:ext uri="{FF2B5EF4-FFF2-40B4-BE49-F238E27FC236}">
                <a16:creationId xmlns:a16="http://schemas.microsoft.com/office/drawing/2014/main" id="{2121A0A6-6FE0-FAA9-B3CF-0887DC68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0" name="Text Box 50">
            <a:extLst>
              <a:ext uri="{FF2B5EF4-FFF2-40B4-BE49-F238E27FC236}">
                <a16:creationId xmlns:a16="http://schemas.microsoft.com/office/drawing/2014/main" id="{DEB9AF0E-3CD1-18FB-3B02-9244ADB83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1" name="Text Box 51">
            <a:extLst>
              <a:ext uri="{FF2B5EF4-FFF2-40B4-BE49-F238E27FC236}">
                <a16:creationId xmlns:a16="http://schemas.microsoft.com/office/drawing/2014/main" id="{3EBB8BE7-6423-C782-2C09-2390B8064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2" name="Text Box 52">
            <a:extLst>
              <a:ext uri="{FF2B5EF4-FFF2-40B4-BE49-F238E27FC236}">
                <a16:creationId xmlns:a16="http://schemas.microsoft.com/office/drawing/2014/main" id="{69085329-196B-DBEA-0004-DC7238886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3" name="Text Box 53">
            <a:extLst>
              <a:ext uri="{FF2B5EF4-FFF2-40B4-BE49-F238E27FC236}">
                <a16:creationId xmlns:a16="http://schemas.microsoft.com/office/drawing/2014/main" id="{079DBB28-1345-F28B-444B-D2783A382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4" name="Text Box 54">
            <a:extLst>
              <a:ext uri="{FF2B5EF4-FFF2-40B4-BE49-F238E27FC236}">
                <a16:creationId xmlns:a16="http://schemas.microsoft.com/office/drawing/2014/main" id="{AB6FA11B-A54D-ACFC-81BA-7E1E20781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5" name="Text Box 55">
            <a:extLst>
              <a:ext uri="{FF2B5EF4-FFF2-40B4-BE49-F238E27FC236}">
                <a16:creationId xmlns:a16="http://schemas.microsoft.com/office/drawing/2014/main" id="{634D903F-4A4F-DE2A-F488-5640E7FFA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6" name="Text Box 56">
            <a:extLst>
              <a:ext uri="{FF2B5EF4-FFF2-40B4-BE49-F238E27FC236}">
                <a16:creationId xmlns:a16="http://schemas.microsoft.com/office/drawing/2014/main" id="{C2237347-4990-451C-B951-A81BBAE8B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7" name="Text Box 57">
            <a:extLst>
              <a:ext uri="{FF2B5EF4-FFF2-40B4-BE49-F238E27FC236}">
                <a16:creationId xmlns:a16="http://schemas.microsoft.com/office/drawing/2014/main" id="{34C2E33B-183F-12B7-BCF3-D582C391A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8" name="Text Box 58">
            <a:extLst>
              <a:ext uri="{FF2B5EF4-FFF2-40B4-BE49-F238E27FC236}">
                <a16:creationId xmlns:a16="http://schemas.microsoft.com/office/drawing/2014/main" id="{99E7DCB8-1FF9-1223-2E6D-E02902147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9" name="Text Box 59">
            <a:extLst>
              <a:ext uri="{FF2B5EF4-FFF2-40B4-BE49-F238E27FC236}">
                <a16:creationId xmlns:a16="http://schemas.microsoft.com/office/drawing/2014/main" id="{6970C438-5971-E973-6439-6DF6BFE24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272088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Sin(0.25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  <a:endParaRPr lang="el-GR" altLang="en-US">
              <a:latin typeface="Arial" panose="020B0604020202020204" pitchFamily="34" charset="0"/>
            </a:endParaRPr>
          </a:p>
        </p:txBody>
      </p:sp>
      <p:sp>
        <p:nvSpPr>
          <p:cNvPr id="27710" name="Text Box 60">
            <a:extLst>
              <a:ext uri="{FF2B5EF4-FFF2-40B4-BE49-F238E27FC236}">
                <a16:creationId xmlns:a16="http://schemas.microsoft.com/office/drawing/2014/main" id="{0F797746-8A0B-71BC-5A11-5ACB01164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2720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 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7711" name="Text Box 61">
            <a:extLst>
              <a:ext uri="{FF2B5EF4-FFF2-40B4-BE49-F238E27FC236}">
                <a16:creationId xmlns:a16="http://schemas.microsoft.com/office/drawing/2014/main" id="{370E4752-1350-0F0A-1E13-E9E3D50EA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272088"/>
            <a:ext cx="1447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Sin(0.75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7712" name="Line 62">
            <a:extLst>
              <a:ext uri="{FF2B5EF4-FFF2-40B4-BE49-F238E27FC236}">
                <a16:creationId xmlns:a16="http://schemas.microsoft.com/office/drawing/2014/main" id="{7FDB7C24-8916-9308-C920-85749115A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8006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713" name="Line 63">
            <a:extLst>
              <a:ext uri="{FF2B5EF4-FFF2-40B4-BE49-F238E27FC236}">
                <a16:creationId xmlns:a16="http://schemas.microsoft.com/office/drawing/2014/main" id="{FCC5EA9C-5153-6879-8238-F3075882CA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4876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714" name="Line 64">
            <a:extLst>
              <a:ext uri="{FF2B5EF4-FFF2-40B4-BE49-F238E27FC236}">
                <a16:creationId xmlns:a16="http://schemas.microsoft.com/office/drawing/2014/main" id="{46EA0505-E905-234F-53D0-3D46744CE5D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48006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6">
            <a:extLst>
              <a:ext uri="{FF2B5EF4-FFF2-40B4-BE49-F238E27FC236}">
                <a16:creationId xmlns:a16="http://schemas.microsoft.com/office/drawing/2014/main" id="{DC088FE7-31C2-E4DD-4078-FAFB633E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5A96916-0D04-4574-9460-FF48244EC627}" type="slidenum">
              <a:rPr lang="ar-SA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583A02F4-216E-B426-E1F0-5938ED637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Example 1 – cont’d</a:t>
            </a:r>
            <a:endParaRPr lang="en-US" altLang="en-US" sz="3300"/>
          </a:p>
        </p:txBody>
      </p:sp>
      <p:sp>
        <p:nvSpPr>
          <p:cNvPr id="28678" name="Line 3">
            <a:extLst>
              <a:ext uri="{FF2B5EF4-FFF2-40B4-BE49-F238E27FC236}">
                <a16:creationId xmlns:a16="http://schemas.microsoft.com/office/drawing/2014/main" id="{D082B96B-CFA1-001D-3C8D-137A10C2C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724400"/>
            <a:ext cx="4114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79" name="Oval 4">
            <a:extLst>
              <a:ext uri="{FF2B5EF4-FFF2-40B4-BE49-F238E27FC236}">
                <a16:creationId xmlns:a16="http://schemas.microsoft.com/office/drawing/2014/main" id="{EEE4C9D6-187D-B26E-8F5C-ADCAFA5D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Oval 5">
            <a:extLst>
              <a:ext uri="{FF2B5EF4-FFF2-40B4-BE49-F238E27FC236}">
                <a16:creationId xmlns:a16="http://schemas.microsoft.com/office/drawing/2014/main" id="{5B9EAAB0-D5B4-D279-E35A-36F6A2B7C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1" name="Oval 6">
            <a:extLst>
              <a:ext uri="{FF2B5EF4-FFF2-40B4-BE49-F238E27FC236}">
                <a16:creationId xmlns:a16="http://schemas.microsoft.com/office/drawing/2014/main" id="{C1933D15-9AB0-6540-3437-2EDB3F21C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2" name="Oval 7">
            <a:extLst>
              <a:ext uri="{FF2B5EF4-FFF2-40B4-BE49-F238E27FC236}">
                <a16:creationId xmlns:a16="http://schemas.microsoft.com/office/drawing/2014/main" id="{D8953513-FCF5-3A34-E06A-46F50EB17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3" name="Line 8">
            <a:extLst>
              <a:ext uri="{FF2B5EF4-FFF2-40B4-BE49-F238E27FC236}">
                <a16:creationId xmlns:a16="http://schemas.microsoft.com/office/drawing/2014/main" id="{AEF0207D-7D62-7F55-DA1D-A9A9E112B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2578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84" name="Oval 9">
            <a:extLst>
              <a:ext uri="{FF2B5EF4-FFF2-40B4-BE49-F238E27FC236}">
                <a16:creationId xmlns:a16="http://schemas.microsoft.com/office/drawing/2014/main" id="{B702F174-A075-D537-20A1-87A87FE7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5" name="Oval 10">
            <a:extLst>
              <a:ext uri="{FF2B5EF4-FFF2-40B4-BE49-F238E27FC236}">
                <a16:creationId xmlns:a16="http://schemas.microsoft.com/office/drawing/2014/main" id="{7EC71F00-BA85-4F30-0333-4EC2EE9E5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6" name="Oval 11">
            <a:extLst>
              <a:ext uri="{FF2B5EF4-FFF2-40B4-BE49-F238E27FC236}">
                <a16:creationId xmlns:a16="http://schemas.microsoft.com/office/drawing/2014/main" id="{7D394AD5-AC6B-77EA-1D45-35630470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7" name="Oval 12">
            <a:extLst>
              <a:ext uri="{FF2B5EF4-FFF2-40B4-BE49-F238E27FC236}">
                <a16:creationId xmlns:a16="http://schemas.microsoft.com/office/drawing/2014/main" id="{698FBE65-72B8-5B45-39C2-12E6572D7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8" name="Oval 13">
            <a:extLst>
              <a:ext uri="{FF2B5EF4-FFF2-40B4-BE49-F238E27FC236}">
                <a16:creationId xmlns:a16="http://schemas.microsoft.com/office/drawing/2014/main" id="{D5074F9D-9BFA-0A8C-A372-E6DA00DE3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9" name="Oval 14">
            <a:extLst>
              <a:ext uri="{FF2B5EF4-FFF2-40B4-BE49-F238E27FC236}">
                <a16:creationId xmlns:a16="http://schemas.microsoft.com/office/drawing/2014/main" id="{D2A2FC6E-375C-ABC8-381F-00FF44E57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0" name="Line 15">
            <a:extLst>
              <a:ext uri="{FF2B5EF4-FFF2-40B4-BE49-F238E27FC236}">
                <a16:creationId xmlns:a16="http://schemas.microsoft.com/office/drawing/2014/main" id="{9A96690A-D880-CB3D-583A-4B95C6E94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1910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91" name="Oval 16">
            <a:extLst>
              <a:ext uri="{FF2B5EF4-FFF2-40B4-BE49-F238E27FC236}">
                <a16:creationId xmlns:a16="http://schemas.microsoft.com/office/drawing/2014/main" id="{9B50685E-7EEB-06A3-D0C2-5A9B8C9C6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2" name="Oval 17">
            <a:extLst>
              <a:ext uri="{FF2B5EF4-FFF2-40B4-BE49-F238E27FC236}">
                <a16:creationId xmlns:a16="http://schemas.microsoft.com/office/drawing/2014/main" id="{4BE827BC-1899-C212-6C0D-3B0613667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3" name="Oval 18">
            <a:extLst>
              <a:ext uri="{FF2B5EF4-FFF2-40B4-BE49-F238E27FC236}">
                <a16:creationId xmlns:a16="http://schemas.microsoft.com/office/drawing/2014/main" id="{34534246-6E18-60ED-B33E-F66531089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4" name="Oval 19">
            <a:extLst>
              <a:ext uri="{FF2B5EF4-FFF2-40B4-BE49-F238E27FC236}">
                <a16:creationId xmlns:a16="http://schemas.microsoft.com/office/drawing/2014/main" id="{23F910CB-3C74-5733-0540-6A2D4666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5" name="Oval 20">
            <a:extLst>
              <a:ext uri="{FF2B5EF4-FFF2-40B4-BE49-F238E27FC236}">
                <a16:creationId xmlns:a16="http://schemas.microsoft.com/office/drawing/2014/main" id="{52645484-F5FC-4C62-174B-9CC155D12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6" name="Line 21">
            <a:extLst>
              <a:ext uri="{FF2B5EF4-FFF2-40B4-BE49-F238E27FC236}">
                <a16:creationId xmlns:a16="http://schemas.microsoft.com/office/drawing/2014/main" id="{41A415DF-B44F-1EF7-6192-F69E4092B2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6576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97" name="Oval 22">
            <a:extLst>
              <a:ext uri="{FF2B5EF4-FFF2-40B4-BE49-F238E27FC236}">
                <a16:creationId xmlns:a16="http://schemas.microsoft.com/office/drawing/2014/main" id="{5115DDE2-C35A-3F2E-EE6E-6A5D5F4F6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8" name="Oval 23">
            <a:extLst>
              <a:ext uri="{FF2B5EF4-FFF2-40B4-BE49-F238E27FC236}">
                <a16:creationId xmlns:a16="http://schemas.microsoft.com/office/drawing/2014/main" id="{8AAE2CD4-120D-5CF4-CEFB-6E26523B8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9" name="Oval 24">
            <a:extLst>
              <a:ext uri="{FF2B5EF4-FFF2-40B4-BE49-F238E27FC236}">
                <a16:creationId xmlns:a16="http://schemas.microsoft.com/office/drawing/2014/main" id="{89CD134E-0834-F918-2A8B-71FBFCEB7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0" name="Oval 25">
            <a:extLst>
              <a:ext uri="{FF2B5EF4-FFF2-40B4-BE49-F238E27FC236}">
                <a16:creationId xmlns:a16="http://schemas.microsoft.com/office/drawing/2014/main" id="{596FFD0E-0685-0455-3838-216F2FEE3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1" name="Oval 26">
            <a:extLst>
              <a:ext uri="{FF2B5EF4-FFF2-40B4-BE49-F238E27FC236}">
                <a16:creationId xmlns:a16="http://schemas.microsoft.com/office/drawing/2014/main" id="{D0266E02-C45E-DE83-0250-829337298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2" name="Oval 27">
            <a:extLst>
              <a:ext uri="{FF2B5EF4-FFF2-40B4-BE49-F238E27FC236}">
                <a16:creationId xmlns:a16="http://schemas.microsoft.com/office/drawing/2014/main" id="{64869EA8-0958-E5A4-FC51-05F18AF93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3" name="Oval 28">
            <a:extLst>
              <a:ext uri="{FF2B5EF4-FFF2-40B4-BE49-F238E27FC236}">
                <a16:creationId xmlns:a16="http://schemas.microsoft.com/office/drawing/2014/main" id="{D913460D-6582-39AE-6C70-B10861BD7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4" name="Oval 29">
            <a:extLst>
              <a:ext uri="{FF2B5EF4-FFF2-40B4-BE49-F238E27FC236}">
                <a16:creationId xmlns:a16="http://schemas.microsoft.com/office/drawing/2014/main" id="{F280F817-04D5-781F-B0F0-708FC3E00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5" name="Oval 30">
            <a:extLst>
              <a:ext uri="{FF2B5EF4-FFF2-40B4-BE49-F238E27FC236}">
                <a16:creationId xmlns:a16="http://schemas.microsoft.com/office/drawing/2014/main" id="{4325B47B-3C72-8414-7616-BF089A02A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06" name="Text Box 31">
            <a:extLst>
              <a:ext uri="{FF2B5EF4-FFF2-40B4-BE49-F238E27FC236}">
                <a16:creationId xmlns:a16="http://schemas.microsoft.com/office/drawing/2014/main" id="{816407FE-6FEE-D3BD-FBC1-6460C577B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05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</a:t>
            </a:r>
          </a:p>
        </p:txBody>
      </p:sp>
      <p:sp>
        <p:nvSpPr>
          <p:cNvPr id="28707" name="Text Box 32">
            <a:extLst>
              <a:ext uri="{FF2B5EF4-FFF2-40B4-BE49-F238E27FC236}">
                <a16:creationId xmlns:a16="http://schemas.microsoft.com/office/drawing/2014/main" id="{1E2CDC39-286A-6068-5FA6-187713607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495801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t=0.025</a:t>
            </a:r>
          </a:p>
        </p:txBody>
      </p:sp>
      <p:sp>
        <p:nvSpPr>
          <p:cNvPr id="28708" name="Text Box 33">
            <a:extLst>
              <a:ext uri="{FF2B5EF4-FFF2-40B4-BE49-F238E27FC236}">
                <a16:creationId xmlns:a16="http://schemas.microsoft.com/office/drawing/2014/main" id="{A6AB09CF-C7AD-781D-FDAC-DFBF71654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9624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t=0.05</a:t>
            </a:r>
          </a:p>
        </p:txBody>
      </p:sp>
      <p:sp>
        <p:nvSpPr>
          <p:cNvPr id="28709" name="Line 34">
            <a:extLst>
              <a:ext uri="{FF2B5EF4-FFF2-40B4-BE49-F238E27FC236}">
                <a16:creationId xmlns:a16="http://schemas.microsoft.com/office/drawing/2014/main" id="{F7D3DB80-BE02-4426-5E92-08E74586A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200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710" name="Oval 35">
            <a:extLst>
              <a:ext uri="{FF2B5EF4-FFF2-40B4-BE49-F238E27FC236}">
                <a16:creationId xmlns:a16="http://schemas.microsoft.com/office/drawing/2014/main" id="{72325C74-8F67-0B68-C209-27A5D573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1" name="Oval 36">
            <a:extLst>
              <a:ext uri="{FF2B5EF4-FFF2-40B4-BE49-F238E27FC236}">
                <a16:creationId xmlns:a16="http://schemas.microsoft.com/office/drawing/2014/main" id="{61BA9855-C2FD-C326-410A-245A0FBD6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2" name="Oval 37">
            <a:extLst>
              <a:ext uri="{FF2B5EF4-FFF2-40B4-BE49-F238E27FC236}">
                <a16:creationId xmlns:a16="http://schemas.microsoft.com/office/drawing/2014/main" id="{79CA916D-AB20-D5F4-A678-B8969E4D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3" name="Oval 38">
            <a:extLst>
              <a:ext uri="{FF2B5EF4-FFF2-40B4-BE49-F238E27FC236}">
                <a16:creationId xmlns:a16="http://schemas.microsoft.com/office/drawing/2014/main" id="{DF399BD8-050E-9392-C1D6-362E70676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4" name="Oval 39">
            <a:extLst>
              <a:ext uri="{FF2B5EF4-FFF2-40B4-BE49-F238E27FC236}">
                <a16:creationId xmlns:a16="http://schemas.microsoft.com/office/drawing/2014/main" id="{D327F442-6200-6877-EE30-B0E4F3B29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5" name="Oval 40">
            <a:extLst>
              <a:ext uri="{FF2B5EF4-FFF2-40B4-BE49-F238E27FC236}">
                <a16:creationId xmlns:a16="http://schemas.microsoft.com/office/drawing/2014/main" id="{B23E8AA7-1163-5572-7658-A0D079F2D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716" name="Text Box 41">
            <a:extLst>
              <a:ext uri="{FF2B5EF4-FFF2-40B4-BE49-F238E27FC236}">
                <a16:creationId xmlns:a16="http://schemas.microsoft.com/office/drawing/2014/main" id="{8BD86371-D476-04AF-F3A5-714C517B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052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t=0.075</a:t>
            </a:r>
          </a:p>
        </p:txBody>
      </p:sp>
      <p:sp>
        <p:nvSpPr>
          <p:cNvPr id="28717" name="Text Box 42">
            <a:extLst>
              <a:ext uri="{FF2B5EF4-FFF2-40B4-BE49-F238E27FC236}">
                <a16:creationId xmlns:a16="http://schemas.microsoft.com/office/drawing/2014/main" id="{70E58404-5CA2-87BD-1D44-F5D0959B2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480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t=0.10</a:t>
            </a:r>
          </a:p>
        </p:txBody>
      </p:sp>
      <p:sp>
        <p:nvSpPr>
          <p:cNvPr id="28718" name="Text Box 43">
            <a:extLst>
              <a:ext uri="{FF2B5EF4-FFF2-40B4-BE49-F238E27FC236}">
                <a16:creationId xmlns:a16="http://schemas.microsoft.com/office/drawing/2014/main" id="{C939336C-6A5A-DDEB-3581-827F8CEB8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x=0.25</a:t>
            </a:r>
          </a:p>
        </p:txBody>
      </p:sp>
      <p:sp>
        <p:nvSpPr>
          <p:cNvPr id="28719" name="Text Box 44">
            <a:extLst>
              <a:ext uri="{FF2B5EF4-FFF2-40B4-BE49-F238E27FC236}">
                <a16:creationId xmlns:a16="http://schemas.microsoft.com/office/drawing/2014/main" id="{AF493A3D-8163-D688-A713-AB20159CB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x=0.5</a:t>
            </a:r>
          </a:p>
        </p:txBody>
      </p:sp>
      <p:sp>
        <p:nvSpPr>
          <p:cNvPr id="28720" name="Text Box 45">
            <a:extLst>
              <a:ext uri="{FF2B5EF4-FFF2-40B4-BE49-F238E27FC236}">
                <a16:creationId xmlns:a16="http://schemas.microsoft.com/office/drawing/2014/main" id="{974B302E-9639-6652-9A54-D07E4B687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x=0.0</a:t>
            </a:r>
          </a:p>
        </p:txBody>
      </p:sp>
      <p:sp>
        <p:nvSpPr>
          <p:cNvPr id="28721" name="Text Box 46">
            <a:extLst>
              <a:ext uri="{FF2B5EF4-FFF2-40B4-BE49-F238E27FC236}">
                <a16:creationId xmlns:a16="http://schemas.microsoft.com/office/drawing/2014/main" id="{7B22318A-7C9A-10A3-AA83-5586B8934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x=0.75</a:t>
            </a:r>
          </a:p>
        </p:txBody>
      </p:sp>
      <p:sp>
        <p:nvSpPr>
          <p:cNvPr id="28722" name="Text Box 47">
            <a:extLst>
              <a:ext uri="{FF2B5EF4-FFF2-40B4-BE49-F238E27FC236}">
                <a16:creationId xmlns:a16="http://schemas.microsoft.com/office/drawing/2014/main" id="{FE5B4A12-4E25-D9CD-7FAF-1C930D193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x=1.0</a:t>
            </a:r>
          </a:p>
        </p:txBody>
      </p:sp>
      <p:sp>
        <p:nvSpPr>
          <p:cNvPr id="28723" name="Text Box 48">
            <a:extLst>
              <a:ext uri="{FF2B5EF4-FFF2-40B4-BE49-F238E27FC236}">
                <a16:creationId xmlns:a16="http://schemas.microsoft.com/office/drawing/2014/main" id="{1F8E3C1D-C6B8-A1CD-0040-9C6576CB6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24" name="Text Box 49">
            <a:extLst>
              <a:ext uri="{FF2B5EF4-FFF2-40B4-BE49-F238E27FC236}">
                <a16:creationId xmlns:a16="http://schemas.microsoft.com/office/drawing/2014/main" id="{F0249F20-F55B-32DB-4251-6D9E8C1C7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25" name="Text Box 50">
            <a:extLst>
              <a:ext uri="{FF2B5EF4-FFF2-40B4-BE49-F238E27FC236}">
                <a16:creationId xmlns:a16="http://schemas.microsoft.com/office/drawing/2014/main" id="{1A7536DA-101D-DE34-9DE8-9C7D2CBC5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26" name="Text Box 51">
            <a:extLst>
              <a:ext uri="{FF2B5EF4-FFF2-40B4-BE49-F238E27FC236}">
                <a16:creationId xmlns:a16="http://schemas.microsoft.com/office/drawing/2014/main" id="{AD5996BF-F0AA-662D-C1BB-10F67AB09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27" name="Text Box 52">
            <a:extLst>
              <a:ext uri="{FF2B5EF4-FFF2-40B4-BE49-F238E27FC236}">
                <a16:creationId xmlns:a16="http://schemas.microsoft.com/office/drawing/2014/main" id="{1B153E21-9E2E-80F8-2837-7BF07C635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28" name="Text Box 53">
            <a:extLst>
              <a:ext uri="{FF2B5EF4-FFF2-40B4-BE49-F238E27FC236}">
                <a16:creationId xmlns:a16="http://schemas.microsoft.com/office/drawing/2014/main" id="{58B7FBAF-C8CE-5139-AF3D-C13E0E5FC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29" name="Text Box 54">
            <a:extLst>
              <a:ext uri="{FF2B5EF4-FFF2-40B4-BE49-F238E27FC236}">
                <a16:creationId xmlns:a16="http://schemas.microsoft.com/office/drawing/2014/main" id="{113C5FF3-AF83-D722-7901-2B582BF07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30" name="Text Box 55">
            <a:extLst>
              <a:ext uri="{FF2B5EF4-FFF2-40B4-BE49-F238E27FC236}">
                <a16:creationId xmlns:a16="http://schemas.microsoft.com/office/drawing/2014/main" id="{A2DF1A0D-5AC9-58E4-1BB3-B792E362F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31" name="Text Box 56">
            <a:extLst>
              <a:ext uri="{FF2B5EF4-FFF2-40B4-BE49-F238E27FC236}">
                <a16:creationId xmlns:a16="http://schemas.microsoft.com/office/drawing/2014/main" id="{FC3C5C0F-17D9-9573-B61B-568A6A5BD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32" name="Text Box 57">
            <a:extLst>
              <a:ext uri="{FF2B5EF4-FFF2-40B4-BE49-F238E27FC236}">
                <a16:creationId xmlns:a16="http://schemas.microsoft.com/office/drawing/2014/main" id="{4AE6BCEB-A861-C303-2AFF-F5AF7FFE6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8733" name="Text Box 58">
            <a:extLst>
              <a:ext uri="{FF2B5EF4-FFF2-40B4-BE49-F238E27FC236}">
                <a16:creationId xmlns:a16="http://schemas.microsoft.com/office/drawing/2014/main" id="{1BC76BD0-AE75-D3B7-4266-72520569A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272088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Sin(0.25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  <a:endParaRPr lang="el-GR" altLang="en-US">
              <a:latin typeface="Arial" panose="020B0604020202020204" pitchFamily="34" charset="0"/>
            </a:endParaRPr>
          </a:p>
        </p:txBody>
      </p:sp>
      <p:sp>
        <p:nvSpPr>
          <p:cNvPr id="28734" name="Text Box 59">
            <a:extLst>
              <a:ext uri="{FF2B5EF4-FFF2-40B4-BE49-F238E27FC236}">
                <a16:creationId xmlns:a16="http://schemas.microsoft.com/office/drawing/2014/main" id="{0F3BB53A-43A3-0CFD-98C1-9F6DC5610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2720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 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8735" name="Text Box 60">
            <a:extLst>
              <a:ext uri="{FF2B5EF4-FFF2-40B4-BE49-F238E27FC236}">
                <a16:creationId xmlns:a16="http://schemas.microsoft.com/office/drawing/2014/main" id="{F44B60C2-A275-62E2-B1C4-32DC3461E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272088"/>
            <a:ext cx="1447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Sin(0.75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8736" name="Line 61">
            <a:extLst>
              <a:ext uri="{FF2B5EF4-FFF2-40B4-BE49-F238E27FC236}">
                <a16:creationId xmlns:a16="http://schemas.microsoft.com/office/drawing/2014/main" id="{8B03EF11-2950-2B61-14FD-DD343A8CE4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8006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737" name="Line 62">
            <a:extLst>
              <a:ext uri="{FF2B5EF4-FFF2-40B4-BE49-F238E27FC236}">
                <a16:creationId xmlns:a16="http://schemas.microsoft.com/office/drawing/2014/main" id="{66378A79-A3DC-F29B-78DA-6076A47C69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4876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738" name="Line 63">
            <a:extLst>
              <a:ext uri="{FF2B5EF4-FFF2-40B4-BE49-F238E27FC236}">
                <a16:creationId xmlns:a16="http://schemas.microsoft.com/office/drawing/2014/main" id="{3DA1B504-A24E-8D43-B264-003249616A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48006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28674" name="Object 64">
            <a:extLst>
              <a:ext uri="{FF2B5EF4-FFF2-40B4-BE49-F238E27FC236}">
                <a16:creationId xmlns:a16="http://schemas.microsoft.com/office/drawing/2014/main" id="{DB33F8F7-6EEE-2DF8-4353-6FB7F2C3E37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209800" y="1643064"/>
          <a:ext cx="74676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03440" imgH="431640" progId="Equation.3">
                  <p:embed/>
                </p:oleObj>
              </mc:Choice>
              <mc:Fallback>
                <p:oleObj name="Equation" r:id="rId3" imgW="3403440" imgH="431640" progId="Equation.3">
                  <p:embed/>
                  <p:pic>
                    <p:nvPicPr>
                      <p:cNvPr id="28674" name="Object 64">
                        <a:extLst>
                          <a:ext uri="{FF2B5EF4-FFF2-40B4-BE49-F238E27FC236}">
                            <a16:creationId xmlns:a16="http://schemas.microsoft.com/office/drawing/2014/main" id="{DB33F8F7-6EEE-2DF8-4353-6FB7F2C3E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43064"/>
                        <a:ext cx="74676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Slide Number Placeholder 6">
            <a:extLst>
              <a:ext uri="{FF2B5EF4-FFF2-40B4-BE49-F238E27FC236}">
                <a16:creationId xmlns:a16="http://schemas.microsoft.com/office/drawing/2014/main" id="{285A6EB5-FE72-D1D1-4477-E76AD183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A3B571-81F1-4184-B1DC-9A45DFA399BE}" type="slidenum">
              <a:rPr lang="ar-SA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DC97D86E-45B8-CEDD-A90D-AC8146AC5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/>
              <a:t>Example 1 – cont’d</a:t>
            </a:r>
            <a:endParaRPr lang="en-US" altLang="en-US" sz="3300"/>
          </a:p>
        </p:txBody>
      </p:sp>
      <p:sp>
        <p:nvSpPr>
          <p:cNvPr id="29702" name="Line 3">
            <a:extLst>
              <a:ext uri="{FF2B5EF4-FFF2-40B4-BE49-F238E27FC236}">
                <a16:creationId xmlns:a16="http://schemas.microsoft.com/office/drawing/2014/main" id="{EFAFA2F3-C8A8-AF00-AA7F-841A880FC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724400"/>
            <a:ext cx="4114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3" name="Oval 4">
            <a:extLst>
              <a:ext uri="{FF2B5EF4-FFF2-40B4-BE49-F238E27FC236}">
                <a16:creationId xmlns:a16="http://schemas.microsoft.com/office/drawing/2014/main" id="{FC2E63F2-6EC1-D8F3-51CB-C46F27878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4" name="Oval 5">
            <a:extLst>
              <a:ext uri="{FF2B5EF4-FFF2-40B4-BE49-F238E27FC236}">
                <a16:creationId xmlns:a16="http://schemas.microsoft.com/office/drawing/2014/main" id="{08BA4DDA-F866-FC17-DEE0-34B10FEBF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648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54" name="Oval 6">
            <a:extLst>
              <a:ext uri="{FF2B5EF4-FFF2-40B4-BE49-F238E27FC236}">
                <a16:creationId xmlns:a16="http://schemas.microsoft.com/office/drawing/2014/main" id="{91398E5C-FF69-EDB3-7967-60FB9BC08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55" name="Oval 7">
            <a:extLst>
              <a:ext uri="{FF2B5EF4-FFF2-40B4-BE49-F238E27FC236}">
                <a16:creationId xmlns:a16="http://schemas.microsoft.com/office/drawing/2014/main" id="{95628D16-6BFC-6629-64E7-AF2A026B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7" name="Line 8">
            <a:extLst>
              <a:ext uri="{FF2B5EF4-FFF2-40B4-BE49-F238E27FC236}">
                <a16:creationId xmlns:a16="http://schemas.microsoft.com/office/drawing/2014/main" id="{55FEC753-0C94-39A3-0082-66510DBB5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2578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8" name="Oval 9">
            <a:extLst>
              <a:ext uri="{FF2B5EF4-FFF2-40B4-BE49-F238E27FC236}">
                <a16:creationId xmlns:a16="http://schemas.microsoft.com/office/drawing/2014/main" id="{9A60195C-A2C1-231C-5E2D-D7AA32C98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09" name="Oval 10">
            <a:extLst>
              <a:ext uri="{FF2B5EF4-FFF2-40B4-BE49-F238E27FC236}">
                <a16:creationId xmlns:a16="http://schemas.microsoft.com/office/drawing/2014/main" id="{1F4534E1-F2AF-BA92-099F-1E4008D3C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0" name="Oval 11">
            <a:extLst>
              <a:ext uri="{FF2B5EF4-FFF2-40B4-BE49-F238E27FC236}">
                <a16:creationId xmlns:a16="http://schemas.microsoft.com/office/drawing/2014/main" id="{9329ADB9-A303-7C0A-73DA-9EFF251FF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1" name="Oval 12">
            <a:extLst>
              <a:ext uri="{FF2B5EF4-FFF2-40B4-BE49-F238E27FC236}">
                <a16:creationId xmlns:a16="http://schemas.microsoft.com/office/drawing/2014/main" id="{E413DDF7-34C1-0B4C-227A-FF70B0149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2" name="Oval 13">
            <a:extLst>
              <a:ext uri="{FF2B5EF4-FFF2-40B4-BE49-F238E27FC236}">
                <a16:creationId xmlns:a16="http://schemas.microsoft.com/office/drawing/2014/main" id="{1F99E537-C13B-31C7-38EA-FFFF8395F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3" name="Oval 14">
            <a:extLst>
              <a:ext uri="{FF2B5EF4-FFF2-40B4-BE49-F238E27FC236}">
                <a16:creationId xmlns:a16="http://schemas.microsoft.com/office/drawing/2014/main" id="{E6E56636-4D99-0ECA-67ED-451B26EF8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1816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4" name="Line 15">
            <a:extLst>
              <a:ext uri="{FF2B5EF4-FFF2-40B4-BE49-F238E27FC236}">
                <a16:creationId xmlns:a16="http://schemas.microsoft.com/office/drawing/2014/main" id="{536C1D93-F087-5787-583F-CC638DDE3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1910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15" name="Oval 16">
            <a:extLst>
              <a:ext uri="{FF2B5EF4-FFF2-40B4-BE49-F238E27FC236}">
                <a16:creationId xmlns:a16="http://schemas.microsoft.com/office/drawing/2014/main" id="{55E24BEB-6F46-651A-8E75-C5791D60D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6" name="Oval 17">
            <a:extLst>
              <a:ext uri="{FF2B5EF4-FFF2-40B4-BE49-F238E27FC236}">
                <a16:creationId xmlns:a16="http://schemas.microsoft.com/office/drawing/2014/main" id="{B7A79DE0-A5CB-61EC-CC52-1106B4C12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66" name="Oval 18">
            <a:extLst>
              <a:ext uri="{FF2B5EF4-FFF2-40B4-BE49-F238E27FC236}">
                <a16:creationId xmlns:a16="http://schemas.microsoft.com/office/drawing/2014/main" id="{AA6CB139-A714-59A8-6E2A-DD5D7610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67" name="Oval 19">
            <a:extLst>
              <a:ext uri="{FF2B5EF4-FFF2-40B4-BE49-F238E27FC236}">
                <a16:creationId xmlns:a16="http://schemas.microsoft.com/office/drawing/2014/main" id="{EF90FA39-574B-FB5C-5683-6391D6276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19" name="Oval 20">
            <a:extLst>
              <a:ext uri="{FF2B5EF4-FFF2-40B4-BE49-F238E27FC236}">
                <a16:creationId xmlns:a16="http://schemas.microsoft.com/office/drawing/2014/main" id="{5DF1A531-CA9B-5CAF-D062-6B4F677AE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1148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0" name="Line 21">
            <a:extLst>
              <a:ext uri="{FF2B5EF4-FFF2-40B4-BE49-F238E27FC236}">
                <a16:creationId xmlns:a16="http://schemas.microsoft.com/office/drawing/2014/main" id="{70A89313-2BFA-58DD-8B96-949588282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6576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21" name="Oval 22">
            <a:extLst>
              <a:ext uri="{FF2B5EF4-FFF2-40B4-BE49-F238E27FC236}">
                <a16:creationId xmlns:a16="http://schemas.microsoft.com/office/drawing/2014/main" id="{3AB9A7B0-9FC9-9FFE-79B1-1BC36E994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2" name="Oval 23">
            <a:extLst>
              <a:ext uri="{FF2B5EF4-FFF2-40B4-BE49-F238E27FC236}">
                <a16:creationId xmlns:a16="http://schemas.microsoft.com/office/drawing/2014/main" id="{20745AE0-C2FE-8964-1443-00ED0BD48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72" name="Oval 24">
            <a:extLst>
              <a:ext uri="{FF2B5EF4-FFF2-40B4-BE49-F238E27FC236}">
                <a16:creationId xmlns:a16="http://schemas.microsoft.com/office/drawing/2014/main" id="{1A7075FF-1BBF-B6FA-FF26-753D13E96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73" name="Oval 25">
            <a:extLst>
              <a:ext uri="{FF2B5EF4-FFF2-40B4-BE49-F238E27FC236}">
                <a16:creationId xmlns:a16="http://schemas.microsoft.com/office/drawing/2014/main" id="{D881E911-4084-06E5-C704-CCA8491D9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5" name="Oval 26">
            <a:extLst>
              <a:ext uri="{FF2B5EF4-FFF2-40B4-BE49-F238E27FC236}">
                <a16:creationId xmlns:a16="http://schemas.microsoft.com/office/drawing/2014/main" id="{22613EF1-0ADC-60A5-8977-A02CF62F3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26" name="Oval 27">
            <a:extLst>
              <a:ext uri="{FF2B5EF4-FFF2-40B4-BE49-F238E27FC236}">
                <a16:creationId xmlns:a16="http://schemas.microsoft.com/office/drawing/2014/main" id="{D1F1EB0D-8F05-2520-A096-DC6DEF635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81600"/>
            <a:ext cx="76200" cy="1524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76" name="Oval 28">
            <a:extLst>
              <a:ext uri="{FF2B5EF4-FFF2-40B4-BE49-F238E27FC236}">
                <a16:creationId xmlns:a16="http://schemas.microsoft.com/office/drawing/2014/main" id="{5033E6E7-C36D-DD56-17E1-C0B086B67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648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77" name="Oval 29">
            <a:extLst>
              <a:ext uri="{FF2B5EF4-FFF2-40B4-BE49-F238E27FC236}">
                <a16:creationId xmlns:a16="http://schemas.microsoft.com/office/drawing/2014/main" id="{2DB1450F-1F0F-DC82-6488-42259148F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814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78" name="Oval 30">
            <a:extLst>
              <a:ext uri="{FF2B5EF4-FFF2-40B4-BE49-F238E27FC236}">
                <a16:creationId xmlns:a16="http://schemas.microsoft.com/office/drawing/2014/main" id="{BFB9D4F2-5E90-2F5A-1948-681D4EA70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1148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0" name="Text Box 31">
            <a:extLst>
              <a:ext uri="{FF2B5EF4-FFF2-40B4-BE49-F238E27FC236}">
                <a16:creationId xmlns:a16="http://schemas.microsoft.com/office/drawing/2014/main" id="{F9CBEDE0-7704-3202-D79B-C6D220F94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054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</a:t>
            </a:r>
          </a:p>
        </p:txBody>
      </p:sp>
      <p:sp>
        <p:nvSpPr>
          <p:cNvPr id="29731" name="Text Box 32">
            <a:extLst>
              <a:ext uri="{FF2B5EF4-FFF2-40B4-BE49-F238E27FC236}">
                <a16:creationId xmlns:a16="http://schemas.microsoft.com/office/drawing/2014/main" id="{88735760-25F6-C176-5BC3-3EFD1385E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495801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t=0.025</a:t>
            </a:r>
          </a:p>
        </p:txBody>
      </p:sp>
      <p:sp>
        <p:nvSpPr>
          <p:cNvPr id="29732" name="Text Box 33">
            <a:extLst>
              <a:ext uri="{FF2B5EF4-FFF2-40B4-BE49-F238E27FC236}">
                <a16:creationId xmlns:a16="http://schemas.microsoft.com/office/drawing/2014/main" id="{3319EAFE-978C-B60E-339E-533C14327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9624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t=0.05</a:t>
            </a:r>
          </a:p>
        </p:txBody>
      </p:sp>
      <p:sp>
        <p:nvSpPr>
          <p:cNvPr id="29733" name="Line 34">
            <a:extLst>
              <a:ext uri="{FF2B5EF4-FFF2-40B4-BE49-F238E27FC236}">
                <a16:creationId xmlns:a16="http://schemas.microsoft.com/office/drawing/2014/main" id="{402C53FD-9F0A-6727-3934-0F211082F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200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34" name="Oval 35">
            <a:extLst>
              <a:ext uri="{FF2B5EF4-FFF2-40B4-BE49-F238E27FC236}">
                <a16:creationId xmlns:a16="http://schemas.microsoft.com/office/drawing/2014/main" id="{FA897EC9-4C42-84EE-A7D4-DD0BCCE98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5" name="Oval 36">
            <a:extLst>
              <a:ext uri="{FF2B5EF4-FFF2-40B4-BE49-F238E27FC236}">
                <a16:creationId xmlns:a16="http://schemas.microsoft.com/office/drawing/2014/main" id="{7823077E-3D70-A0FC-15F6-0510FB92D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85" name="Oval 37">
            <a:extLst>
              <a:ext uri="{FF2B5EF4-FFF2-40B4-BE49-F238E27FC236}">
                <a16:creationId xmlns:a16="http://schemas.microsoft.com/office/drawing/2014/main" id="{895B2E59-024D-0E23-3E27-2C09E798F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86" name="Oval 38">
            <a:extLst>
              <a:ext uri="{FF2B5EF4-FFF2-40B4-BE49-F238E27FC236}">
                <a16:creationId xmlns:a16="http://schemas.microsoft.com/office/drawing/2014/main" id="{74D8E9DD-4D67-290B-101D-95969096D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38" name="Oval 39">
            <a:extLst>
              <a:ext uri="{FF2B5EF4-FFF2-40B4-BE49-F238E27FC236}">
                <a16:creationId xmlns:a16="http://schemas.microsoft.com/office/drawing/2014/main" id="{263132D7-C98F-9DFA-AAA8-8649F7F63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124200"/>
            <a:ext cx="762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9688" name="Oval 40">
            <a:extLst>
              <a:ext uri="{FF2B5EF4-FFF2-40B4-BE49-F238E27FC236}">
                <a16:creationId xmlns:a16="http://schemas.microsoft.com/office/drawing/2014/main" id="{14093A40-047A-4830-73AA-F4B64091C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24200"/>
            <a:ext cx="76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740" name="Text Box 41">
            <a:extLst>
              <a:ext uri="{FF2B5EF4-FFF2-40B4-BE49-F238E27FC236}">
                <a16:creationId xmlns:a16="http://schemas.microsoft.com/office/drawing/2014/main" id="{71D4A790-2DA4-C2E1-12E3-E030FE826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052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t=0.075</a:t>
            </a:r>
          </a:p>
        </p:txBody>
      </p:sp>
      <p:sp>
        <p:nvSpPr>
          <p:cNvPr id="29741" name="Text Box 42">
            <a:extLst>
              <a:ext uri="{FF2B5EF4-FFF2-40B4-BE49-F238E27FC236}">
                <a16:creationId xmlns:a16="http://schemas.microsoft.com/office/drawing/2014/main" id="{30286E21-4753-F1C4-1290-A118B99EE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4800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t=0.10</a:t>
            </a:r>
          </a:p>
        </p:txBody>
      </p:sp>
      <p:sp>
        <p:nvSpPr>
          <p:cNvPr id="29742" name="Text Box 43">
            <a:extLst>
              <a:ext uri="{FF2B5EF4-FFF2-40B4-BE49-F238E27FC236}">
                <a16:creationId xmlns:a16="http://schemas.microsoft.com/office/drawing/2014/main" id="{800F0B64-8E5D-15F2-08A0-786C99886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x=0.25</a:t>
            </a:r>
          </a:p>
        </p:txBody>
      </p:sp>
      <p:sp>
        <p:nvSpPr>
          <p:cNvPr id="29743" name="Text Box 44">
            <a:extLst>
              <a:ext uri="{FF2B5EF4-FFF2-40B4-BE49-F238E27FC236}">
                <a16:creationId xmlns:a16="http://schemas.microsoft.com/office/drawing/2014/main" id="{9BB5DE08-D83F-02C1-F9FD-A0456DCB1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x=0.5</a:t>
            </a:r>
          </a:p>
        </p:txBody>
      </p:sp>
      <p:sp>
        <p:nvSpPr>
          <p:cNvPr id="29744" name="Text Box 45">
            <a:extLst>
              <a:ext uri="{FF2B5EF4-FFF2-40B4-BE49-F238E27FC236}">
                <a16:creationId xmlns:a16="http://schemas.microsoft.com/office/drawing/2014/main" id="{BB41CFB3-B9CE-C3E1-4F58-17FE4C7F1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x=0.0</a:t>
            </a:r>
          </a:p>
        </p:txBody>
      </p:sp>
      <p:sp>
        <p:nvSpPr>
          <p:cNvPr id="29745" name="Text Box 46">
            <a:extLst>
              <a:ext uri="{FF2B5EF4-FFF2-40B4-BE49-F238E27FC236}">
                <a16:creationId xmlns:a16="http://schemas.microsoft.com/office/drawing/2014/main" id="{9C512F44-3B8B-5E74-68BC-B0E3EBD82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8054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x=0.75</a:t>
            </a:r>
          </a:p>
        </p:txBody>
      </p:sp>
      <p:sp>
        <p:nvSpPr>
          <p:cNvPr id="29746" name="Text Box 47">
            <a:extLst>
              <a:ext uri="{FF2B5EF4-FFF2-40B4-BE49-F238E27FC236}">
                <a16:creationId xmlns:a16="http://schemas.microsoft.com/office/drawing/2014/main" id="{D266829D-9A98-09A7-C4B1-14889515A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912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x=1.0</a:t>
            </a:r>
          </a:p>
        </p:txBody>
      </p:sp>
      <p:sp>
        <p:nvSpPr>
          <p:cNvPr id="29747" name="Text Box 48">
            <a:extLst>
              <a:ext uri="{FF2B5EF4-FFF2-40B4-BE49-F238E27FC236}">
                <a16:creationId xmlns:a16="http://schemas.microsoft.com/office/drawing/2014/main" id="{2AC679A5-2C60-6F44-5718-88CEC56D0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48" name="Text Box 49">
            <a:extLst>
              <a:ext uri="{FF2B5EF4-FFF2-40B4-BE49-F238E27FC236}">
                <a16:creationId xmlns:a16="http://schemas.microsoft.com/office/drawing/2014/main" id="{31C03A2F-86E9-803E-1416-36D6B6E0B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49" name="Text Box 50">
            <a:extLst>
              <a:ext uri="{FF2B5EF4-FFF2-40B4-BE49-F238E27FC236}">
                <a16:creationId xmlns:a16="http://schemas.microsoft.com/office/drawing/2014/main" id="{F621FF50-07BF-E809-1AB6-35625C5C3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0" name="Text Box 51">
            <a:extLst>
              <a:ext uri="{FF2B5EF4-FFF2-40B4-BE49-F238E27FC236}">
                <a16:creationId xmlns:a16="http://schemas.microsoft.com/office/drawing/2014/main" id="{A8B72CA9-0766-2CB1-FEA5-E6B7E8C6D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1" name="Text Box 52">
            <a:extLst>
              <a:ext uri="{FF2B5EF4-FFF2-40B4-BE49-F238E27FC236}">
                <a16:creationId xmlns:a16="http://schemas.microsoft.com/office/drawing/2014/main" id="{3C1209DF-0BAC-9A90-05CD-4B97E6AA9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2" name="Text Box 53">
            <a:extLst>
              <a:ext uri="{FF2B5EF4-FFF2-40B4-BE49-F238E27FC236}">
                <a16:creationId xmlns:a16="http://schemas.microsoft.com/office/drawing/2014/main" id="{F09C0439-C4CC-4D9C-C9D3-A330B3A35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43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3" name="Text Box 54">
            <a:extLst>
              <a:ext uri="{FF2B5EF4-FFF2-40B4-BE49-F238E27FC236}">
                <a16:creationId xmlns:a16="http://schemas.microsoft.com/office/drawing/2014/main" id="{0AAF9782-A795-72CE-D85C-189AB81C5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4" name="Text Box 55">
            <a:extLst>
              <a:ext uri="{FF2B5EF4-FFF2-40B4-BE49-F238E27FC236}">
                <a16:creationId xmlns:a16="http://schemas.microsoft.com/office/drawing/2014/main" id="{50CDC75C-884D-B049-9953-9F649C734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0528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5" name="Text Box 56">
            <a:extLst>
              <a:ext uri="{FF2B5EF4-FFF2-40B4-BE49-F238E27FC236}">
                <a16:creationId xmlns:a16="http://schemas.microsoft.com/office/drawing/2014/main" id="{B4463FA3-3055-9D1F-0D4C-2EF1F9CB4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443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6" name="Text Box 57">
            <a:extLst>
              <a:ext uri="{FF2B5EF4-FFF2-40B4-BE49-F238E27FC236}">
                <a16:creationId xmlns:a16="http://schemas.microsoft.com/office/drawing/2014/main" id="{54B2811D-113B-237E-A4DC-0CF7A12D3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57" name="Text Box 58">
            <a:extLst>
              <a:ext uri="{FF2B5EF4-FFF2-40B4-BE49-F238E27FC236}">
                <a16:creationId xmlns:a16="http://schemas.microsoft.com/office/drawing/2014/main" id="{FA11861E-6527-2324-3F0D-4EDF65677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272088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Sin(0.25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  <a:endParaRPr lang="el-GR" altLang="en-US">
              <a:latin typeface="Arial" panose="020B0604020202020204" pitchFamily="34" charset="0"/>
            </a:endParaRPr>
          </a:p>
        </p:txBody>
      </p:sp>
      <p:sp>
        <p:nvSpPr>
          <p:cNvPr id="29758" name="Text Box 59">
            <a:extLst>
              <a:ext uri="{FF2B5EF4-FFF2-40B4-BE49-F238E27FC236}">
                <a16:creationId xmlns:a16="http://schemas.microsoft.com/office/drawing/2014/main" id="{AE2CB1DC-4DBE-E4F8-1397-7ABDF002F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2720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 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9759" name="Text Box 60">
            <a:extLst>
              <a:ext uri="{FF2B5EF4-FFF2-40B4-BE49-F238E27FC236}">
                <a16:creationId xmlns:a16="http://schemas.microsoft.com/office/drawing/2014/main" id="{9E48E978-5CC4-FDEC-AC17-F06004B9A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272088"/>
            <a:ext cx="1447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Sin(0.75</a:t>
            </a:r>
            <a:r>
              <a:rPr lang="el-GR" altLang="en-US">
                <a:latin typeface="Arial" panose="020B0604020202020204" pitchFamily="34" charset="0"/>
              </a:rPr>
              <a:t>π</a:t>
            </a:r>
            <a:r>
              <a:rPr lang="en-US" altLang="en-US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9760" name="Line 61">
            <a:extLst>
              <a:ext uri="{FF2B5EF4-FFF2-40B4-BE49-F238E27FC236}">
                <a16:creationId xmlns:a16="http://schemas.microsoft.com/office/drawing/2014/main" id="{1A884B10-4762-FF57-7D3A-C7A3AF077E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48006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61" name="Line 62">
            <a:extLst>
              <a:ext uri="{FF2B5EF4-FFF2-40B4-BE49-F238E27FC236}">
                <a16:creationId xmlns:a16="http://schemas.microsoft.com/office/drawing/2014/main" id="{1510A2EB-7682-5B88-AFBC-9F945BD192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4876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62" name="Line 63">
            <a:extLst>
              <a:ext uri="{FF2B5EF4-FFF2-40B4-BE49-F238E27FC236}">
                <a16:creationId xmlns:a16="http://schemas.microsoft.com/office/drawing/2014/main" id="{29F78342-6E1F-195A-3F60-D72F101234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9800" y="48006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29698" name="Object 64">
            <a:extLst>
              <a:ext uri="{FF2B5EF4-FFF2-40B4-BE49-F238E27FC236}">
                <a16:creationId xmlns:a16="http://schemas.microsoft.com/office/drawing/2014/main" id="{690F523F-B14A-3ED4-6C0D-3907C341E7C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133600" y="1639888"/>
          <a:ext cx="7742238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17560" imgH="431640" progId="Equation.3">
                  <p:embed/>
                </p:oleObj>
              </mc:Choice>
              <mc:Fallback>
                <p:oleObj name="Equation" r:id="rId3" imgW="3517560" imgH="431640" progId="Equation.3">
                  <p:embed/>
                  <p:pic>
                    <p:nvPicPr>
                      <p:cNvPr id="29698" name="Object 64">
                        <a:extLst>
                          <a:ext uri="{FF2B5EF4-FFF2-40B4-BE49-F238E27FC236}">
                            <a16:creationId xmlns:a16="http://schemas.microsoft.com/office/drawing/2014/main" id="{690F523F-B14A-3ED4-6C0D-3907C341E7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639888"/>
                        <a:ext cx="7742238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7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7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7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7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7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79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7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7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7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7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7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9654" grpId="0" animBg="1"/>
      <p:bldP spid="1179655" grpId="0" animBg="1"/>
      <p:bldP spid="1179666" grpId="0" animBg="1"/>
      <p:bldP spid="1179667" grpId="0" animBg="1"/>
      <p:bldP spid="1179672" grpId="0" animBg="1"/>
      <p:bldP spid="1179673" grpId="0" animBg="1"/>
      <p:bldP spid="1179676" grpId="0" animBg="1"/>
      <p:bldP spid="1179677" grpId="0" animBg="1"/>
      <p:bldP spid="1179678" grpId="0" animBg="1"/>
      <p:bldP spid="1179685" grpId="0" animBg="1"/>
      <p:bldP spid="1179686" grpId="0" animBg="1"/>
      <p:bldP spid="117968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6A52FA72-5D77-AC95-70BC-0AA1AB31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B600C5-CA76-44AE-BBF1-99A25B01C60C}" type="slidenum">
              <a:rPr lang="ar-SA" altLang="en-US"/>
              <a:pPr eaLnBrk="1" hangingPunct="1"/>
              <a:t>24</a:t>
            </a:fld>
            <a:endParaRPr lang="en-US" altLang="en-US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FC27CE84-CA5D-B849-0030-6FC9828AF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Convergence and Stability of the Solution</a:t>
            </a:r>
            <a:r>
              <a:rPr lang="en-US" altLang="en-US" sz="4000"/>
              <a:t> 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93B68DF5-9B3E-C9E0-59B4-CCB614838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82000" cy="4343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00FF"/>
                </a:solidFill>
              </a:rPr>
              <a:t>Convergence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The solutions converge means that the solution obtained using the finite difference method </a:t>
            </a:r>
            <a:r>
              <a:rPr lang="en-US" altLang="en-US"/>
              <a:t>approaches the true solution</a:t>
            </a:r>
            <a:r>
              <a:rPr lang="en-US" altLang="en-US">
                <a:solidFill>
                  <a:srgbClr val="FF0000"/>
                </a:solidFill>
              </a:rPr>
              <a:t> as the steps                 approach zero</a:t>
            </a:r>
            <a:r>
              <a:rPr lang="en-US" altLang="en-US"/>
              <a:t>. 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00FF"/>
                </a:solidFill>
              </a:rPr>
              <a:t>Stability: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</a:t>
            </a:r>
            <a:r>
              <a:rPr lang="en-US" altLang="en-US">
                <a:solidFill>
                  <a:srgbClr val="FF0000"/>
                </a:solidFill>
              </a:rPr>
              <a:t>An algorithm is stable if the errors at each stage of the computation are </a:t>
            </a:r>
            <a:r>
              <a:rPr lang="en-US" altLang="en-US"/>
              <a:t>not magnified</a:t>
            </a:r>
            <a:r>
              <a:rPr lang="en-US" altLang="en-US">
                <a:solidFill>
                  <a:srgbClr val="FF0000"/>
                </a:solidFill>
              </a:rPr>
              <a:t> as the computation progresses.</a:t>
            </a:r>
          </a:p>
        </p:txBody>
      </p:sp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F4903EB6-3FB2-9170-A5C1-D9D879B31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4375" y="2716644"/>
          <a:ext cx="18764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203040" progId="Equation.3">
                  <p:embed/>
                </p:oleObj>
              </mc:Choice>
              <mc:Fallback>
                <p:oleObj name="Equation" r:id="rId3" imgW="774360" imgH="203040" progId="Equation.3">
                  <p:embed/>
                  <p:pic>
                    <p:nvPicPr>
                      <p:cNvPr id="20482" name="Object 2">
                        <a:extLst>
                          <a:ext uri="{FF2B5EF4-FFF2-40B4-BE49-F238E27FC236}">
                            <a16:creationId xmlns:a16="http://schemas.microsoft.com/office/drawing/2014/main" id="{F4903EB6-3FB2-9170-A5C1-D9D879B31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75" y="2716644"/>
                        <a:ext cx="18764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0479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</TotalTime>
  <Words>1084</Words>
  <Application>Microsoft Office PowerPoint</Application>
  <PresentationFormat>Widescreen</PresentationFormat>
  <Paragraphs>242</Paragraphs>
  <Slides>24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Cambria Math</vt:lpstr>
      <vt:lpstr>Times New Roman</vt:lpstr>
      <vt:lpstr>Wingdings</vt:lpstr>
      <vt:lpstr>Office Theme</vt:lpstr>
      <vt:lpstr>Equation</vt:lpstr>
      <vt:lpstr>PARTIAL DIFFERENTIAL EQUATIONS</vt:lpstr>
      <vt:lpstr>Numerical methods</vt:lpstr>
      <vt:lpstr>Finite differences</vt:lpstr>
      <vt:lpstr>Accuracy of finite differences</vt:lpstr>
      <vt:lpstr>Accuracy of finite differences</vt:lpstr>
      <vt:lpstr>How to find higher order formulars?</vt:lpstr>
      <vt:lpstr>How to find higher order formulars?</vt:lpstr>
      <vt:lpstr>Higher order methods</vt:lpstr>
      <vt:lpstr>Accuracy of finite differences</vt:lpstr>
      <vt:lpstr>Higher derivatives</vt:lpstr>
      <vt:lpstr>Parabolic Problems</vt:lpstr>
      <vt:lpstr>Finite Difference Methods</vt:lpstr>
      <vt:lpstr>Finite Difference Methods</vt:lpstr>
      <vt:lpstr>Explicit Method</vt:lpstr>
      <vt:lpstr>Convergence and Stability</vt:lpstr>
      <vt:lpstr>Explicit Method How Do We Compute?</vt:lpstr>
      <vt:lpstr>Example 1: Heat Equation</vt:lpstr>
      <vt:lpstr>Example 1</vt:lpstr>
      <vt:lpstr>Example 1</vt:lpstr>
      <vt:lpstr>Remarks on Example 1</vt:lpstr>
      <vt:lpstr>Example 1 – cont’d</vt:lpstr>
      <vt:lpstr>Example 1 – cont’d</vt:lpstr>
      <vt:lpstr>Example 1 – cont’d</vt:lpstr>
      <vt:lpstr>Convergence and Stability of the Solution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9</cp:revision>
  <dcterms:created xsi:type="dcterms:W3CDTF">2025-09-29T01:29:39Z</dcterms:created>
  <dcterms:modified xsi:type="dcterms:W3CDTF">2025-10-13T04:51:51Z</dcterms:modified>
</cp:coreProperties>
</file>