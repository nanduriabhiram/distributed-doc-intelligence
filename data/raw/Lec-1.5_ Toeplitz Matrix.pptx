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EB99"/>
    <a:srgbClr val="6BD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83" d="100"/>
          <a:sy n="83" d="100"/>
        </p:scale>
        <p:origin x="84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ED10A-0ECC-426B-841E-2F639E8FC171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B9433-6102-40BA-98BE-5DBAD984AD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0385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ECBF6-E6EF-AD2E-EF70-0CA6A1D4FA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D4D64-5F2B-E8DE-3726-DEE2BB0FAB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60861-872E-963E-D442-06FFC888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696FB-75B3-476C-5D74-5E239250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278DF-853A-C448-49B5-5BC78652A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40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2731-7BF0-DBE5-C018-82A1FD2D7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076AF-0539-4397-117C-5D33BE433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032DC-0EEC-2531-683D-82C4C096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71823-65BA-EECA-276D-74373EFB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083BB-4A6D-E123-9C18-61D5CF52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8715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CDC30-46B6-2FBA-7077-98FFADBB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711BB-3276-D6C2-E6C5-0DF06C47F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9B395-C11A-7C27-6930-6D479317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CC348-4C59-EF99-6A6D-E18E8F91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7433-6639-E5C4-C9D2-E778EDC78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88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9F3BF-0A29-5F66-CBE3-4712AC7F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D8AF2-104B-3E49-94D0-C2B95C7C5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EC7AF-5E6D-307F-6ECE-9F6D883533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3D3A-9039-511D-1F0B-2A18DD027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6C84F-4D34-6B63-B0CE-E1760889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20590-D938-3A68-2133-E5CD9F0F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824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7028A-DB44-1F76-7D0A-1E6F32B7F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F31AC-19B8-39D4-97FC-A94304453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DC0D4-C450-F955-00F6-CF94E8CC6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3DC70B-F00E-127C-E486-03A114A7A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E361E-ED01-058C-6B16-EDCB6CBEC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3C7825-B3BA-A30F-ED4A-44559BFF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74D752-C712-25CF-F994-A10682AD3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F1E517-0AD8-BA3C-44A0-B8849460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27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8C05-36FA-339A-C1E8-D06B88B9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A40540-411F-EFB4-DF40-E82976D8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9E30E-78A7-3DCF-0D6A-DAD60D72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B5C6F-652D-3985-2196-F0FC8D3C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44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11B61-BCFE-FC82-3415-24ABE62AF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5EFD32-530B-ED5B-1BAC-EAEDB6F6A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D8037-3F6E-69E9-6D90-829EAC301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43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BC00E-8976-90E7-B892-2918419B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60D7-EA26-5081-ACD9-C8FED735D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ADDFC-14CD-5CC6-9DD4-28C88AEC7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20857-9915-43CF-3DFC-A1FAC9993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3868F-7F97-054F-5AA2-C2D0FFEC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A18B6-7314-6A23-0050-F569CE50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37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D563-0440-BB83-B754-D49BB73D8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1D5054-12B1-B2EA-95E8-4309C2A9F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1AEF4-7B81-5FF8-49D1-9560988F1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E401C8-E4A4-F9C9-2E69-03053D46D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80C3D5-1EB6-7840-A72B-8795D34C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E6BB5-5AC6-A4DA-5885-30E7FCD17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45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13E85-CF37-85A4-08F2-756EFC1B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ED819-1B20-9E65-7A3E-ED06F03D6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3B639-FFCA-99D8-1815-013AEC4B3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70A7A-01EB-477B-1032-E798EFD86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32144-C404-067F-53AB-DB20865B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87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B9E1A9-BE72-FEF0-61DC-7FE4D7724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3A58A4-1A04-BD8A-E539-50C0949DE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9625-5717-51A3-D855-6C67CCB3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E7DC3-CDD7-1498-C8A5-CC9508C91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78D71-19CF-493F-3E47-0DA9B1206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919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28C49B46-D171-47A2-9396-A48FBE5894C5}" type="datetime1">
              <a:rPr lang="ar-SA" altLang="en-US"/>
              <a:pPr/>
              <a:t>02/09/1447</a:t>
            </a:fld>
            <a:endParaRPr lang="en-US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ar-SA" altLang="en-US"/>
              <a:t>احصاء واحتمالات 2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5C1CE73-58FF-4121-929B-825A2B2EB4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842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C1BBE8-D40E-285F-D607-BAF7C6A84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55AB9-16DC-77A8-A534-BFA2BCA1D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B2AB8-111A-AA00-9AFE-4BA3775309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F2CDF-9D02-4F34-8012-29ED1C0F8D25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AC98A-8D12-42F1-8C1D-2EA2E25B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EF702-7E9D-FD8B-1291-546B98AF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BBC8C-3F4D-4965-A7E8-A6FC533C14B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0D780B-31A0-502D-6976-4B6E50F1CAE4}"/>
              </a:ext>
            </a:extLst>
          </p:cNvPr>
          <p:cNvSpPr txBox="1"/>
          <p:nvPr userDrawn="1"/>
        </p:nvSpPr>
        <p:spPr>
          <a:xfrm rot="20606426">
            <a:off x="4437681" y="4359840"/>
            <a:ext cx="83458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Dr. Anirban Tarafdar </a:t>
            </a:r>
          </a:p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Assistant Professor, School of AI</a:t>
            </a:r>
          </a:p>
          <a:p>
            <a:pPr algn="ctr"/>
            <a:r>
              <a:rPr lang="en-IN" sz="28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Amrita Vishwa Vidyapeetham, Faridabad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A59377-54E3-4281-5681-51B0020B5CA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62346">
            <a:off x="6461210" y="3310689"/>
            <a:ext cx="3263603" cy="1060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65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014D95-E851-4363-8D1B-AA2E7E96D809}"/>
              </a:ext>
            </a:extLst>
          </p:cNvPr>
          <p:cNvSpPr txBox="1"/>
          <p:nvPr/>
        </p:nvSpPr>
        <p:spPr>
          <a:xfrm>
            <a:off x="2276767" y="1017288"/>
            <a:ext cx="73983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23MAT214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en-I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Intelligent System-4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97E64-9AD3-29A2-3157-B024989B113A}"/>
              </a:ext>
            </a:extLst>
          </p:cNvPr>
          <p:cNvSpPr txBox="1"/>
          <p:nvPr/>
        </p:nvSpPr>
        <p:spPr>
          <a:xfrm>
            <a:off x="1801095" y="2208562"/>
            <a:ext cx="8349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Part- 1.</a:t>
            </a:r>
            <a:r>
              <a:rPr lang="en-IN" sz="3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kumimoji="0" lang="en-I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E7920-56C5-3DF1-F81B-ED6B8B3D136A}"/>
              </a:ext>
            </a:extLst>
          </p:cNvPr>
          <p:cNvSpPr txBox="1"/>
          <p:nvPr/>
        </p:nvSpPr>
        <p:spPr>
          <a:xfrm>
            <a:off x="1445488" y="3030504"/>
            <a:ext cx="928254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Toeplitz Matrices and Shift Invariant Filters</a:t>
            </a:r>
            <a:endParaRPr kumimoji="0" lang="en-IN" sz="4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8D0099-BBFA-FEE6-12F6-BF2D850DF5E8}"/>
              </a:ext>
            </a:extLst>
          </p:cNvPr>
          <p:cNvSpPr txBox="1"/>
          <p:nvPr/>
        </p:nvSpPr>
        <p:spPr>
          <a:xfrm>
            <a:off x="101601" y="6276112"/>
            <a:ext cx="8035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*All Sources: Stanford University, Texas Tech University, UC Santa Barbara, etc.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39519-9EE8-4135-39E1-AA80503DB1E0}"/>
              </a:ext>
            </a:extLst>
          </p:cNvPr>
          <p:cNvSpPr txBox="1"/>
          <p:nvPr/>
        </p:nvSpPr>
        <p:spPr>
          <a:xfrm>
            <a:off x="108531" y="6513279"/>
            <a:ext cx="100422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*Sharing or distributing this lecture material without the permission of the lecture coordinator is strictly prohibited.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68E76A-F431-2472-4729-C7B50F2D84D3}"/>
              </a:ext>
            </a:extLst>
          </p:cNvPr>
          <p:cNvSpPr txBox="1"/>
          <p:nvPr/>
        </p:nvSpPr>
        <p:spPr>
          <a:xfrm>
            <a:off x="2773221" y="274111"/>
            <a:ext cx="6405418" cy="687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Amrita School of Artificial Intelligence, Faridabad</a:t>
            </a:r>
            <a:endParaRPr lang="en-IN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Amrita Vishwa Vidyapeetham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5A89A-053C-1625-ADB9-89B923F72954}"/>
              </a:ext>
            </a:extLst>
          </p:cNvPr>
          <p:cNvSpPr/>
          <p:nvPr/>
        </p:nvSpPr>
        <p:spPr>
          <a:xfrm>
            <a:off x="3935896" y="4174435"/>
            <a:ext cx="3697356" cy="5718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BTech 4</a:t>
            </a:r>
            <a:r>
              <a:rPr lang="en-IN" sz="2400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Sem</a:t>
            </a:r>
          </a:p>
        </p:txBody>
      </p:sp>
    </p:spTree>
    <p:extLst>
      <p:ext uri="{BB962C8B-B14F-4D97-AF65-F5344CB8AC3E}">
        <p14:creationId xmlns:p14="http://schemas.microsoft.com/office/powerpoint/2010/main" val="3145661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C9BB36-FD04-4994-A292-11C5887A36EC}"/>
                  </a:ext>
                </a:extLst>
              </p:cNvPr>
              <p:cNvSpPr txBox="1"/>
              <p:nvPr/>
            </p:nvSpPr>
            <p:spPr>
              <a:xfrm>
                <a:off x="625764" y="3896893"/>
                <a:ext cx="4371109" cy="255454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IN" sz="2000" b="1" dirty="0"/>
                  <a:t>Real-Life Scenario: Echo in Audio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Suppose echo response: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25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Meaning: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• Direct sound</a:t>
                </a:r>
                <a:br>
                  <a:rPr lang="en-IN" sz="2000" dirty="0"/>
                </a:br>
                <a:r>
                  <a:rPr lang="en-IN" sz="2000" dirty="0"/>
                  <a:t>• Half amplitude echo</a:t>
                </a:r>
                <a:br>
                  <a:rPr lang="en-IN" sz="2000" dirty="0"/>
                </a:br>
                <a:r>
                  <a:rPr lang="en-IN" sz="2000" dirty="0"/>
                  <a:t>• Quarter amplitude echo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C9BB36-FD04-4994-A292-11C5887A3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64" y="3896893"/>
                <a:ext cx="4371109" cy="2554545"/>
              </a:xfrm>
              <a:prstGeom prst="rect">
                <a:avLst/>
              </a:prstGeom>
              <a:blipFill>
                <a:blip r:embed="rId2"/>
                <a:stretch>
                  <a:fillRect l="-1534" t="-1193" b="-33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BA80A4-7DE8-0A9C-5271-1C2184D9163D}"/>
                  </a:ext>
                </a:extLst>
              </p:cNvPr>
              <p:cNvSpPr txBox="1"/>
              <p:nvPr/>
            </p:nvSpPr>
            <p:spPr>
              <a:xfrm>
                <a:off x="5400964" y="21285"/>
                <a:ext cx="6405418" cy="676621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Numerical Convolution Example</a:t>
                </a:r>
              </a:p>
              <a:p>
                <a:pPr>
                  <a:buNone/>
                </a:pPr>
                <a:r>
                  <a:rPr lang="en-IN" sz="2000" dirty="0"/>
                  <a:t>Input: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Construct Toeplitz matrix: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Compute: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000" i="1">
                          <a:latin typeface="Cambria Math" panose="02040503050406030204" pitchFamily="18" charset="0"/>
                        </a:rPr>
                        <m:t>𝑇𝑥</m:t>
                      </m:r>
                    </m:oMath>
                  </m:oMathPara>
                </a14:m>
                <a:endParaRPr lang="en-IN" sz="2000" dirty="0"/>
              </a:p>
              <a:p>
                <a:pPr>
                  <a:buNone/>
                </a:pPr>
                <a:r>
                  <a:rPr lang="en-IN" sz="2000" dirty="0"/>
                  <a:t>Step by step:</a:t>
                </a:r>
              </a:p>
              <a:p>
                <a:pPr>
                  <a:buNone/>
                </a:pPr>
                <a:r>
                  <a:rPr lang="en-IN" sz="2000" dirty="0"/>
                  <a:t>Row 1: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Row 2: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1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Row 3: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25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5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Row 4: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25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ar-AE" sz="2000" i="0"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So: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1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IN" sz="2400" b="1" i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sz="24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e>
                          <m:r>
                            <a:rPr lang="ar-AE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e>
                          <m:r>
                            <a:rPr lang="ar-AE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e>
                          <m:r>
                            <a:rPr lang="ar-AE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ar-AE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400" b="1" i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e>
                      </m:d>
                    </m:oMath>
                  </m:oMathPara>
                </a14:m>
                <a:endParaRPr lang="ar-AE" sz="2400" b="1" dirty="0">
                  <a:solidFill>
                    <a:srgbClr val="002060"/>
                  </a:solidFill>
                </a:endParaRPr>
              </a:p>
              <a:p>
                <a:pPr>
                  <a:buNone/>
                </a:pPr>
                <a:r>
                  <a:rPr lang="en-IN" sz="2000" dirty="0"/>
                  <a:t>This is exactly linear convolution.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5BA80A4-7DE8-0A9C-5271-1C2184D91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964" y="21285"/>
                <a:ext cx="6405418" cy="6766211"/>
              </a:xfrm>
              <a:prstGeom prst="rect">
                <a:avLst/>
              </a:prstGeom>
              <a:blipFill>
                <a:blip r:embed="rId3"/>
                <a:stretch>
                  <a:fillRect l="-1047" t="-450" b="-15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6CFA1C-6BC3-D72E-C5CD-6B98505E17B6}"/>
                  </a:ext>
                </a:extLst>
              </p:cNvPr>
              <p:cNvSpPr txBox="1"/>
              <p:nvPr/>
            </p:nvSpPr>
            <p:spPr>
              <a:xfrm>
                <a:off x="385618" y="316849"/>
                <a:ext cx="4851400" cy="3395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IN" sz="2400" b="1" dirty="0">
                    <a:solidFill>
                      <a:srgbClr val="C00000"/>
                    </a:solidFill>
                  </a:rPr>
                  <a:t>Definition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Toeplitz matrix has constant diagonals.</a:t>
                </a: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Example (N=4):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ar-AE" sz="2000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0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ar-AE" sz="2000" i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spcAft>
                    <a:spcPts val="600"/>
                  </a:spcAft>
                  <a:buNone/>
                </a:pPr>
                <a:r>
                  <a:rPr lang="en-IN" sz="2000" dirty="0"/>
                  <a:t>General rule:</a:t>
                </a:r>
              </a:p>
              <a:p>
                <a:pPr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ar-AE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6CFA1C-6BC3-D72E-C5CD-6B98505E1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18" y="316849"/>
                <a:ext cx="4851400" cy="3395288"/>
              </a:xfrm>
              <a:prstGeom prst="rect">
                <a:avLst/>
              </a:prstGeom>
              <a:blipFill>
                <a:blip r:embed="rId4"/>
                <a:stretch>
                  <a:fillRect l="-1884" t="-14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603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5E8293-A7EC-073B-1FF5-0022E12F0198}"/>
                  </a:ext>
                </a:extLst>
              </p:cNvPr>
              <p:cNvSpPr txBox="1"/>
              <p:nvPr/>
            </p:nvSpPr>
            <p:spPr>
              <a:xfrm>
                <a:off x="801254" y="1243946"/>
                <a:ext cx="6405418" cy="39170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IN" sz="2000" dirty="0"/>
              </a:p>
              <a:p>
                <a:pPr>
                  <a:buNone/>
                </a:pPr>
                <a:r>
                  <a:rPr lang="en-IN" sz="2000" b="1" dirty="0"/>
                  <a:t>Definition</a:t>
                </a:r>
              </a:p>
              <a:p>
                <a:pPr>
                  <a:buNone/>
                </a:pPr>
                <a:r>
                  <a:rPr lang="en-IN" sz="2000" dirty="0"/>
                  <a:t>System H is shift-invariant if: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𝑆𝑥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𝐻𝑥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Meaning:</a:t>
                </a:r>
              </a:p>
              <a:p>
                <a:pPr>
                  <a:buNone/>
                </a:pPr>
                <a:r>
                  <a:rPr lang="en-IN" sz="2000" dirty="0"/>
                  <a:t>Shifting input shifts output.</a:t>
                </a:r>
              </a:p>
              <a:p>
                <a:pPr>
                  <a:buNone/>
                </a:pPr>
                <a:br>
                  <a:rPr lang="en-IN" sz="2000" dirty="0"/>
                </a:br>
                <a:r>
                  <a:rPr lang="en-IN" sz="2000" b="1" dirty="0"/>
                  <a:t>Fundamental Theorem</a:t>
                </a:r>
              </a:p>
              <a:p>
                <a:pPr>
                  <a:buNone/>
                </a:pPr>
                <a:r>
                  <a:rPr lang="en-IN" sz="2000" dirty="0"/>
                  <a:t>Every linear shift-invariant system is convolution.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sz="20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pPr>
                  <a:buNone/>
                </a:pPr>
                <a:r>
                  <a:rPr lang="en-IN" sz="2000" dirty="0"/>
                  <a:t>This is why Toeplitz appears naturally.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C5E8293-A7EC-073B-1FF5-0022E12F0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54" y="1243946"/>
                <a:ext cx="6405418" cy="3917034"/>
              </a:xfrm>
              <a:prstGeom prst="rect">
                <a:avLst/>
              </a:prstGeom>
              <a:blipFill>
                <a:blip r:embed="rId2"/>
                <a:stretch>
                  <a:fillRect l="-951" b="-17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95EFD4D-154A-11C6-5D69-2DD52AB0A5A1}"/>
              </a:ext>
            </a:extLst>
          </p:cNvPr>
          <p:cNvSpPr txBox="1"/>
          <p:nvPr/>
        </p:nvSpPr>
        <p:spPr>
          <a:xfrm>
            <a:off x="921327" y="600425"/>
            <a:ext cx="64054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C00000"/>
                </a:solidFill>
              </a:rPr>
              <a:t>SHIFT-INVARIANT FILTERS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C7117B-B55E-C3E8-1D41-4175F942C642}"/>
                  </a:ext>
                </a:extLst>
              </p:cNvPr>
              <p:cNvSpPr txBox="1"/>
              <p:nvPr/>
            </p:nvSpPr>
            <p:spPr>
              <a:xfrm>
                <a:off x="6096000" y="1281521"/>
                <a:ext cx="5361709" cy="830997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/>
                  <a:t>Linearity: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𝑎𝐻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𝑏𝐻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C7117B-B55E-C3E8-1D41-4175F942C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81521"/>
                <a:ext cx="5361709" cy="830997"/>
              </a:xfrm>
              <a:prstGeom prst="rect">
                <a:avLst/>
              </a:prstGeom>
              <a:blipFill>
                <a:blip r:embed="rId3"/>
                <a:stretch>
                  <a:fillRect l="-1705" t="-5839" b="-14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429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52D3E9-0A30-EC02-B44C-021EC94C43DA}"/>
                  </a:ext>
                </a:extLst>
              </p:cNvPr>
              <p:cNvSpPr txBox="1"/>
              <p:nvPr/>
            </p:nvSpPr>
            <p:spPr>
              <a:xfrm>
                <a:off x="293255" y="164171"/>
                <a:ext cx="4916054" cy="2603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000" b="1" dirty="0"/>
                  <a:t>Decompose Any Signal Using Basis Vectors</a:t>
                </a:r>
              </a:p>
              <a:p>
                <a:pPr>
                  <a:buNone/>
                </a:pPr>
                <a:r>
                  <a:rPr lang="en-IN" sz="2000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sz="2000" dirty="0"/>
                  <a:t>be standard basis: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,"/>
                          <m:sepChr m:val=",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m:rPr>
                              <m:nor/>
                            </m:rPr>
                            <a:rPr lang="ar-AE" sz="2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 b="0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,"/>
                          <m:sepChr m:val=",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e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m:rPr>
                              <m:nor/>
                            </m:rPr>
                            <a:rPr lang="ar-AE" sz="2000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sSup>
                            <m:sSupPr>
                              <m:ctrlPr>
                                <a:rPr lang="ar-AE" sz="20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2000" b="0" i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 sz="20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sz="2000" b="0" dirty="0"/>
              </a:p>
              <a:p>
                <a:pPr>
                  <a:buNone/>
                </a:pPr>
                <a:r>
                  <a:rPr lang="en-IN" sz="2000" dirty="0"/>
                  <a:t>Any signal: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0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sSub>
                        <m:sSubPr>
                          <m:ctrlPr>
                            <a:rPr lang="ar-AE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852D3E9-0A30-EC02-B44C-021EC94C4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55" y="164171"/>
                <a:ext cx="4916054" cy="2603661"/>
              </a:xfrm>
              <a:prstGeom prst="rect">
                <a:avLst/>
              </a:prstGeom>
              <a:blipFill>
                <a:blip r:embed="rId2"/>
                <a:stretch>
                  <a:fillRect l="-1239" t="-14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2E160D-1DF7-7461-208F-31D4DAEB09E2}"/>
                  </a:ext>
                </a:extLst>
              </p:cNvPr>
              <p:cNvSpPr txBox="1"/>
              <p:nvPr/>
            </p:nvSpPr>
            <p:spPr>
              <a:xfrm>
                <a:off x="5809673" y="44103"/>
                <a:ext cx="5571842" cy="194380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We are working in the vector space: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ar-AE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b="0" i="1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IN" b="0" i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ar-AE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</m:oMath>
                  </m:oMathPara>
                </a14:m>
                <a:endParaRPr lang="ar-AE" b="0" dirty="0"/>
              </a:p>
              <a:p>
                <a:pPr>
                  <a:buNone/>
                </a:pPr>
                <a:r>
                  <a:rPr lang="en-IN" dirty="0"/>
                  <a:t>The </a:t>
                </a:r>
                <a:r>
                  <a:rPr lang="en-IN" b="1" dirty="0"/>
                  <a:t>standard basis vectors</a:t>
                </a:r>
                <a:r>
                  <a:rPr lang="en-IN" dirty="0"/>
                  <a:t> are: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</m:m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</m:m>
                        </m:e>
                      </m:d>
                      <m:r>
                        <a:rPr lang="ar-AE" i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  <m:phant>
                                  <m:phantPr>
                                    <m:zeroAsc m:val="on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phantPr>
                                  <m:e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phant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2E160D-1DF7-7461-208F-31D4DAEB0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673" y="44103"/>
                <a:ext cx="5571842" cy="1943802"/>
              </a:xfrm>
              <a:prstGeom prst="rect">
                <a:avLst/>
              </a:prstGeom>
              <a:blipFill>
                <a:blip r:embed="rId3"/>
                <a:stretch>
                  <a:fillRect l="-875" t="-15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AFC5A8-0276-D09B-EDE6-87AD6D9DBE46}"/>
                  </a:ext>
                </a:extLst>
              </p:cNvPr>
              <p:cNvSpPr txBox="1"/>
              <p:nvPr/>
            </p:nvSpPr>
            <p:spPr>
              <a:xfrm>
                <a:off x="5818912" y="1985377"/>
                <a:ext cx="5553364" cy="476386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Suppose:  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ar-AE" i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Now look carefully: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7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Add them: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0">
                          <a:latin typeface="Cambria Math" panose="02040503050406030204" pitchFamily="18" charset="0"/>
                        </a:rPr>
                        <m:t>7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ar-AE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IN" dirty="0"/>
                  <a:t>Exactly equals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IN" dirty="0"/>
                  <a:t>. So in general: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AFC5A8-0276-D09B-EDE6-87AD6D9DB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912" y="1985377"/>
                <a:ext cx="5553364" cy="4763868"/>
              </a:xfrm>
              <a:prstGeom prst="rect">
                <a:avLst/>
              </a:prstGeom>
              <a:blipFill>
                <a:blip r:embed="rId4"/>
                <a:stretch>
                  <a:fillRect l="-9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61D877-8C12-30C6-243D-938A4500DC1E}"/>
                  </a:ext>
                </a:extLst>
              </p:cNvPr>
              <p:cNvSpPr txBox="1"/>
              <p:nvPr/>
            </p:nvSpPr>
            <p:spPr>
              <a:xfrm>
                <a:off x="293255" y="3073466"/>
                <a:ext cx="5193145" cy="327128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n-IN" sz="2000" dirty="0"/>
                  <a:t>We assume: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𝑎𝑥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𝑏𝑦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𝑎𝐻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𝑏𝐻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Apply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IN" sz="20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grow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  <m:d>
                            <m:dPr>
                              <m:begChr m:val="["/>
                              <m:endChr m:val="]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Using linearity: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d>
                        <m:dPr>
                          <m:begChr m:val="["/>
                          <m:endChr m:val="]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ar-AE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000" dirty="0"/>
              </a:p>
              <a:p>
                <a:r>
                  <a:rPr lang="en-IN" sz="2000" dirty="0"/>
                  <a:t>This step is simply using linearity</a:t>
                </a:r>
                <a:r>
                  <a:rPr lang="ar-AE" sz="2000" dirty="0"/>
                  <a:t>.</a:t>
                </a:r>
                <a:endParaRPr lang="en-IN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61D877-8C12-30C6-243D-938A4500D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55" y="3073466"/>
                <a:ext cx="5193145" cy="3271280"/>
              </a:xfrm>
              <a:prstGeom prst="rect">
                <a:avLst/>
              </a:prstGeom>
              <a:blipFill>
                <a:blip r:embed="rId5"/>
                <a:stretch>
                  <a:fillRect l="-1174" t="-931" b="-2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F8C8104-E8B2-94E4-2A69-FDA61295D063}"/>
              </a:ext>
            </a:extLst>
          </p:cNvPr>
          <p:cNvCxnSpPr>
            <a:cxnSpLocks/>
          </p:cNvCxnSpPr>
          <p:nvPr/>
        </p:nvCxnSpPr>
        <p:spPr>
          <a:xfrm flipV="1">
            <a:off x="3906982" y="1985377"/>
            <a:ext cx="1911930" cy="379132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108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383</Words>
  <Application>Microsoft Office PowerPoint</Application>
  <PresentationFormat>Widescreen</PresentationFormat>
  <Paragraphs>76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Times New Roman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Anirban Tarfdar</dc:creator>
  <cp:lastModifiedBy>Anirban Tarfdar</cp:lastModifiedBy>
  <cp:revision>52</cp:revision>
  <dcterms:created xsi:type="dcterms:W3CDTF">2026-01-19T02:38:56Z</dcterms:created>
  <dcterms:modified xsi:type="dcterms:W3CDTF">2026-02-18T05:41:09Z</dcterms:modified>
</cp:coreProperties>
</file>