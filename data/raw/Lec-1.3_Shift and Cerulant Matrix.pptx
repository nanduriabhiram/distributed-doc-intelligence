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napToGrid="0">
      <p:cViewPr varScale="1">
        <p:scale>
          <a:sx n="83" d="100"/>
          <a:sy n="83" d="100"/>
        </p:scale>
        <p:origin x="84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1ED10A-0ECC-426B-841E-2F639E8FC171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B9433-6102-40BA-98BE-5DBAD984AD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038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CBF6-E6EF-AD2E-EF70-0CA6A1D4F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D4D64-5F2B-E8DE-3726-DEE2BB0FA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60861-872E-963E-D442-06FFC888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696FB-75B3-476C-5D74-5E239250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278DF-853A-C448-49B5-5BC78652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40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2731-7BF0-DBE5-C018-82A1FD2D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076AF-0539-4397-117C-5D33BE433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032DC-0EEC-2531-683D-82C4C096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71823-65BA-EECA-276D-74373EFB1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083BB-4A6D-E123-9C18-61D5CF52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715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CDC30-46B6-2FBA-7077-98FFADBB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711BB-3276-D6C2-E6C5-0DF06C47F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9B395-C11A-7C27-6930-6D479317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CC348-4C59-EF99-6A6D-E18E8F91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C7433-6639-E5C4-C9D2-E778EDC7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8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F3BF-0A29-5F66-CBE3-4712AC7F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D8AF2-104B-3E49-94D0-C2B95C7C5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EC7AF-5E6D-307F-6ECE-9F6D88353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73D3A-9039-511D-1F0B-2A18DD02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6C84F-4D34-6B63-B0CE-E1760889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20590-D938-3A68-2133-E5CD9F0F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824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028A-DB44-1F76-7D0A-1E6F32B7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F31AC-19B8-39D4-97FC-A94304453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DC0D4-C450-F955-00F6-CF94E8CC6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3DC70B-F00E-127C-E486-03A114A7A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E361E-ED01-058C-6B16-EDCB6CBEC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3C7825-B3BA-A30F-ED4A-44559BFF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74D752-C712-25CF-F994-A10682AD3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1E517-0AD8-BA3C-44A0-B8849460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27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8C05-36FA-339A-C1E8-D06B88B9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40540-411F-EFB4-DF40-E82976D8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9E30E-78A7-3DCF-0D6A-DAD60D72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B5C6F-652D-3985-2196-F0FC8D3C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44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F11B61-BCFE-FC82-3415-24ABE62A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5EFD32-530B-ED5B-1BAC-EAEDB6F6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D8037-3F6E-69E9-6D90-829EAC30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438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BC00E-8976-90E7-B892-2918419B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760D7-EA26-5081-ACD9-C8FED735D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ADDFC-14CD-5CC6-9DD4-28C88AEC7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20857-9915-43CF-3DFC-A1FAC999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3868F-7F97-054F-5AA2-C2D0FFEC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A18B6-7314-6A23-0050-F569CE50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37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D563-0440-BB83-B754-D49BB73D8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1D5054-12B1-B2EA-95E8-4309C2A9F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1AEF4-7B81-5FF8-49D1-9560988F1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401C8-E4A4-F9C9-2E69-03053D46D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0C3D5-1EB6-7840-A72B-8795D34C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E6BB5-5AC6-A4DA-5885-30E7FCD17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45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13E85-CF37-85A4-08F2-756EFC1B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ED819-1B20-9E65-7A3E-ED06F03D6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3B639-FFCA-99D8-1815-013AEC4B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70A7A-01EB-477B-1032-E798EFD8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32144-C404-067F-53AB-DB20865B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872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9E1A9-BE72-FEF0-61DC-7FE4D7724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A58A4-1A04-BD8A-E539-50C0949DE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29625-5717-51A3-D855-6C67CCB3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E7DC3-CDD7-1498-C8A5-CC9508C9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78D71-19CF-493F-3E47-0DA9B1206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919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8C49B46-D171-47A2-9396-A48FBE5894C5}" type="datetime1">
              <a:rPr lang="ar-SA" altLang="en-US"/>
              <a:pPr/>
              <a:t>29/08/1447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ar-SA" altLang="en-US"/>
              <a:t>احصاء واحتمالات 2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5C1CE73-58FF-4121-929B-825A2B2EB4D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842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C1BBE8-D40E-285F-D607-BAF7C6A8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55AB9-16DC-77A8-A534-BFA2BCA1D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B2AB8-111A-AA00-9AFE-4BA377530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F2CDF-9D02-4F34-8012-29ED1C0F8D25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AC98A-8D12-42F1-8C1D-2EA2E25B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EF702-7E9D-FD8B-1291-546B98AFB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D780B-31A0-502D-6976-4B6E50F1CAE4}"/>
              </a:ext>
            </a:extLst>
          </p:cNvPr>
          <p:cNvSpPr txBox="1"/>
          <p:nvPr userDrawn="1"/>
        </p:nvSpPr>
        <p:spPr>
          <a:xfrm rot="20606426">
            <a:off x="4437681" y="4359840"/>
            <a:ext cx="83458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Dr. Anirban Tarafdar </a:t>
            </a:r>
          </a:p>
          <a:p>
            <a:pPr algn="ctr"/>
            <a:r>
              <a:rPr lang="en-IN" sz="28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Assistant Professor, School of AI</a:t>
            </a:r>
          </a:p>
          <a:p>
            <a:pPr algn="ctr"/>
            <a:r>
              <a:rPr lang="en-IN" sz="28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Amrita Vishwa Vidyapeetham, Faridabad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A59377-54E3-4281-5681-51B0020B5CA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62346">
            <a:off x="6461210" y="3310689"/>
            <a:ext cx="3263603" cy="1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6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sca_esv=c6c0271301e3a973&amp;sxsrf=ANbL-n5zBZnwU6p7_o4CNapoefq1zpe3rw%3A1771206660383&amp;q=Digital+Signal+Processing+%28DSP%29&amp;source=lnms&amp;fbs=ADc_l-aHJKCxetkbp8HihrVlWP2E1iNtw1c6Bqm2EL8gFYaWSYxrIPO0Uw9d1XjTJ7RJppLSe-qHSJ3n6gn3T6KgsGdZCG1fryj3FV5sXWxwrr1Ny9Q5v7736tel2l4aj2i17LHZnq6OR53woUQmzjkVoNNGnsgz5d-ka_tZfEAK4OXDKVQlRK-230aBk8rN51ujyPjrpT4rJDUVQ__t3ylSX_dYW_RZQpDwpOIP0A0Q1ouOTREPtHQ&amp;sa=X&amp;ved=2ahUKEwjVyd-A89ySAxWKjGMGHcqrDdkQgK4QegQIAxAB&amp;biw=1536&amp;bih=742&amp;dpr=1.25&amp;mstk=AUtExfCsVkiloHY40GWRyY0eVsa89Tt5HRA1LeDhaD_BD6Bgb3mmr_l3Be3MmLDOEiTKt3WesSkcPt9EgnpCJtJTCzyR75kCDHtXy0OzbdzBlen_dmQsSjmSB_oPQyD43PCNrRR9mBOZzMpJjM5n7ji3-5F_mlvP6_jZPBRKi9EATXUjSUWBksvQhCmjrPlJ1ezudlayQQTcX9CrXvrGGXpbfJ7nqyRKE1ExCA0lGnytJrHqlcjOp8PTP-_PTsiiWOeqUzKXAsAtwTJ0uYWa-le1ylzQVRTW8NXOwdaqyKLNKr2BlA&amp;csui=3" TargetMode="External"/><Relationship Id="rId7" Type="http://schemas.openxmlformats.org/officeDocument/2006/relationships/hyperlink" Target="https://www.google.com/search?sca_esv=c6c0271301e3a973&amp;sxsrf=ANbL-n5zBZnwU6p7_o4CNapoefq1zpe3rw%3A1771206660383&amp;q=Data+Analysis&amp;source=lnms&amp;fbs=ADc_l-aHJKCxetkbp8HihrVlWP2E1iNtw1c6Bqm2EL8gFYaWSYxrIPO0Uw9d1XjTJ7RJppLSe-qHSJ3n6gn3T6KgsGdZCG1fryj3FV5sXWxwrr1Ny9Q5v7736tel2l4aj2i17LHZnq6OR53woUQmzjkVoNNGnsgz5d-ka_tZfEAK4OXDKVQlRK-230aBk8rN51ujyPjrpT4rJDUVQ__t3ylSX_dYW_RZQpDwpOIP0A0Q1ouOTREPtHQ&amp;sa=X&amp;ved=2ahUKEwjVyd-A89ySAxWKjGMGHcqrDdkQgK4QegQIAxAJ&amp;biw=1536&amp;bih=742&amp;dpr=1.25&amp;mstk=AUtExfCsVkiloHY40GWRyY0eVsa89Tt5HRA1LeDhaD_BD6Bgb3mmr_l3Be3MmLDOEiTKt3WesSkcPt9EgnpCJtJTCzyR75kCDHtXy0OzbdzBlen_dmQsSjmSB_oPQyD43PCNrRR9mBOZzMpJjM5n7ji3-5F_mlvP6_jZPBRKi9EATXUjSUWBksvQhCmjrPlJ1ezudlayQQTcX9CrXvrGGXpbfJ7nqyRKE1ExCA0lGnytJrHqlcjOp8PTP-_PTsiiWOeqUzKXAsAtwTJ0uYWa-le1ylzQVRTW8NXOwdaqyKLNKr2BlA&amp;csui=3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ogle.com/search?sca_esv=c6c0271301e3a973&amp;sxsrf=ANbL-n5zBZnwU6p7_o4CNapoefq1zpe3rw%3A1771206660383&amp;q=Linear+Algebra+%26+System+Modeling&amp;source=lnms&amp;fbs=ADc_l-aHJKCxetkbp8HihrVlWP2E1iNtw1c6Bqm2EL8gFYaWSYxrIPO0Uw9d1XjTJ7RJppLSe-qHSJ3n6gn3T6KgsGdZCG1fryj3FV5sXWxwrr1Ny9Q5v7736tel2l4aj2i17LHZnq6OR53woUQmzjkVoNNGnsgz5d-ka_tZfEAK4OXDKVQlRK-230aBk8rN51ujyPjrpT4rJDUVQ__t3ylSX_dYW_RZQpDwpOIP0A0Q1ouOTREPtHQ&amp;sa=X&amp;ved=2ahUKEwjVyd-A89ySAxWKjGMGHcqrDdkQgK4QegQIAxAH&amp;biw=1536&amp;bih=742&amp;dpr=1.25&amp;mstk=AUtExfCsVkiloHY40GWRyY0eVsa89Tt5HRA1LeDhaD_BD6Bgb3mmr_l3Be3MmLDOEiTKt3WesSkcPt9EgnpCJtJTCzyR75kCDHtXy0OzbdzBlen_dmQsSjmSB_oPQyD43PCNrRR9mBOZzMpJjM5n7ji3-5F_mlvP6_jZPBRKi9EATXUjSUWBksvQhCmjrPlJ1ezudlayQQTcX9CrXvrGGXpbfJ7nqyRKE1ExCA0lGnytJrHqlcjOp8PTP-_PTsiiWOeqUzKXAsAtwTJ0uYWa-le1ylzQVRTW8NXOwdaqyKLNKr2BlA&amp;csui=3" TargetMode="External"/><Relationship Id="rId5" Type="http://schemas.openxmlformats.org/officeDocument/2006/relationships/hyperlink" Target="https://www.google.com/search?sca_esv=c6c0271301e3a973&amp;sxsrf=ANbL-n5zBZnwU6p7_o4CNapoefq1zpe3rw%3A1771206660383&amp;q=Image+Processing&amp;source=lnms&amp;fbs=ADc_l-aHJKCxetkbp8HihrVlWP2E1iNtw1c6Bqm2EL8gFYaWSYxrIPO0Uw9d1XjTJ7RJppLSe-qHSJ3n6gn3T6KgsGdZCG1fryj3FV5sXWxwrr1Ny9Q5v7736tel2l4aj2i17LHZnq6OR53woUQmzjkVoNNGnsgz5d-ka_tZfEAK4OXDKVQlRK-230aBk8rN51ujyPjrpT4rJDUVQ__t3ylSX_dYW_RZQpDwpOIP0A0Q1ouOTREPtHQ&amp;sa=X&amp;ved=2ahUKEwjVyd-A89ySAxWKjGMGHcqrDdkQgK4QegQIAxAF&amp;biw=1536&amp;bih=742&amp;dpr=1.25&amp;mstk=AUtExfCsVkiloHY40GWRyY0eVsa89Tt5HRA1LeDhaD_BD6Bgb3mmr_l3Be3MmLDOEiTKt3WesSkcPt9EgnpCJtJTCzyR75kCDHtXy0OzbdzBlen_dmQsSjmSB_oPQyD43PCNrRR9mBOZzMpJjM5n7ji3-5F_mlvP6_jZPBRKi9EATXUjSUWBksvQhCmjrPlJ1ezudlayQQTcX9CrXvrGGXpbfJ7nqyRKE1ExCA0lGnytJrHqlcjOp8PTP-_PTsiiWOeqUzKXAsAtwTJ0uYWa-le1ylzQVRTW8NXOwdaqyKLNKr2BlA&amp;csui=3" TargetMode="External"/><Relationship Id="rId4" Type="http://schemas.openxmlformats.org/officeDocument/2006/relationships/hyperlink" Target="https://www.google.com/search?sca_esv=c6c0271301e3a973&amp;sxsrf=ANbL-n5zBZnwU6p7_o4CNapoefq1zpe3rw%3A1771206660383&amp;q=Cryptography&amp;source=lnms&amp;fbs=ADc_l-aHJKCxetkbp8HihrVlWP2E1iNtw1c6Bqm2EL8gFYaWSYxrIPO0Uw9d1XjTJ7RJppLSe-qHSJ3n6gn3T6KgsGdZCG1fryj3FV5sXWxwrr1Ny9Q5v7736tel2l4aj2i17LHZnq6OR53woUQmzjkVoNNGnsgz5d-ka_tZfEAK4OXDKVQlRK-230aBk8rN51ujyPjrpT4rJDUVQ__t3ylSX_dYW_RZQpDwpOIP0A0Q1ouOTREPtHQ&amp;sa=X&amp;ved=2ahUKEwjVyd-A89ySAxWKjGMGHcqrDdkQgK4QegQIAxAD&amp;biw=1536&amp;bih=742&amp;dpr=1.25&amp;mstk=AUtExfCsVkiloHY40GWRyY0eVsa89Tt5HRA1LeDhaD_BD6Bgb3mmr_l3Be3MmLDOEiTKt3WesSkcPt9EgnpCJtJTCzyR75kCDHtXy0OzbdzBlen_dmQsSjmSB_oPQyD43PCNrRR9mBOZzMpJjM5n7ji3-5F_mlvP6_jZPBRKi9EATXUjSUWBksvQhCmjrPlJ1ezudlayQQTcX9CrXvrGGXpbfJ7nqyRKE1ExCA0lGnytJrHqlcjOp8PTP-_PTsiiWOeqUzKXAsAtwTJ0uYWa-le1ylzQVRTW8NXOwdaqyKLNKr2BlA&amp;csui=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014D95-E851-4363-8D1B-AA2E7E96D809}"/>
              </a:ext>
            </a:extLst>
          </p:cNvPr>
          <p:cNvSpPr txBox="1"/>
          <p:nvPr/>
        </p:nvSpPr>
        <p:spPr>
          <a:xfrm>
            <a:off x="2276767" y="1017288"/>
            <a:ext cx="73983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23MAT214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 for Intelligent System-4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97E64-9AD3-29A2-3157-B024989B113A}"/>
              </a:ext>
            </a:extLst>
          </p:cNvPr>
          <p:cNvSpPr txBox="1"/>
          <p:nvPr/>
        </p:nvSpPr>
        <p:spPr>
          <a:xfrm>
            <a:off x="1801095" y="2208562"/>
            <a:ext cx="8349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Part- 1.3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E7920-56C5-3DF1-F81B-ED6B8B3D136A}"/>
              </a:ext>
            </a:extLst>
          </p:cNvPr>
          <p:cNvSpPr txBox="1"/>
          <p:nvPr/>
        </p:nvSpPr>
        <p:spPr>
          <a:xfrm>
            <a:off x="1445488" y="3030504"/>
            <a:ext cx="92825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 Matrices and Circulant Matrices</a:t>
            </a: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D0099-BBFA-FEE6-12F6-BF2D850DF5E8}"/>
              </a:ext>
            </a:extLst>
          </p:cNvPr>
          <p:cNvSpPr txBox="1"/>
          <p:nvPr/>
        </p:nvSpPr>
        <p:spPr>
          <a:xfrm>
            <a:off x="101601" y="6276112"/>
            <a:ext cx="8035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*All Sources: Stanford University, Texas Tech University, UC Santa Barbara, etc.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39519-9EE8-4135-39E1-AA80503DB1E0}"/>
              </a:ext>
            </a:extLst>
          </p:cNvPr>
          <p:cNvSpPr txBox="1"/>
          <p:nvPr/>
        </p:nvSpPr>
        <p:spPr>
          <a:xfrm>
            <a:off x="108531" y="6513279"/>
            <a:ext cx="100422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*Sharing or distributing this lecture material without the permission of the lecture coordinator is strictly prohibited.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68E76A-F431-2472-4729-C7B50F2D84D3}"/>
              </a:ext>
            </a:extLst>
          </p:cNvPr>
          <p:cNvSpPr txBox="1"/>
          <p:nvPr/>
        </p:nvSpPr>
        <p:spPr>
          <a:xfrm>
            <a:off x="2773221" y="274111"/>
            <a:ext cx="6405418" cy="687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Amrita School of Artificial Intelligence, Faridabad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Amrita Vishwa Vidyapeetham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5A89A-053C-1625-ADB9-89B923F72954}"/>
              </a:ext>
            </a:extLst>
          </p:cNvPr>
          <p:cNvSpPr/>
          <p:nvPr/>
        </p:nvSpPr>
        <p:spPr>
          <a:xfrm>
            <a:off x="3935896" y="4174435"/>
            <a:ext cx="3697356" cy="571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BTech 4</a:t>
            </a:r>
            <a:r>
              <a:rPr lang="en-IN" sz="24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</a:t>
            </a:r>
          </a:p>
        </p:txBody>
      </p:sp>
    </p:spTree>
    <p:extLst>
      <p:ext uri="{BB962C8B-B14F-4D97-AF65-F5344CB8AC3E}">
        <p14:creationId xmlns:p14="http://schemas.microsoft.com/office/powerpoint/2010/main" val="314566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A025D0-F4D6-044B-A596-C478D1030565}"/>
                  </a:ext>
                </a:extLst>
              </p:cNvPr>
              <p:cNvSpPr txBox="1"/>
              <p:nvPr/>
            </p:nvSpPr>
            <p:spPr>
              <a:xfrm>
                <a:off x="875144" y="975863"/>
                <a:ext cx="8010237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In signal processing, we often shift signals: 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In linear algebra, shifting a vector is a </a:t>
                </a:r>
                <a:r>
                  <a:rPr lang="en-IN" sz="2400" b="1" dirty="0"/>
                  <a:t>matrix operation</a:t>
                </a:r>
                <a:r>
                  <a:rPr lang="en-IN" sz="2400" dirty="0"/>
                  <a:t>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IN" sz="2400" dirty="0"/>
                  <a:t>So we define a </a:t>
                </a:r>
                <a:r>
                  <a:rPr lang="en-IN" sz="2400" b="1" dirty="0"/>
                  <a:t>Shift Matrix</a:t>
                </a:r>
                <a:r>
                  <a:rPr lang="en-IN" sz="2400" dirty="0"/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3A025D0-F4D6-044B-A596-C478D1030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44" y="975863"/>
                <a:ext cx="8010237" cy="1569660"/>
              </a:xfrm>
              <a:prstGeom prst="rect">
                <a:avLst/>
              </a:prstGeom>
              <a:blipFill>
                <a:blip r:embed="rId2"/>
                <a:stretch>
                  <a:fillRect l="-1065" t="-3101" b="-7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BC4CEE3-2808-DB54-CB6E-5F96049DFC17}"/>
              </a:ext>
            </a:extLst>
          </p:cNvPr>
          <p:cNvSpPr txBox="1"/>
          <p:nvPr/>
        </p:nvSpPr>
        <p:spPr>
          <a:xfrm>
            <a:off x="99290" y="452643"/>
            <a:ext cx="28194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rgbClr val="FF0000"/>
                </a:solidFill>
              </a:rPr>
              <a:t>Motivation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642BF1-1562-C90C-239E-7DE0DCD5B086}"/>
              </a:ext>
            </a:extLst>
          </p:cNvPr>
          <p:cNvSpPr txBox="1"/>
          <p:nvPr/>
        </p:nvSpPr>
        <p:spPr>
          <a:xfrm>
            <a:off x="387926" y="3620240"/>
            <a:ext cx="111852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A0A0A"/>
                </a:solidFill>
                <a:latin typeface="Google Sans"/>
                <a:hlinkClick r:id="rId3"/>
              </a:rPr>
              <a:t>Digital Signal Processing (DSP)</a:t>
            </a:r>
            <a:r>
              <a:rPr lang="en-US" altLang="en-US" sz="2000" b="1" dirty="0">
                <a:solidFill>
                  <a:srgbClr val="0A0A0A"/>
                </a:solidFill>
                <a:latin typeface="Google Sans"/>
              </a:rPr>
              <a:t>:</a:t>
            </a:r>
            <a:r>
              <a:rPr lang="en-US" altLang="en-US" sz="2000" dirty="0">
                <a:solidFill>
                  <a:srgbClr val="0A0A0A"/>
                </a:solidFill>
                <a:latin typeface="Google Sans"/>
              </a:rPr>
              <a:t> Used to model circular shifts, which represent delays in cyclic convolutions and graph signal processing.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A0A0A"/>
                </a:solidFill>
                <a:latin typeface="Google Sans"/>
                <a:hlinkClick r:id="rId4"/>
              </a:rPr>
              <a:t>Cryptography</a:t>
            </a:r>
            <a:r>
              <a:rPr lang="en-US" altLang="en-US" sz="2000" b="1" dirty="0">
                <a:solidFill>
                  <a:srgbClr val="0A0A0A"/>
                </a:solidFill>
                <a:latin typeface="Google Sans"/>
              </a:rPr>
              <a:t>:</a:t>
            </a:r>
            <a:r>
              <a:rPr lang="en-US" altLang="en-US" sz="2000" dirty="0">
                <a:solidFill>
                  <a:srgbClr val="0A0A0A"/>
                </a:solidFill>
                <a:latin typeface="Google Sans"/>
              </a:rPr>
              <a:t> Employed in algorithms like the Hill cipher for encoding plaintext.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A0A0A"/>
                </a:solidFill>
                <a:latin typeface="Google Sans"/>
                <a:hlinkClick r:id="rId5"/>
              </a:rPr>
              <a:t>Image Processing</a:t>
            </a:r>
            <a:r>
              <a:rPr lang="en-US" altLang="en-US" sz="2000" b="1" dirty="0">
                <a:solidFill>
                  <a:srgbClr val="0A0A0A"/>
                </a:solidFill>
                <a:latin typeface="Google Sans"/>
              </a:rPr>
              <a:t>:</a:t>
            </a:r>
            <a:r>
              <a:rPr lang="en-US" altLang="en-US" sz="2000" dirty="0">
                <a:solidFill>
                  <a:srgbClr val="0A0A0A"/>
                </a:solidFill>
                <a:latin typeface="Google Sans"/>
              </a:rPr>
              <a:t> Utilized for image rotation, scaling, and translating in computer graphics.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A0A0A"/>
                </a:solidFill>
                <a:latin typeface="Google Sans"/>
                <a:hlinkClick r:id="rId6"/>
              </a:rPr>
              <a:t>Linear Algebra &amp; System Modeling</a:t>
            </a:r>
            <a:r>
              <a:rPr lang="en-US" altLang="en-US" sz="2000" b="1" dirty="0">
                <a:solidFill>
                  <a:srgbClr val="0A0A0A"/>
                </a:solidFill>
                <a:latin typeface="Google Sans"/>
              </a:rPr>
              <a:t>:</a:t>
            </a:r>
            <a:r>
              <a:rPr lang="en-US" altLang="en-US" sz="2000" dirty="0">
                <a:solidFill>
                  <a:srgbClr val="0A0A0A"/>
                </a:solidFill>
                <a:latin typeface="Google Sans"/>
              </a:rPr>
              <a:t> Used for solving equations with time-delays and studying cyclic permutations.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rgbClr val="0A0A0A"/>
                </a:solidFill>
                <a:latin typeface="Google Sans"/>
                <a:hlinkClick r:id="rId7"/>
              </a:rPr>
              <a:t>Data Analysis</a:t>
            </a:r>
            <a:r>
              <a:rPr lang="en-US" altLang="en-US" sz="2000" b="1" dirty="0">
                <a:solidFill>
                  <a:srgbClr val="0A0A0A"/>
                </a:solidFill>
                <a:latin typeface="Google Sans"/>
              </a:rPr>
              <a:t>:</a:t>
            </a:r>
            <a:r>
              <a:rPr lang="en-US" altLang="en-US" sz="2000" dirty="0">
                <a:solidFill>
                  <a:srgbClr val="0A0A0A"/>
                </a:solidFill>
                <a:latin typeface="Google Sans"/>
              </a:rPr>
              <a:t> Used in matrix data analysis diagrams for determining product characteristics. 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97791CB-D631-A9B4-FBBE-499F4727A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9FE37E-CA69-F30B-85A9-01E060E809A7}"/>
              </a:ext>
            </a:extLst>
          </p:cNvPr>
          <p:cNvSpPr txBox="1"/>
          <p:nvPr/>
        </p:nvSpPr>
        <p:spPr>
          <a:xfrm>
            <a:off x="0" y="3068743"/>
            <a:ext cx="64192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FF0000"/>
                </a:solidFill>
                <a:latin typeface="Google Sans"/>
              </a:rPr>
              <a:t>Key applications:</a:t>
            </a:r>
            <a:endParaRPr lang="en-US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74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D853B7-065C-46B7-B8DC-ED1F10453B98}"/>
                  </a:ext>
                </a:extLst>
              </p:cNvPr>
              <p:cNvSpPr txBox="1"/>
              <p:nvPr/>
            </p:nvSpPr>
            <p:spPr>
              <a:xfrm>
                <a:off x="413994" y="387056"/>
                <a:ext cx="4958595" cy="6234014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/>
                  <a:t>Right Shift Matrix</a:t>
                </a:r>
              </a:p>
              <a:p>
                <a:pPr>
                  <a:buNone/>
                </a:pPr>
                <a:r>
                  <a:rPr lang="en-IN" sz="2000" dirty="0"/>
                  <a:t>Let </a:t>
                </a:r>
                <a14:m>
                  <m:oMath xmlns:m="http://schemas.openxmlformats.org/officeDocument/2006/math">
                    <m:r>
                      <a:rPr lang="en-IN" sz="2000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IN" sz="2000" b="0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b="0" i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000" b="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ar-AE" sz="2000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ar-AE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IN" sz="2000" b="0" dirty="0"/>
              </a:p>
              <a:p>
                <a:pPr>
                  <a:buNone/>
                </a:pPr>
                <a:endParaRPr lang="ar-AE" sz="2000" b="0" dirty="0"/>
              </a:p>
              <a:p>
                <a:pPr>
                  <a:buNone/>
                </a:pPr>
                <a:r>
                  <a:rPr lang="en-IN" sz="2000" dirty="0"/>
                  <a:t>Define matrix </a:t>
                </a:r>
                <a14:m>
                  <m:oMath xmlns:m="http://schemas.openxmlformats.org/officeDocument/2006/math">
                    <m:r>
                      <a:rPr lang="en-IN" sz="2000" b="1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IN" sz="2000" b="0" i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b="0" i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sz="2000" b="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 sz="2000" b="0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sz="2000" b="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ar-AE" sz="2000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000" b="1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ar-AE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/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:r>
                  <a:rPr lang="en-IN" sz="2000" dirty="0"/>
                  <a:t>Then: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IN" sz="2000" b="1" i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IN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:r>
                  <a:rPr lang="en-IN" sz="2000" dirty="0"/>
                  <a:t>This shifts the vector </a:t>
                </a:r>
                <a:r>
                  <a:rPr lang="en-IN" sz="2000" b="1" dirty="0"/>
                  <a:t>down by one position</a:t>
                </a:r>
                <a:r>
                  <a:rPr lang="en-IN" sz="2000" dirty="0"/>
                  <a:t>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D853B7-065C-46B7-B8DC-ED1F10453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94" y="387056"/>
                <a:ext cx="4958595" cy="6234014"/>
              </a:xfrm>
              <a:prstGeom prst="rect">
                <a:avLst/>
              </a:prstGeom>
              <a:blipFill>
                <a:blip r:embed="rId2"/>
                <a:stretch>
                  <a:fillRect l="-1353" t="-489" b="-7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CC998E-DAE3-E4D7-7F6D-851AD458FE36}"/>
                  </a:ext>
                </a:extLst>
              </p:cNvPr>
              <p:cNvSpPr txBox="1"/>
              <p:nvPr/>
            </p:nvSpPr>
            <p:spPr>
              <a:xfrm>
                <a:off x="6096000" y="1336268"/>
                <a:ext cx="4398485" cy="380129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/>
                  <a:t>Left Shift Matrix</a:t>
                </a:r>
              </a:p>
              <a:p>
                <a:pPr>
                  <a:buNone/>
                </a:pPr>
                <a:r>
                  <a:rPr lang="en-IN" sz="2000" dirty="0"/>
                  <a:t>Transpose of </a:t>
                </a:r>
                <a14:m>
                  <m:oMath xmlns:m="http://schemas.openxmlformats.org/officeDocument/2006/math">
                    <m:r>
                      <a:rPr lang="en-IN" sz="2000" b="1">
                        <a:latin typeface="Cambria Math" panose="02040503050406030204" pitchFamily="18" charset="0"/>
                      </a:rPr>
                      <m:t>𝐒</m:t>
                    </m:r>
                  </m:oMath>
                </a14:m>
                <a:r>
                  <a:rPr lang="en-IN" sz="2000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b="1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  <m:e/>
                              <m:e/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:r>
                  <a:rPr lang="en-IN" sz="2000" dirty="0"/>
                  <a:t>Then: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b="1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000" b="1" i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ar-AE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b="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CC998E-DAE3-E4D7-7F6D-851AD458F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336268"/>
                <a:ext cx="4398485" cy="3801297"/>
              </a:xfrm>
              <a:prstGeom prst="rect">
                <a:avLst/>
              </a:prstGeom>
              <a:blipFill>
                <a:blip r:embed="rId3"/>
                <a:stretch>
                  <a:fillRect l="-1385" t="-8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021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5D3CC0-A71A-C650-641E-1C898044327C}"/>
                  </a:ext>
                </a:extLst>
              </p:cNvPr>
              <p:cNvSpPr txBox="1"/>
              <p:nvPr/>
            </p:nvSpPr>
            <p:spPr>
              <a:xfrm>
                <a:off x="1006312" y="996776"/>
                <a:ext cx="6405512" cy="384522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dirty="0"/>
                  <a:t>Now define circular shift matrix: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IN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  <m:e/>
                              <m:e/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:r>
                  <a:rPr lang="en-IN" sz="2000" dirty="0"/>
                  <a:t>Now: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1">
                          <a:latin typeface="Cambria Math" panose="02040503050406030204" pitchFamily="18" charset="0"/>
                        </a:rPr>
                        <m:t>𝐏</m:t>
                      </m:r>
                      <m:r>
                        <a:rPr lang="en-IN" sz="2000" b="1" i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IN" sz="2000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 sz="2000" b="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ar-AE" sz="2000" b="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:r>
                  <a:rPr lang="en-IN" sz="2000" dirty="0"/>
                  <a:t>This is </a:t>
                </a:r>
                <a:r>
                  <a:rPr lang="en-IN" sz="2000" b="1" dirty="0"/>
                  <a:t>circular shift</a:t>
                </a:r>
                <a:r>
                  <a:rPr lang="en-IN" sz="2000" dirty="0"/>
                  <a:t>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5D3CC0-A71A-C650-641E-1C8980443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312" y="996776"/>
                <a:ext cx="6405512" cy="3845220"/>
              </a:xfrm>
              <a:prstGeom prst="rect">
                <a:avLst/>
              </a:prstGeom>
              <a:blipFill>
                <a:blip r:embed="rId2"/>
                <a:stretch>
                  <a:fillRect l="-951" t="-952" b="-20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5775D49-F143-7120-C3B8-F16CDE6E0AEE}"/>
              </a:ext>
            </a:extLst>
          </p:cNvPr>
          <p:cNvSpPr txBox="1"/>
          <p:nvPr/>
        </p:nvSpPr>
        <p:spPr>
          <a:xfrm>
            <a:off x="54205" y="263107"/>
            <a:ext cx="64055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Circular Shift Matrix</a:t>
            </a:r>
          </a:p>
        </p:txBody>
      </p:sp>
    </p:spTree>
    <p:extLst>
      <p:ext uri="{BB962C8B-B14F-4D97-AF65-F5344CB8AC3E}">
        <p14:creationId xmlns:p14="http://schemas.microsoft.com/office/powerpoint/2010/main" val="3480011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FFB66A-EEB5-67C2-6883-8B0314A11654}"/>
                  </a:ext>
                </a:extLst>
              </p:cNvPr>
              <p:cNvSpPr txBox="1"/>
              <p:nvPr/>
            </p:nvSpPr>
            <p:spPr>
              <a:xfrm>
                <a:off x="122157" y="552088"/>
                <a:ext cx="5543744" cy="613834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/>
                  <a:t>(1) Nilpotent Property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b="1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p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ar-AE" sz="20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b="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:r>
                  <a:rPr lang="en-IN" sz="2000" dirty="0"/>
                  <a:t>After shifting N times → zero vector.</a:t>
                </a:r>
              </a:p>
              <a:p>
                <a:pPr>
                  <a:buNone/>
                </a:pPr>
                <a:endParaRPr lang="en-IN" sz="2000" dirty="0"/>
              </a:p>
              <a:p>
                <a:pPr>
                  <a:buNone/>
                </a:pPr>
                <a:r>
                  <a:rPr lang="en-IN" sz="2000" b="1" dirty="0"/>
                  <a:t>(2) Eigenvalues</a:t>
                </a:r>
              </a:p>
              <a:p>
                <a:pPr>
                  <a:buNone/>
                </a:pPr>
                <a:r>
                  <a:rPr lang="en-IN" sz="2000" dirty="0"/>
                  <a:t>Characteristic polynomial: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000">
                          <a:latin typeface="Cambria Math" panose="02040503050406030204" pitchFamily="18" charset="0"/>
                        </a:rPr>
                        <m:t>det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All eigenvalues: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000" dirty="0"/>
              </a:p>
              <a:p>
                <a:pPr>
                  <a:buNone/>
                </a:pPr>
                <a:endParaRPr lang="en-IN" sz="2000" dirty="0"/>
              </a:p>
              <a:p>
                <a:pPr>
                  <a:buNone/>
                </a:pPr>
                <a:r>
                  <a:rPr lang="en-IN" sz="2000" b="1" dirty="0"/>
                  <a:t>(3) Rank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 b="0"/>
                        <m:t>rank</m:t>
                      </m:r>
                      <m:d>
                        <m:dPr>
                          <m:ctrlPr>
                            <a:rPr lang="ar-AE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b="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ar-AE" sz="2000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b="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ar-AE" sz="2000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000" b="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sz="2000" b="0" dirty="0"/>
              </a:p>
              <a:p>
                <a:pPr>
                  <a:buNone/>
                </a:pPr>
                <a:endParaRPr lang="en-IN" sz="2000" dirty="0"/>
              </a:p>
              <a:p>
                <a:r>
                  <a:rPr lang="en-IN" sz="2000" b="1" dirty="0"/>
                  <a:t>(4) Diagonalizability</a:t>
                </a:r>
              </a:p>
              <a:p>
                <a:r>
                  <a:rPr lang="en-IN" sz="2000" dirty="0"/>
                  <a:t>Since S has one eigenvalue 0 with algebraic multiplicity N, Jordan form is a single Jordan block: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/>
                        <m:t>𝐽</m:t>
                      </m:r>
                      <m:r>
                        <a:rPr lang="en-IN" sz="2000"/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/>
                              </m:ctrlPr>
                            </m:mPr>
                            <m:mr>
                              <m:e>
                                <m:r>
                                  <a:rPr lang="ar-AE" sz="2000"/>
                                  <m:t>0</m:t>
                                </m:r>
                              </m:e>
                              <m:e>
                                <m:r>
                                  <a:rPr lang="ar-AE" sz="2000"/>
                                  <m:t>1</m:t>
                                </m:r>
                              </m:e>
                              <m:e>
                                <m:r>
                                  <a:rPr lang="ar-AE" sz="2000"/>
                                  <m:t>0</m:t>
                                </m:r>
                              </m:e>
                              <m:e>
                                <m:r>
                                  <a:rPr lang="ar-AE" sz="2000"/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/>
                                  <m:t>0</m:t>
                                </m:r>
                              </m:e>
                              <m:e>
                                <m:r>
                                  <a:rPr lang="ar-AE" sz="2000"/>
                                  <m:t>0</m:t>
                                </m:r>
                              </m:e>
                              <m:e>
                                <m:r>
                                  <a:rPr lang="ar-AE" sz="2000"/>
                                  <m:t>1</m:t>
                                </m:r>
                              </m:e>
                              <m:e>
                                <m:r>
                                  <a:rPr lang="ar-AE" sz="2000"/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/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i="1"/>
                                    </m:ctrlPr>
                                  </m:phantPr>
                                  <m:e>
                                    <m:r>
                                      <a:rPr lang="ar-AE" sz="2000"/>
                                      <m:t> </m:t>
                                    </m:r>
                                  </m:e>
                                </m:phant>
                              </m:e>
                              <m:e/>
                              <m:e/>
                              <m:e>
                                <m:r>
                                  <a:rPr lang="ar-AE" sz="2000"/>
                                  <m:t>⋱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  <a:p>
                <a:r>
                  <a:rPr lang="en-IN" sz="2000" dirty="0"/>
                  <a:t>Thus S is not diagonalizable.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BFFB66A-EEB5-67C2-6883-8B0314A11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57" y="552088"/>
                <a:ext cx="5543744" cy="6138347"/>
              </a:xfrm>
              <a:prstGeom prst="rect">
                <a:avLst/>
              </a:prstGeom>
              <a:blipFill>
                <a:blip r:embed="rId2"/>
                <a:stretch>
                  <a:fillRect l="-1100" t="-596" b="-7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A4FB75D-BEB2-1BE0-D769-AAE55FC355E6}"/>
              </a:ext>
            </a:extLst>
          </p:cNvPr>
          <p:cNvSpPr txBox="1"/>
          <p:nvPr/>
        </p:nvSpPr>
        <p:spPr>
          <a:xfrm>
            <a:off x="122157" y="90423"/>
            <a:ext cx="5308863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sz="2400" b="1" dirty="0"/>
              <a:t>Properties of non-circular Shift Matrix</a:t>
            </a:r>
            <a:endParaRPr lang="en-IN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983212D-4211-7CE7-A88E-F92A18243A53}"/>
              </a:ext>
            </a:extLst>
          </p:cNvPr>
          <p:cNvGrpSpPr/>
          <p:nvPr/>
        </p:nvGrpSpPr>
        <p:grpSpPr>
          <a:xfrm>
            <a:off x="6112495" y="90423"/>
            <a:ext cx="5912177" cy="6744475"/>
            <a:chOff x="6112495" y="90423"/>
            <a:chExt cx="5912177" cy="674447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0965350-96E4-1CC4-5A58-1ECC45CC414D}"/>
                </a:ext>
              </a:extLst>
            </p:cNvPr>
            <p:cNvSpPr txBox="1"/>
            <p:nvPr/>
          </p:nvSpPr>
          <p:spPr>
            <a:xfrm>
              <a:off x="6361522" y="90423"/>
              <a:ext cx="5308862" cy="46166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IN" sz="2400" b="1" dirty="0"/>
                <a:t>Properties of circular Shift Matrix</a:t>
              </a:r>
              <a:endParaRPr lang="en-IN" sz="2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0E4BF2F-639E-F372-50E0-26426ACC64A3}"/>
                    </a:ext>
                  </a:extLst>
                </p:cNvPr>
                <p:cNvSpPr txBox="1"/>
                <p:nvPr/>
              </p:nvSpPr>
              <p:spPr>
                <a:xfrm>
                  <a:off x="6112495" y="552088"/>
                  <a:ext cx="5912177" cy="6282810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IN" sz="2000" b="1" dirty="0"/>
                    <a:t>(1) Not nilpotent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ar-AE" sz="2000" dirty="0"/>
                </a:p>
                <a:p>
                  <a:pPr>
                    <a:buNone/>
                  </a:pPr>
                  <a:r>
                    <a:rPr lang="ar-AE" sz="2000" b="1" dirty="0"/>
                    <a:t>(2) </a:t>
                  </a:r>
                  <a:r>
                    <a:rPr lang="en-IN" sz="2000" b="1" dirty="0"/>
                    <a:t>Orthogonal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ar-AE" sz="20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20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lang="ar-AE" sz="2000" dirty="0"/>
                </a:p>
                <a:p>
                  <a:pPr>
                    <a:buNone/>
                  </a:pPr>
                  <a:r>
                    <a:rPr lang="ar-AE" sz="2000" b="1" dirty="0"/>
                    <a:t>(3) </a:t>
                  </a:r>
                  <a:r>
                    <a:rPr lang="en-IN" sz="2000" b="1" dirty="0"/>
                    <a:t>Eigenvalues</a:t>
                  </a:r>
                </a:p>
                <a:p>
                  <a:pPr>
                    <a:buNone/>
                  </a:pPr>
                  <a:r>
                    <a:rPr lang="en-IN" sz="2000" dirty="0"/>
                    <a:t>Solve: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𝑃𝑣</m:t>
                        </m:r>
                        <m:r>
                          <a:rPr lang="en-IN" sz="20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IN" sz="2000" dirty="0"/>
                </a:p>
                <a:p>
                  <a:pPr>
                    <a:buNone/>
                  </a:pPr>
                  <a:r>
                    <a:rPr lang="en-IN" sz="2000" dirty="0"/>
                    <a:t>Solution: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20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20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ar-AE" sz="2000" i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ar-AE" sz="2000" dirty="0"/>
                </a:p>
                <a:p>
                  <a:pPr>
                    <a:buNone/>
                  </a:pPr>
                  <a:r>
                    <a:rPr lang="en-IN" sz="2000" dirty="0"/>
                    <a:t>Eigenvalues are N-</a:t>
                  </a:r>
                  <a:r>
                    <a:rPr lang="en-IN" sz="2000" dirty="0" err="1"/>
                    <a:t>th</a:t>
                  </a:r>
                  <a:r>
                    <a:rPr lang="en-IN" sz="2000" dirty="0"/>
                    <a:t> roots of unity.</a:t>
                  </a:r>
                </a:p>
                <a:p>
                  <a:pPr>
                    <a:buNone/>
                  </a:pPr>
                  <a:endParaRPr lang="en-IN" sz="2000" dirty="0"/>
                </a:p>
                <a:p>
                  <a:pPr>
                    <a:buNone/>
                  </a:pPr>
                  <a:r>
                    <a:rPr lang="en-IN" sz="2000" b="1" dirty="0"/>
                    <a:t>(4) Rank</a:t>
                  </a:r>
                </a:p>
                <a:p>
                  <a:pPr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IN" sz="2000"/>
                          <m:t>rank</m:t>
                        </m:r>
                        <m:d>
                          <m:d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  <m:r>
                          <a:rPr lang="ar-AE" sz="20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en-IN" sz="2000" dirty="0"/>
                </a:p>
                <a:p>
                  <a:pPr>
                    <a:buNone/>
                  </a:pPr>
                  <a:endParaRPr lang="en-IN" sz="2000" dirty="0"/>
                </a:p>
                <a:p>
                  <a:r>
                    <a:rPr lang="en-IN" sz="2000" b="1" dirty="0"/>
                    <a:t>(5) P is diagonalizable</a:t>
                  </a:r>
                </a:p>
                <a:p>
                  <a:r>
                    <a:rPr lang="en-IN" sz="2000" dirty="0"/>
                    <a:t>Because eigenvalues are distinct (roots of unity). Thus:</a:t>
                  </a: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/>
                          <m:t>𝑃</m:t>
                        </m:r>
                        <m:r>
                          <a:rPr lang="en-IN" sz="2000"/>
                          <m:t>=</m:t>
                        </m:r>
                        <m:sSup>
                          <m:sSupPr>
                            <m:ctrlPr>
                              <a:rPr lang="ar-AE" sz="2000" i="1"/>
                            </m:ctrlPr>
                          </m:sSupPr>
                          <m:e>
                            <m:r>
                              <a:rPr lang="ar-AE" sz="2000" i="1"/>
                              <m:t>𝐹</m:t>
                            </m:r>
                          </m:e>
                          <m:sup>
                            <m:r>
                              <a:rPr lang="ar-AE" sz="2000"/>
                              <m:t>−</m:t>
                            </m:r>
                            <m:r>
                              <a:rPr lang="ar-AE" sz="2000"/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sz="2000"/>
                          <m:t>Λ</m:t>
                        </m:r>
                        <m:r>
                          <a:rPr lang="el-GR" sz="2000" i="1"/>
                          <m:t>𝐹</m:t>
                        </m:r>
                      </m:oMath>
                    </m:oMathPara>
                  </a14:m>
                  <a:endParaRPr lang="el-GR" sz="2000" dirty="0"/>
                </a:p>
                <a:p>
                  <a:r>
                    <a:rPr lang="en-IN" sz="2000" dirty="0"/>
                    <a:t>where F is Fourier matrix.</a:t>
                  </a: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/>
                          <m:t>Λ</m:t>
                        </m:r>
                        <m:r>
                          <a:rPr lang="el-GR"/>
                          <m:t>=</m:t>
                        </m:r>
                        <m:r>
                          <m:rPr>
                            <m:sty m:val="p"/>
                          </m:rPr>
                          <a:rPr lang="en-IN"/>
                          <m:t>diag</m:t>
                        </m:r>
                        <m:r>
                          <a:rPr lang="en-IN"/>
                          <m:t>⁡</m:t>
                        </m:r>
                        <m:d>
                          <m:dPr>
                            <m:sepChr m:val=","/>
                            <m:ctrlPr>
                              <a:rPr lang="ar-AE" i="1"/>
                            </m:ctrlPr>
                          </m:dPr>
                          <m:e>
                            <m:r>
                              <a:rPr lang="ar-AE"/>
                              <m:t>1</m:t>
                            </m:r>
                          </m:e>
                          <m:e>
                            <m:r>
                              <a:rPr lang="ar-AE" i="1"/>
                              <m:t>𝜔</m:t>
                            </m:r>
                          </m:e>
                          <m:e>
                            <m:sSup>
                              <m:sSupPr>
                                <m:ctrlPr>
                                  <a:rPr lang="ar-AE" i="1"/>
                                </m:ctrlPr>
                              </m:sSupPr>
                              <m:e>
                                <m:r>
                                  <a:rPr lang="ar-AE" i="1"/>
                                  <m:t>𝜔</m:t>
                                </m:r>
                              </m:e>
                              <m:sup>
                                <m:r>
                                  <a:rPr lang="ar-AE"/>
                                  <m:t>2</m:t>
                                </m:r>
                              </m:sup>
                            </m:sSup>
                          </m:e>
                          <m:e>
                            <m:r>
                              <a:rPr lang="ar-AE"/>
                              <m:t>…</m:t>
                            </m:r>
                          </m:e>
                          <m:e>
                            <m:sSup>
                              <m:sSupPr>
                                <m:ctrlPr>
                                  <a:rPr lang="ar-AE" i="1"/>
                                </m:ctrlPr>
                              </m:sSupPr>
                              <m:e>
                                <m:r>
                                  <a:rPr lang="ar-AE" i="1"/>
                                  <m:t>𝜔</m:t>
                                </m:r>
                              </m:e>
                              <m:sup>
                                <m:r>
                                  <a:rPr lang="ar-AE" i="1"/>
                                  <m:t>𝑁</m:t>
                                </m:r>
                                <m:r>
                                  <a:rPr lang="ar-AE"/>
                                  <m:t>−</m:t>
                                </m:r>
                                <m:r>
                                  <a:rPr lang="ar-AE"/>
                                  <m:t>1</m:t>
                                </m:r>
                              </m:sup>
                            </m:sSup>
                          </m:e>
                        </m:d>
                      </m:oMath>
                    </m:oMathPara>
                  </a14:m>
                  <a:endParaRPr lang="en-IN" sz="2000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IN" sz="200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oMath>
                    </m:oMathPara>
                  </a14:m>
                  <a:endParaRPr lang="ar-AE" sz="2400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F0E4BF2F-639E-F372-50E0-26426ACC64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2495" y="552088"/>
                  <a:ext cx="5912177" cy="6282810"/>
                </a:xfrm>
                <a:prstGeom prst="rect">
                  <a:avLst/>
                </a:prstGeom>
                <a:blipFill>
                  <a:blip r:embed="rId3"/>
                  <a:stretch>
                    <a:fillRect l="-1237" t="-58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85478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8CE1AC0-E71B-8B84-59B6-72C3D5B93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615341"/>
              </p:ext>
            </p:extLst>
          </p:nvPr>
        </p:nvGraphicFramePr>
        <p:xfrm>
          <a:off x="2273038" y="804577"/>
          <a:ext cx="7645923" cy="50292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548641">
                  <a:extLst>
                    <a:ext uri="{9D8B030D-6E8A-4147-A177-3AD203B41FA5}">
                      <a16:colId xmlns:a16="http://schemas.microsoft.com/office/drawing/2014/main" val="2510828994"/>
                    </a:ext>
                  </a:extLst>
                </a:gridCol>
                <a:gridCol w="2548641">
                  <a:extLst>
                    <a:ext uri="{9D8B030D-6E8A-4147-A177-3AD203B41FA5}">
                      <a16:colId xmlns:a16="http://schemas.microsoft.com/office/drawing/2014/main" val="631362504"/>
                    </a:ext>
                  </a:extLst>
                </a:gridCol>
                <a:gridCol w="2548641">
                  <a:extLst>
                    <a:ext uri="{9D8B030D-6E8A-4147-A177-3AD203B41FA5}">
                      <a16:colId xmlns:a16="http://schemas.microsoft.com/office/drawing/2014/main" val="25716073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007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Zero padding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853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Circular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0646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Determinant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±1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3069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Invertible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0181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Nilpotent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936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Eigenvalues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All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Roots of unity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4388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Diagonalizable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5866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Group 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09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Energy preserving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959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 dirty="0"/>
                        <a:t>Used in DFT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215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417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05C0B7-7C78-85FE-FA40-EE7BD312008A}"/>
                  </a:ext>
                </a:extLst>
              </p:cNvPr>
              <p:cNvSpPr txBox="1"/>
              <p:nvPr/>
            </p:nvSpPr>
            <p:spPr>
              <a:xfrm>
                <a:off x="214460" y="709096"/>
                <a:ext cx="5583025" cy="501675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/>
                  <a:t>Mathematical </a:t>
                </a:r>
                <a:r>
                  <a:rPr lang="en-IN" sz="2000" b="1" dirty="0" err="1"/>
                  <a:t>Behavior</a:t>
                </a:r>
                <a:r>
                  <a:rPr lang="en-IN" sz="2000" b="1" dirty="0"/>
                  <a:t>:</a:t>
                </a:r>
                <a:endParaRPr lang="en-IN" sz="20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𝑆𝑥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2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Information is lost at boundary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ar-AE" sz="2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sz="2000" dirty="0"/>
                  <a:t>(</a:t>
                </a:r>
                <a:r>
                  <a:rPr lang="en-IN" sz="2000" dirty="0"/>
                  <a:t> nilpotent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Not energy preserving</a:t>
                </a:r>
              </a:p>
              <a:p>
                <a:endParaRPr lang="en-IN" sz="2000" dirty="0"/>
              </a:p>
              <a:p>
                <a:pPr>
                  <a:buNone/>
                </a:pPr>
                <a:r>
                  <a:rPr lang="en-IN" sz="2000" b="1" dirty="0"/>
                  <a:t>Real-World Interpretation:</a:t>
                </a:r>
                <a:endParaRPr lang="en-IN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Finite-duration audio clip (silence outside window)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Temperature recorded for limited days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Cropped image with black boundary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Sensor recording that stops after fixed time</a:t>
                </a:r>
              </a:p>
              <a:p>
                <a:endParaRPr lang="en-IN" sz="2000" dirty="0"/>
              </a:p>
              <a:p>
                <a:pPr>
                  <a:buNone/>
                </a:pPr>
                <a:r>
                  <a:rPr lang="en-IN" sz="2000" b="1" dirty="0"/>
                  <a:t>Meaning:</a:t>
                </a:r>
                <a:br>
                  <a:rPr lang="en-IN" sz="2000" dirty="0"/>
                </a:br>
                <a:r>
                  <a:rPr lang="en-IN" sz="2000" dirty="0"/>
                  <a:t>Signal exists only inside a finite interval.</a:t>
                </a:r>
                <a:br>
                  <a:rPr lang="en-IN" sz="2000" dirty="0"/>
                </a:br>
                <a:r>
                  <a:rPr lang="en-IN" sz="2000" dirty="0"/>
                  <a:t>Outside that interval → assumed zero.</a:t>
                </a:r>
                <a:br>
                  <a:rPr lang="en-IN" sz="2000" dirty="0"/>
                </a:br>
                <a:r>
                  <a:rPr lang="en-IN" sz="2000" dirty="0"/>
                  <a:t>Shift causes signal to “die” at boundary.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05C0B7-7C78-85FE-FA40-EE7BD3120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60" y="709096"/>
                <a:ext cx="5583025" cy="5016758"/>
              </a:xfrm>
              <a:prstGeom prst="rect">
                <a:avLst/>
              </a:prstGeom>
              <a:blipFill>
                <a:blip r:embed="rId2"/>
                <a:stretch>
                  <a:fillRect l="-1092" t="-608" b="-12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9752E-537C-0D93-A761-4F3F7EDF8545}"/>
                  </a:ext>
                </a:extLst>
              </p:cNvPr>
              <p:cNvSpPr txBox="1"/>
              <p:nvPr/>
            </p:nvSpPr>
            <p:spPr>
              <a:xfrm>
                <a:off x="103697" y="168838"/>
                <a:ext cx="5684363" cy="46166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Shift Matrix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sz="2400" b="1" dirty="0">
                    <a:solidFill>
                      <a:srgbClr val="C00000"/>
                    </a:solidFill>
                  </a:rPr>
                  <a:t>(Zero Padding Model)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99752E-537C-0D93-A761-4F3F7EDF8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97" y="168838"/>
                <a:ext cx="5684363" cy="461665"/>
              </a:xfrm>
              <a:prstGeom prst="rect">
                <a:avLst/>
              </a:prstGeom>
              <a:blipFill>
                <a:blip r:embed="rId3"/>
                <a:stretch>
                  <a:fillRect l="-1499" t="-9091" b="-28571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9B0DFF-C529-1F2C-1DCE-D4AE3139E0EC}"/>
                  </a:ext>
                </a:extLst>
              </p:cNvPr>
              <p:cNvSpPr txBox="1"/>
              <p:nvPr/>
            </p:nvSpPr>
            <p:spPr>
              <a:xfrm>
                <a:off x="6715029" y="875471"/>
                <a:ext cx="5002489" cy="532453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/>
                  <a:t>Mathematical </a:t>
                </a:r>
                <a:r>
                  <a:rPr lang="en-IN" sz="2000" b="1" dirty="0" err="1"/>
                  <a:t>Behavior</a:t>
                </a:r>
                <a:r>
                  <a:rPr lang="en-IN" sz="2000" b="1" dirty="0"/>
                  <a:t>:</a:t>
                </a:r>
                <a:endParaRPr lang="en-IN" sz="20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𝑃𝑥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sz="20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ar-AE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No information loss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ar-AE" sz="2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ar-AE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Energy preserving</a:t>
                </a:r>
              </a:p>
              <a:p>
                <a:endParaRPr lang="en-IN" sz="2000" dirty="0"/>
              </a:p>
              <a:p>
                <a:pPr>
                  <a:buNone/>
                </a:pPr>
                <a:r>
                  <a:rPr lang="en-IN" sz="2000" b="1" dirty="0"/>
                  <a:t>Real-World Interpretation:</a:t>
                </a:r>
                <a:endParaRPr lang="en-IN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Rotating wheel / circular conveyor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Clock time (12 → 1 wrap-around)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Periodic waveform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Angular measurements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dirty="0"/>
                  <a:t>Tiled or repeating image patterns</a:t>
                </a:r>
              </a:p>
              <a:p>
                <a:endParaRPr lang="en-IN" sz="2000" dirty="0"/>
              </a:p>
              <a:p>
                <a:pPr>
                  <a:buNone/>
                </a:pPr>
                <a:r>
                  <a:rPr lang="en-IN" sz="2000" b="1" dirty="0"/>
                  <a:t>Meaning:</a:t>
                </a:r>
                <a:br>
                  <a:rPr lang="en-IN" sz="2000" dirty="0"/>
                </a:br>
                <a:r>
                  <a:rPr lang="en-IN" sz="2000" dirty="0"/>
                  <a:t>Signal is periodic: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No boundary exists — signal lives on a circle.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9B0DFF-C529-1F2C-1DCE-D4AE3139E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029" y="875471"/>
                <a:ext cx="5002489" cy="5324535"/>
              </a:xfrm>
              <a:prstGeom prst="rect">
                <a:avLst/>
              </a:prstGeom>
              <a:blipFill>
                <a:blip r:embed="rId4"/>
                <a:stretch>
                  <a:fillRect l="-1341" t="-687" b="-11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5B26B7-8729-D71E-C18A-CB41DAAB2EA6}"/>
                  </a:ext>
                </a:extLst>
              </p:cNvPr>
              <p:cNvSpPr txBox="1"/>
              <p:nvPr/>
            </p:nvSpPr>
            <p:spPr>
              <a:xfrm>
                <a:off x="6596406" y="339764"/>
                <a:ext cx="5491897" cy="46166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Circular Shift Matrix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IN" sz="2400" b="1" dirty="0"/>
                  <a:t>(Periodic Model)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55B26B7-8729-D71E-C18A-CB41DAAB2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406" y="339764"/>
                <a:ext cx="5491897" cy="461665"/>
              </a:xfrm>
              <a:prstGeom prst="rect">
                <a:avLst/>
              </a:prstGeom>
              <a:blipFill>
                <a:blip r:embed="rId5"/>
                <a:stretch>
                  <a:fillRect l="-1665" t="-10667" b="-30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120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47BA6F-4BDB-9FF8-F65B-9FF47DB49CE6}"/>
              </a:ext>
            </a:extLst>
          </p:cNvPr>
          <p:cNvSpPr txBox="1"/>
          <p:nvPr/>
        </p:nvSpPr>
        <p:spPr>
          <a:xfrm>
            <a:off x="195607" y="197119"/>
            <a:ext cx="37447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C00000"/>
                </a:solidFill>
              </a:rPr>
              <a:t>CIRCULANT MATRICES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7E176A-F1D1-9189-D2B4-2592BAF6B179}"/>
                  </a:ext>
                </a:extLst>
              </p:cNvPr>
              <p:cNvSpPr txBox="1"/>
              <p:nvPr/>
            </p:nvSpPr>
            <p:spPr>
              <a:xfrm>
                <a:off x="422422" y="731570"/>
                <a:ext cx="6405512" cy="2482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/>
                  <a:t>Definition</a:t>
                </a:r>
              </a:p>
              <a:p>
                <a:pPr>
                  <a:buNone/>
                </a:pPr>
                <a:r>
                  <a:rPr lang="en-IN" sz="2000" dirty="0"/>
                  <a:t>A matrix C is circulant if: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ar-AE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IN" sz="2000" i="0">
                              <a:latin typeface="Cambria Math" panose="02040503050406030204" pitchFamily="18" charset="0"/>
                            </a:rPr>
                            <m:t>mod</m:t>
                          </m:r>
                          <m:r>
                            <m:rPr>
                              <m:nor/>
                            </m:rPr>
                            <a:rPr lang="en-IN" sz="2000" b="0" i="1">
                              <a:latin typeface="Cambria Math" panose="02040503050406030204" pitchFamily="18" charset="0"/>
                            </a:rPr>
                            <m:t>  </m:t>
                          </m:r>
                          <m:r>
                            <a:rPr lang="en-IN" sz="20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:r>
                  <a:rPr lang="en-IN" sz="2000" dirty="0"/>
                  <a:t>General form: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  <m:e/>
                              <m:e/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7E176A-F1D1-9189-D2B4-2592BAF6B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22" y="731570"/>
                <a:ext cx="6405512" cy="2482026"/>
              </a:xfrm>
              <a:prstGeom prst="rect">
                <a:avLst/>
              </a:prstGeom>
              <a:blipFill>
                <a:blip r:embed="rId2"/>
                <a:stretch>
                  <a:fillRect l="-951" t="-12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88B20-F747-946C-8B3B-0B878B93AFCF}"/>
                  </a:ext>
                </a:extLst>
              </p:cNvPr>
              <p:cNvSpPr txBox="1"/>
              <p:nvPr/>
            </p:nvSpPr>
            <p:spPr>
              <a:xfrm>
                <a:off x="422422" y="3286382"/>
                <a:ext cx="5685076" cy="193899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None/>
                </a:pPr>
                <a:r>
                  <a:rPr lang="en-IN" sz="2000" b="1" dirty="0"/>
                  <a:t>Representation Using Shift Matrix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Let P be circular shift matrix.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Then: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0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2000" i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ar-AE" sz="2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Thus circulant matrices are polynomials in P.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0B88B20-F747-946C-8B3B-0B878B93A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422" y="3286382"/>
                <a:ext cx="5685076" cy="1938992"/>
              </a:xfrm>
              <a:prstGeom prst="rect">
                <a:avLst/>
              </a:prstGeom>
              <a:blipFill>
                <a:blip r:embed="rId3"/>
                <a:stretch>
                  <a:fillRect l="-1072" t="-1572" b="-47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D78A35-9A18-61D1-88F1-6FD1942ED2C7}"/>
                  </a:ext>
                </a:extLst>
              </p:cNvPr>
              <p:cNvSpPr txBox="1"/>
              <p:nvPr/>
            </p:nvSpPr>
            <p:spPr>
              <a:xfrm>
                <a:off x="7860717" y="658784"/>
                <a:ext cx="4200331" cy="193899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/>
                  <a:t>Circulant matrices commute</a:t>
                </a:r>
              </a:p>
              <a:p>
                <a:pPr>
                  <a:buNone/>
                </a:pPr>
                <a:r>
                  <a:rPr lang="en-IN" sz="2000" dirty="0"/>
                  <a:t>If C1 and C2 are circulant: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Proof:</a:t>
                </a:r>
              </a:p>
              <a:p>
                <a:pPr>
                  <a:buNone/>
                </a:pPr>
                <a:r>
                  <a:rPr lang="en-IN" sz="2000" dirty="0"/>
                  <a:t>Both are polynomials in P.</a:t>
                </a:r>
              </a:p>
              <a:p>
                <a:pPr>
                  <a:buNone/>
                </a:pPr>
                <a:r>
                  <a:rPr lang="en-IN" sz="2000" dirty="0"/>
                  <a:t>Polynomials commute.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D78A35-9A18-61D1-88F1-6FD1942ED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0717" y="658784"/>
                <a:ext cx="4200331" cy="1938992"/>
              </a:xfrm>
              <a:prstGeom prst="rect">
                <a:avLst/>
              </a:prstGeom>
              <a:blipFill>
                <a:blip r:embed="rId4"/>
                <a:stretch>
                  <a:fillRect l="-1449" t="-1572" b="-47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392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945601-E475-D6ED-C521-35F0099F6065}"/>
                  </a:ext>
                </a:extLst>
              </p:cNvPr>
              <p:cNvSpPr txBox="1"/>
              <p:nvPr/>
            </p:nvSpPr>
            <p:spPr>
              <a:xfrm>
                <a:off x="438728" y="278424"/>
                <a:ext cx="6405418" cy="58158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Diagonalization by Fourier Matrix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/>
                        </m:ctrlPr>
                      </m:sSupPr>
                      <m:e>
                        <m:r>
                          <a:rPr lang="ar-AE" i="1"/>
                          <m:t>𝐹</m:t>
                        </m:r>
                      </m:e>
                      <m:sup>
                        <m:r>
                          <a:rPr lang="ar-AE"/>
                          <m:t>−</m:t>
                        </m:r>
                        <m:r>
                          <a:rPr lang="ar-AE"/>
                          <m:t>1</m:t>
                        </m:r>
                      </m:sup>
                    </m:sSup>
                  </m:oMath>
                </a14:m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i="1"/>
                      <m:t>𝐹</m:t>
                    </m:r>
                  </m:oMath>
                </a14:m>
                <a:r>
                  <a:rPr lang="en-IN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𝐶</m:t>
                      </m:r>
                      <m:r>
                        <a:rPr lang="en-IN"/>
                        <m:t>=</m:t>
                      </m:r>
                      <m:sSup>
                        <m:sSupPr>
                          <m:ctrlPr>
                            <a:rPr lang="ar-AE" i="1"/>
                          </m:ctrlPr>
                        </m:sSupPr>
                        <m:e>
                          <m:r>
                            <a:rPr lang="ar-AE" i="1"/>
                            <m:t>𝐹</m:t>
                          </m:r>
                        </m:e>
                        <m:sup>
                          <m:r>
                            <a:rPr lang="ar-AE"/>
                            <m:t>−</m:t>
                          </m:r>
                          <m:r>
                            <a:rPr lang="ar-AE"/>
                            <m:t>1</m:t>
                          </m:r>
                        </m:sup>
                      </m:sSup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𝑐</m:t>
                              </m:r>
                            </m:e>
                            <m:sub>
                              <m:r>
                                <a:rPr lang="ar-AE"/>
                                <m:t>0</m:t>
                              </m:r>
                            </m:sub>
                          </m:sSub>
                          <m:r>
                            <a:rPr lang="ar-AE" i="1"/>
                            <m:t>𝐼</m:t>
                          </m:r>
                          <m:r>
                            <a:rPr lang="ar-AE"/>
                            <m:t>+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𝑐</m:t>
                              </m:r>
                            </m:e>
                            <m:sub>
                              <m:r>
                                <a:rPr lang="ar-AE"/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l-GR"/>
                            <m:t>Λ</m:t>
                          </m:r>
                          <m:r>
                            <a:rPr lang="el-GR"/>
                            <m:t>+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𝑐</m:t>
                              </m:r>
                            </m:e>
                            <m:sub>
                              <m:r>
                                <a:rPr lang="ar-AE"/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/>
                                <m:t>Λ</m:t>
                              </m:r>
                            </m:e>
                            <m:sup>
                              <m:r>
                                <a:rPr lang="ar-AE"/>
                                <m:t>2</m:t>
                              </m:r>
                            </m:sup>
                          </m:sSup>
                          <m:r>
                            <a:rPr lang="ar-AE"/>
                            <m:t>+⋯+</m:t>
                          </m:r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𝑐</m:t>
                              </m:r>
                            </m:e>
                            <m:sub>
                              <m:r>
                                <a:rPr lang="ar-AE" i="1"/>
                                <m:t>𝑁</m:t>
                              </m:r>
                              <m:r>
                                <a:rPr lang="ar-AE"/>
                                <m:t>−</m:t>
                              </m:r>
                              <m:r>
                                <a:rPr lang="ar-AE"/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i="1"/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/>
                                <m:t>Λ</m:t>
                              </m:r>
                            </m:e>
                            <m:sup>
                              <m:r>
                                <a:rPr lang="ar-AE" i="1"/>
                                <m:t>𝑁</m:t>
                              </m:r>
                              <m:r>
                                <a:rPr lang="ar-AE"/>
                                <m:t>−</m:t>
                              </m:r>
                              <m:r>
                                <a:rPr lang="ar-AE"/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ar-AE" i="1"/>
                        <m:t>𝐹</m:t>
                      </m:r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Define: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𝐷</m:t>
                      </m:r>
                      <m:r>
                        <a:rPr lang="en-IN"/>
                        <m:t>=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𝑐</m:t>
                          </m:r>
                        </m:e>
                        <m:sub>
                          <m:r>
                            <a:rPr lang="ar-AE"/>
                            <m:t>0</m:t>
                          </m:r>
                        </m:sub>
                      </m:sSub>
                      <m:r>
                        <a:rPr lang="ar-AE" i="1"/>
                        <m:t>𝐼</m:t>
                      </m:r>
                      <m:r>
                        <a:rPr lang="ar-AE"/>
                        <m:t>+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𝑐</m:t>
                          </m:r>
                        </m:e>
                        <m:sub>
                          <m:r>
                            <a:rPr lang="ar-AE"/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/>
                        <m:t>Λ</m:t>
                      </m:r>
                      <m:r>
                        <a:rPr lang="el-GR"/>
                        <m:t>+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𝑐</m:t>
                          </m:r>
                        </m:e>
                        <m:sub>
                          <m:r>
                            <a:rPr lang="ar-AE"/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ar-AE" i="1"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/>
                            <m:t>Λ</m:t>
                          </m:r>
                        </m:e>
                        <m:sup>
                          <m:r>
                            <a:rPr lang="ar-AE"/>
                            <m:t>2</m:t>
                          </m:r>
                        </m:sup>
                      </m:sSup>
                      <m:r>
                        <a:rPr lang="ar-AE"/>
                        <m:t>+⋯+</m:t>
                      </m:r>
                      <m:sSub>
                        <m:sSubPr>
                          <m:ctrlPr>
                            <a:rPr lang="ar-AE" i="1"/>
                          </m:ctrlPr>
                        </m:sSubPr>
                        <m:e>
                          <m:r>
                            <a:rPr lang="ar-AE" i="1"/>
                            <m:t>𝑐</m:t>
                          </m:r>
                        </m:e>
                        <m:sub>
                          <m:r>
                            <a:rPr lang="ar-AE" i="1"/>
                            <m:t>𝑁</m:t>
                          </m:r>
                          <m:r>
                            <a:rPr lang="ar-AE"/>
                            <m:t>−</m:t>
                          </m:r>
                          <m:r>
                            <a:rPr lang="ar-AE"/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ar-AE" i="1"/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/>
                            <m:t>Λ</m:t>
                          </m:r>
                        </m:e>
                        <m:sup>
                          <m:r>
                            <a:rPr lang="ar-AE" i="1"/>
                            <m:t>𝑁</m:t>
                          </m:r>
                          <m:r>
                            <a:rPr lang="ar-AE"/>
                            <m:t>−</m:t>
                          </m:r>
                          <m:r>
                            <a:rPr lang="ar-AE"/>
                            <m:t>1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Thus: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𝐶</m:t>
                      </m:r>
                      <m:r>
                        <a:rPr lang="en-IN"/>
                        <m:t>=</m:t>
                      </m:r>
                      <m:sSup>
                        <m:sSupPr>
                          <m:ctrlPr>
                            <a:rPr lang="ar-AE" i="1"/>
                          </m:ctrlPr>
                        </m:sSupPr>
                        <m:e>
                          <m:r>
                            <a:rPr lang="ar-AE" i="1"/>
                            <m:t>𝐹</m:t>
                          </m:r>
                        </m:e>
                        <m:sup>
                          <m:r>
                            <a:rPr lang="ar-AE"/>
                            <m:t>−</m:t>
                          </m:r>
                          <m:r>
                            <a:rPr lang="ar-AE"/>
                            <m:t>1</m:t>
                          </m:r>
                        </m:sup>
                      </m:sSup>
                      <m:r>
                        <a:rPr lang="ar-AE" i="1"/>
                        <m:t>𝐷𝐹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endParaRPr lang="en-IN" dirty="0"/>
              </a:p>
              <a:p>
                <a:pPr>
                  <a:buNone/>
                </a:pPr>
                <a:r>
                  <a:rPr lang="en-IN" dirty="0"/>
                  <a:t>Then: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grow m:val="on"/>
                              <m:subHide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i="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Define: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𝑗𝑘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These are DFT of first row.</a:t>
                </a:r>
              </a:p>
              <a:p>
                <a:pPr>
                  <a:buNone/>
                </a:pPr>
                <a:r>
                  <a:rPr lang="en-IN" dirty="0"/>
                  <a:t>Hence: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𝐶𝐹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diag</m:t>
                      </m:r>
                      <m:d>
                        <m:dPr>
                          <m:sepChr m:val=","/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..</m:t>
                          </m:r>
                          <m:sSub>
                            <m:sSubPr>
                              <m:ctrlPr>
                                <a:rPr lang="ar-AE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b="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945601-E475-D6ED-C521-35F0099F6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28" y="278424"/>
                <a:ext cx="6405418" cy="5815823"/>
              </a:xfrm>
              <a:prstGeom prst="rect">
                <a:avLst/>
              </a:prstGeom>
              <a:blipFill>
                <a:blip r:embed="rId2"/>
                <a:stretch>
                  <a:fillRect l="-856" t="-6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5AA7D5-49F4-650A-29EA-A3D7671EA03B}"/>
                  </a:ext>
                </a:extLst>
              </p:cNvPr>
              <p:cNvSpPr txBox="1"/>
              <p:nvPr/>
            </p:nvSpPr>
            <p:spPr>
              <a:xfrm>
                <a:off x="6844146" y="157685"/>
                <a:ext cx="5112327" cy="134280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Since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l-GR" i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l-GR" dirty="0"/>
              </a:p>
              <a:p>
                <a:pPr>
                  <a:buNone/>
                </a:pPr>
                <a:r>
                  <a:rPr lang="en-IN" dirty="0"/>
                  <a:t>Then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i="0"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𝐹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Because: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i="0"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i="0"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ar-AE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i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i="0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ar-AE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ar-AE" dirty="0"/>
              </a:p>
              <a:p>
                <a:r>
                  <a:rPr lang="en-IN" dirty="0"/>
                  <a:t>and so on. Hence Using associativity: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5AA7D5-49F4-650A-29EA-A3D7671EA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4146" y="157685"/>
                <a:ext cx="5112327" cy="1342803"/>
              </a:xfrm>
              <a:prstGeom prst="rect">
                <a:avLst/>
              </a:prstGeom>
              <a:blipFill>
                <a:blip r:embed="rId3"/>
                <a:stretch>
                  <a:fillRect l="-1074" t="-47273" b="-568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4F1C880-563E-E8DB-1AF2-F0C40FE04150}"/>
              </a:ext>
            </a:extLst>
          </p:cNvPr>
          <p:cNvCxnSpPr>
            <a:cxnSpLocks/>
          </p:cNvCxnSpPr>
          <p:nvPr/>
        </p:nvCxnSpPr>
        <p:spPr>
          <a:xfrm flipV="1">
            <a:off x="5920509" y="387927"/>
            <a:ext cx="849747" cy="221673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FC06918-41CF-4686-A33F-29EC98FFD2CD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96003" y="1200727"/>
            <a:ext cx="674253" cy="137876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1E2DD5E-377B-FA5E-FBCD-DB053325EC02}"/>
                  </a:ext>
                </a:extLst>
              </p:cNvPr>
              <p:cNvSpPr txBox="1"/>
              <p:nvPr/>
            </p:nvSpPr>
            <p:spPr>
              <a:xfrm>
                <a:off x="6350001" y="2197851"/>
                <a:ext cx="5606472" cy="337015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The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dirty="0"/>
                  <a:t>-</a:t>
                </a:r>
                <a:r>
                  <a:rPr lang="en-IN" dirty="0" err="1"/>
                  <a:t>th</a:t>
                </a:r>
                <a:r>
                  <a:rPr lang="en-IN" dirty="0"/>
                  <a:t> diagonal entry of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IN" dirty="0"/>
                  <a:t>becomes: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Factor: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𝑗𝑘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Now substitute: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We get: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𝑗𝑘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1E2DD5E-377B-FA5E-FBCD-DB053325E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1" y="2197851"/>
                <a:ext cx="5606472" cy="3370153"/>
              </a:xfrm>
              <a:prstGeom prst="rect">
                <a:avLst/>
              </a:prstGeom>
              <a:blipFill>
                <a:blip r:embed="rId4"/>
                <a:stretch>
                  <a:fillRect l="-979" t="-10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8EEAFE9B-2A26-3978-A773-E99C8282C35E}"/>
              </a:ext>
            </a:extLst>
          </p:cNvPr>
          <p:cNvCxnSpPr>
            <a:cxnSpLocks/>
          </p:cNvCxnSpPr>
          <p:nvPr/>
        </p:nvCxnSpPr>
        <p:spPr>
          <a:xfrm>
            <a:off x="5763491" y="2281171"/>
            <a:ext cx="669638" cy="253669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723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E10CE3-2C52-6849-A309-A23B24AC8777}"/>
                  </a:ext>
                </a:extLst>
              </p:cNvPr>
              <p:cNvSpPr txBox="1"/>
              <p:nvPr/>
            </p:nvSpPr>
            <p:spPr>
              <a:xfrm>
                <a:off x="921327" y="535954"/>
                <a:ext cx="6405418" cy="44637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Properties of Circulant Matrices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dirty="0"/>
                  <a:t> Closed under addition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dirty="0"/>
                  <a:t> Closed under multiplication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dirty="0"/>
                  <a:t> Commutative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400" dirty="0"/>
                  <a:t> Simultaneously diagonalizable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/>
                  <a:t>5. </a:t>
                </a:r>
                <a:r>
                  <a:rPr lang="en-IN" sz="2400" b="1" dirty="0"/>
                  <a:t>Determinant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/>
                        <m:t>det</m:t>
                      </m:r>
                      <m:r>
                        <a:rPr lang="en-IN"/>
                        <m:t>⁡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 i="1"/>
                            <m:t>𝐶</m:t>
                          </m:r>
                        </m:e>
                      </m:d>
                      <m:r>
                        <a:rPr lang="ar-AE"/>
                        <m:t>=</m:t>
                      </m:r>
                      <m:nary>
                        <m:naryPr>
                          <m:chr m:val="∏"/>
                          <m:grow m:val="on"/>
                          <m:ctrlPr>
                            <a:rPr lang="ar-AE" i="1"/>
                          </m:ctrlPr>
                        </m:naryPr>
                        <m:sub>
                          <m:r>
                            <a:rPr lang="ar-AE" i="1"/>
                            <m:t>𝑘</m:t>
                          </m:r>
                          <m:r>
                            <a:rPr lang="ar-AE"/>
                            <m:t>=</m:t>
                          </m:r>
                          <m:r>
                            <a:rPr lang="ar-AE"/>
                            <m:t>0</m:t>
                          </m:r>
                        </m:sub>
                        <m:sup>
                          <m:r>
                            <a:rPr lang="ar-AE" i="1"/>
                            <m:t>𝑁</m:t>
                          </m:r>
                          <m:r>
                            <a:rPr lang="ar-AE"/>
                            <m:t>−</m:t>
                          </m:r>
                          <m:r>
                            <a:rPr lang="ar-AE"/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ar-AE" i="1"/>
                              </m:ctrlPr>
                            </m:sSubPr>
                            <m:e>
                              <m:r>
                                <a:rPr lang="ar-AE" i="1"/>
                                <m:t>𝜆</m:t>
                              </m:r>
                            </m:e>
                            <m:sub>
                              <m:r>
                                <a:rPr lang="ar-AE" i="1"/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sz="2400" dirty="0"/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400" dirty="0"/>
                  <a:t>6. All circulant matrices share eigenvectors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E10CE3-2C52-6849-A309-A23B24AC8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327" y="535954"/>
                <a:ext cx="6405418" cy="4463722"/>
              </a:xfrm>
              <a:prstGeom prst="rect">
                <a:avLst/>
              </a:prstGeom>
              <a:blipFill>
                <a:blip r:embed="rId2"/>
                <a:stretch>
                  <a:fillRect l="-1522" t="-1093" b="-21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5296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887</Words>
  <Application>Microsoft Office PowerPoint</Application>
  <PresentationFormat>Widescreen</PresentationFormat>
  <Paragraphs>197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Google Sans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Anirban Tarfdar</dc:creator>
  <cp:lastModifiedBy>Anirban Tarfdar</cp:lastModifiedBy>
  <cp:revision>28</cp:revision>
  <dcterms:created xsi:type="dcterms:W3CDTF">2026-01-19T02:38:56Z</dcterms:created>
  <dcterms:modified xsi:type="dcterms:W3CDTF">2026-02-16T04:18:18Z</dcterms:modified>
</cp:coreProperties>
</file>