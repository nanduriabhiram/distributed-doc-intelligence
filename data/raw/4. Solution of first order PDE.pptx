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2695-B359-B329-AC70-12CE11DE6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C683C-140F-8C50-9ACA-00429FDC7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E85A-F7A9-7624-EFEB-5EC88476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619BA-E5D1-C71A-7692-82419F49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E948C-4411-4AF3-BE6F-8B5E714C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77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C13E-8D49-812E-19ED-2839E847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55D24-B968-81E2-5531-D1041315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1ED1E-15D4-E96C-0DFA-2B3EAD7D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E4056-1DEC-31DA-6FB4-E0514DA2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9B818-80BB-86A5-D6AE-A8879B73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2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3555-981C-3872-F59A-36FFC128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03118-48CB-DDA2-4CEC-4C8613AF3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2C425-7C1E-7621-A4AE-B1667CED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2BE7-C69C-A2E0-BDB3-1ADF508D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1763F-890F-1104-03C0-A635164D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8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5497-05A8-D35A-CBDF-0B7DDFD7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570F-DDA0-8BDB-2DE4-5D98AD7F0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6727B-1DE6-5D12-580C-5537AFD44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DBDE7-0EAA-FA6B-8358-EE6ED9A8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504BD-2351-7BBA-1E6F-2DE7A8C0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7AA42-598A-636C-106C-BB8D0577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2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F267-EE7D-102F-4A54-1A211395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B7299-6C33-65C4-C01A-44367D7C8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4C18A-B72F-0A89-9F24-E97175220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96534-0118-AD29-4413-A43505AF1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AF9BE-9BA4-89B9-E746-A0FEB4E3C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F9EEF-EC78-E2FC-5AA8-9148C23C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B3A50-CBB3-62BA-5BDF-4797BD72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27917-82BF-65BA-5C27-E7FACAAE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008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5C448-BE98-A51F-2302-6255AA4F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EE039-1BDB-1035-B61C-F8F411E7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4B0AF-FDB6-71E8-8229-B2005C60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8E6C9-47BA-A8FE-9CE6-DD8AF258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78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3192E-4041-962A-3594-3AC7D2ED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24E7B-7F70-DDDD-178A-1A30EFD5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7B078-A77F-BDD5-B96E-4A15594C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90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5BEB-E85B-A9D6-58F0-54ED62DEF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52EFF-2A00-2453-E3DF-32C265C64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2D2D4-274A-C5C2-50CE-D53F3FC0A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7EF59-6160-6955-BD92-E5918C63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46DB-D133-4734-565E-A80FAEF1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4C4B8-B4D6-3AE8-F6FE-BAB2802D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0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C9B1-512C-ABBC-893D-2FF0328B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57A71-5257-F459-2031-77637266F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CF8EF-9672-47E3-6F2C-E00066EBF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E69AC-829E-3F7E-30B7-E55F7EF1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A8019-57D7-33B5-41DA-38010140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8294A-687F-53C4-D67F-BC5F5EEA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1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5FB2-C084-A3EE-ADA2-E8B84AAC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63FD6-77A5-3409-C5F9-6A61D4C42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930C-0B27-2E40-62D9-A1B5246F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69EEF-CB4C-075A-47DF-EF3595A3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B6725-4FB8-E0F5-CB1E-C7C90B6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35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D28F4B-B17D-B52D-49A1-1EC8B1015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C64CA-2F02-C059-05C7-D0B5FF125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E4407-20B5-D091-6D62-B5E4C796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4FDA3-7279-6E02-4D62-65966E9D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1C1A9-FC81-C75A-0749-C73EC2DF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9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153E2-2F02-57EF-1B82-7915B8CB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561F-C692-7735-A45E-327913BE7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C60AB-6F88-C016-E859-75B83D8AC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743D6-4F59-40AB-A5E9-09C4FF6AA7F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14BE1-85B8-8A0B-7E77-AD5DA7604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6473-36C0-8F60-853D-CECC96D8B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616AA-FD55-44E8-A9DD-EB37E31C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8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695865"/>
            <a:ext cx="7772400" cy="2895599"/>
          </a:xfrm>
        </p:spPr>
        <p:txBody>
          <a:bodyPr/>
          <a:lstStyle/>
          <a:p>
            <a:r>
              <a:rPr lang="en-US" dirty="0"/>
              <a:t>PARTIAL DIFFERENTIAL EQUATIONS</a:t>
            </a:r>
            <a:br>
              <a:rPr lang="en-US" dirty="0"/>
            </a:br>
            <a:r>
              <a:rPr lang="en-US" dirty="0"/>
              <a:t>(Solution and Types)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BCD72-7E7A-527E-3357-E7AD83789661}"/>
              </a:ext>
            </a:extLst>
          </p:cNvPr>
          <p:cNvSpPr txBox="1"/>
          <p:nvPr/>
        </p:nvSpPr>
        <p:spPr>
          <a:xfrm>
            <a:off x="3286664" y="4123426"/>
            <a:ext cx="571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Dr. Anirban Tarafdar</a:t>
            </a:r>
          </a:p>
          <a:p>
            <a:pPr algn="ctr"/>
            <a:r>
              <a:rPr lang="en-IN" dirty="0"/>
              <a:t>Amrita Vishwa Vidyapeetham, Faridabad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838200"/>
            <a:ext cx="7848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Different Integrals of Partial Differential Equation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1.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Complete Integral (solution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</a:p>
          <a:p>
            <a:endParaRPr lang="en-US" sz="2800" dirty="0"/>
          </a:p>
          <a:p>
            <a:r>
              <a:rPr lang="en-US" sz="2800" dirty="0"/>
              <a:t>     Let   </a:t>
            </a:r>
          </a:p>
          <a:p>
            <a:r>
              <a:rPr lang="en-US" sz="2800" dirty="0"/>
              <a:t>                                                                          </a:t>
            </a:r>
          </a:p>
          <a:p>
            <a:r>
              <a:rPr lang="en-US" sz="2800" dirty="0"/>
              <a:t>     be the Partial Differential Equation. </a:t>
            </a:r>
          </a:p>
          <a:p>
            <a:r>
              <a:rPr lang="en-US" sz="2800" dirty="0"/>
              <a:t>     The complete integral of equation (1) is given    </a:t>
            </a:r>
          </a:p>
          <a:p>
            <a:r>
              <a:rPr lang="en-US" sz="2800" dirty="0"/>
              <a:t>     by                                                                               </a:t>
            </a:r>
          </a:p>
          <a:p>
            <a:r>
              <a:rPr lang="en-US" sz="2800" dirty="0"/>
              <a:t>                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200400" y="2971800"/>
          <a:ext cx="60721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19040" progId="Equation.3">
                  <p:embed/>
                </p:oleObj>
              </mc:Choice>
              <mc:Fallback>
                <p:oleObj name="Equation" r:id="rId2" imgW="2705040" imgH="419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71800"/>
                        <a:ext cx="60721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200400" y="5029200"/>
          <a:ext cx="41513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203040" progId="Equation.3">
                  <p:embed/>
                </p:oleObj>
              </mc:Choice>
              <mc:Fallback>
                <p:oleObj name="Equation" r:id="rId4" imgW="1638000" imgH="2030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029200"/>
                        <a:ext cx="415131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609602"/>
            <a:ext cx="8001000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2. Particular solution</a:t>
            </a:r>
          </a:p>
          <a:p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 solution obtained by giving particular values to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the arbitrary constants in a complete integral is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called particular solution .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       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3.Singular solution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eliminant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of a , b between                 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when it exists , is called singular solution 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                                                                  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3886201" y="3657600"/>
          <a:ext cx="27352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609480" progId="Equation.3">
                  <p:embed/>
                </p:oleObj>
              </mc:Choice>
              <mc:Fallback>
                <p:oleObj name="Equation" r:id="rId2" imgW="1079280" imgH="609480" progId="Equation.3">
                  <p:embed/>
                  <p:pic>
                    <p:nvPicPr>
                      <p:cNvPr id="23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3657600"/>
                        <a:ext cx="2735263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228601"/>
            <a:ext cx="7620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4. General solution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 equation (2)  assume an arbitrary relation   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of the form             . Then (2) becomes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343400" y="1219200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203040" progId="Equation.3">
                  <p:embed/>
                </p:oleObj>
              </mc:Choice>
              <mc:Fallback>
                <p:oleObj name="Equation" r:id="rId2" imgW="571320" imgH="203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19200"/>
                        <a:ext cx="10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667000" y="1981200"/>
          <a:ext cx="5029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203040" progId="Equation.3">
                  <p:embed/>
                </p:oleObj>
              </mc:Choice>
              <mc:Fallback>
                <p:oleObj name="Equation" r:id="rId4" imgW="1815840" imgH="203040" progId="Equation.3">
                  <p:embed/>
                  <p:pic>
                    <p:nvPicPr>
                      <p:cNvPr id="245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81200"/>
                        <a:ext cx="50292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1" y="2971800"/>
            <a:ext cx="595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Differentiating  (2) with respect to a,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67000" y="3733800"/>
          <a:ext cx="426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393480" progId="Equation.3">
                  <p:embed/>
                </p:oleObj>
              </mc:Choice>
              <mc:Fallback>
                <p:oleObj name="Equation" r:id="rId6" imgW="1701720" imgH="3934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33800"/>
                        <a:ext cx="42672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38400" y="4800601"/>
            <a:ext cx="602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The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eliminant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of (3) and (4) if exists,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is called general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1" y="533400"/>
            <a:ext cx="74622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Standard  types of first  order equations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TYPE-I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 Partial Differential equation of the form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038600" y="2057400"/>
          <a:ext cx="2057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03040" progId="Equation.3">
                  <p:embed/>
                </p:oleObj>
              </mc:Choice>
              <mc:Fallback>
                <p:oleObj name="Equation" r:id="rId2" imgW="723600" imgH="203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057400"/>
                        <a:ext cx="20574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362200" y="2667001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has   solution                              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                                        with  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657600" y="3048000"/>
          <a:ext cx="2743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03040" progId="Equation.3">
                  <p:embed/>
                </p:oleObj>
              </mc:Choice>
              <mc:Fallback>
                <p:oleObj name="Equation" r:id="rId4" imgW="901440" imgH="2030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48000"/>
                        <a:ext cx="27432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362200" y="4800600"/>
          <a:ext cx="3657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03040" progId="Equation.3">
                  <p:embed/>
                </p:oleObj>
              </mc:Choice>
              <mc:Fallback>
                <p:oleObj name="Equation" r:id="rId6" imgW="1307880" imgH="2030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00600"/>
                        <a:ext cx="3657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0" y="3886201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TYPE-II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Partial Differential Equation  of the form</a:t>
            </a:r>
          </a:p>
        </p:txBody>
      </p:sp>
      <p:sp>
        <p:nvSpPr>
          <p:cNvPr id="12" name="TextBox 11"/>
          <p:cNvSpPr txBox="1"/>
          <p:nvPr/>
        </p:nvSpPr>
        <p:spPr>
          <a:xfrm rot="10800000" flipV="1">
            <a:off x="1981200" y="483126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                                    is called </a:t>
            </a:r>
            <a:r>
              <a:rPr lang="en-US" sz="2800" b="1" i="1" dirty="0" err="1">
                <a:latin typeface="Arial" pitchFamily="34" charset="0"/>
                <a:cs typeface="Arial" pitchFamily="34" charset="0"/>
              </a:rPr>
              <a:t>Clairaut’s</a:t>
            </a:r>
            <a:r>
              <a:rPr lang="en-US" sz="2800" b="1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form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of </a:t>
            </a:r>
            <a:r>
              <a:rPr lang="en-US" sz="2800" i="1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 ,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it’s solution is given by </a:t>
            </a: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4267201" y="5867400"/>
          <a:ext cx="35163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203040" progId="Equation.3">
                  <p:embed/>
                </p:oleObj>
              </mc:Choice>
              <mc:Fallback>
                <p:oleObj name="Equation" r:id="rId8" imgW="1257120" imgH="203040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5867400"/>
                        <a:ext cx="35163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7543801" y="3124200"/>
          <a:ext cx="1984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03040" progId="Equation.3">
                  <p:embed/>
                </p:oleObj>
              </mc:Choice>
              <mc:Fallback>
                <p:oleObj name="Equation" r:id="rId10" imgW="698400" imgH="20304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3124200"/>
                        <a:ext cx="19843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5562600" y="762000"/>
          <a:ext cx="2667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03040" progId="Equation.3">
                  <p:embed/>
                </p:oleObj>
              </mc:Choice>
              <mc:Fallback>
                <p:oleObj name="Equation" r:id="rId2" imgW="850680" imgH="203040" progId="Equation.3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762000"/>
                        <a:ext cx="2667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33748" y="304801"/>
            <a:ext cx="362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TYPE-III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If the </a:t>
            </a:r>
            <a:r>
              <a:rPr lang="en-US" sz="2800" i="1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given by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5240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 assume that  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200400" y="2133600"/>
          <a:ext cx="62484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660240" progId="Equation.3">
                  <p:embed/>
                </p:oleObj>
              </mc:Choice>
              <mc:Fallback>
                <p:oleObj name="Equation" r:id="rId4" imgW="825480" imgH="6602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133600"/>
                        <a:ext cx="6248400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124200" y="381000"/>
          <a:ext cx="5181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38080" progId="Equation.3">
                  <p:embed/>
                </p:oleObj>
              </mc:Choice>
              <mc:Fallback>
                <p:oleObj name="Equation" r:id="rId2" imgW="1879560" imgH="83808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"/>
                        <a:ext cx="5181600" cy="266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124200" y="33528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26720" progId="Equation.3">
                  <p:embed/>
                </p:oleObj>
              </mc:Choice>
              <mc:Fallback>
                <p:oleObj name="Equation" r:id="rId4" imgW="139680" imgH="12672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52800"/>
                        <a:ext cx="457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1" y="3276600"/>
            <a:ext cx="5664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The given </a:t>
            </a:r>
            <a:r>
              <a:rPr lang="en-US" sz="2800" i="1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can be written as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505200" y="3886200"/>
          <a:ext cx="3200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419040" progId="Equation.3">
                  <p:embed/>
                </p:oleObj>
              </mc:Choice>
              <mc:Fallback>
                <p:oleObj name="Equation" r:id="rId6" imgW="1130040" imgH="4190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86200"/>
                        <a:ext cx="32004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0" y="4114801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also this can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     be integrated to get solution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7400" y="457201"/>
            <a:ext cx="8001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TYPE-IV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i="1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of the form                            can be solved by assuming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733800" y="2057400"/>
          <a:ext cx="410845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660240" progId="Equation.3">
                  <p:embed/>
                </p:oleObj>
              </mc:Choice>
              <mc:Fallback>
                <p:oleObj name="Equation" r:id="rId2" imgW="1612800" imgH="6602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057400"/>
                        <a:ext cx="4108450" cy="188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5715000" y="990600"/>
          <a:ext cx="266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203040" progId="Equation.3">
                  <p:embed/>
                </p:oleObj>
              </mc:Choice>
              <mc:Fallback>
                <p:oleObj name="Equation" r:id="rId4" imgW="1079280" imgH="203040" progId="Equation.3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90600"/>
                        <a:ext cx="2667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33801" y="3962400"/>
          <a:ext cx="46450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660240" progId="Equation.3">
                  <p:embed/>
                </p:oleObj>
              </mc:Choice>
              <mc:Fallback>
                <p:oleObj name="Equation" r:id="rId6" imgW="1638000" imgH="6602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3962400"/>
                        <a:ext cx="464502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6019800"/>
            <a:ext cx="710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Integrate the above equation to get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609600"/>
            <a:ext cx="6629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SOLVED PROBLEMS</a:t>
            </a: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295401"/>
            <a:ext cx="838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1.Solve the </a:t>
            </a:r>
            <a:r>
              <a:rPr lang="en-US" sz="2800" i="1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           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find the complete      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and singular solutions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800600" y="1219200"/>
          <a:ext cx="1600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228600" progId="Equation.3">
                  <p:embed/>
                </p:oleObj>
              </mc:Choice>
              <mc:Fallback>
                <p:oleObj name="Equation" r:id="rId2" imgW="634680" imgH="2286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219200"/>
                        <a:ext cx="16002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0" y="2667000"/>
            <a:ext cx="5532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Complete solution is given by 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4267200" y="4572000"/>
          <a:ext cx="30051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457200" progId="Equation.3">
                  <p:embed/>
                </p:oleObj>
              </mc:Choice>
              <mc:Fallback>
                <p:oleObj name="Equation" r:id="rId4" imgW="787320" imgH="457200" progId="Equation.3">
                  <p:embed/>
                  <p:pic>
                    <p:nvPicPr>
                      <p:cNvPr id="296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572000"/>
                        <a:ext cx="3005138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3429000" y="3733800"/>
          <a:ext cx="3048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203040" progId="Equation.3">
                  <p:embed/>
                </p:oleObj>
              </mc:Choice>
              <mc:Fallback>
                <p:oleObj name="Equation" r:id="rId6" imgW="901440" imgH="203040" progId="Equation.3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733800"/>
                        <a:ext cx="30480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0" y="480060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with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209801" y="457200"/>
          <a:ext cx="49958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228600" progId="Equation.3">
                  <p:embed/>
                </p:oleObj>
              </mc:Choice>
              <mc:Fallback>
                <p:oleObj name="Equation" r:id="rId2" imgW="1282680" imgH="228600" progId="Equation.3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457200"/>
                        <a:ext cx="49958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9800" y="1600200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d.w.r.to.  a  and  c then 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886200" y="2133600"/>
          <a:ext cx="35052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812520" progId="Equation.3">
                  <p:embed/>
                </p:oleObj>
              </mc:Choice>
              <mc:Fallback>
                <p:oleObj name="Equation" r:id="rId4" imgW="825480" imgH="81252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133600"/>
                        <a:ext cx="350520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 flipH="1">
            <a:off x="6553200" y="365760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Which is not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495800"/>
            <a:ext cx="5705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Hence there is no singular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5334001"/>
            <a:ext cx="7696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2.Solve the </a:t>
            </a:r>
            <a:r>
              <a:rPr lang="en-US" sz="2800" i="1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pde</a:t>
            </a:r>
            <a:r>
              <a:rPr lang="en-US" sz="2800" i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                      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find the  complete, general and singular solutions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876800" y="5334000"/>
          <a:ext cx="2895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203040" progId="Equation.3">
                  <p:embed/>
                </p:oleObj>
              </mc:Choice>
              <mc:Fallback>
                <p:oleObj name="Equation" r:id="rId6" imgW="901440" imgH="2030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34000"/>
                        <a:ext cx="28956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228601"/>
            <a:ext cx="5759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complete solution is given by</a:t>
            </a:r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3733800" y="1371600"/>
          <a:ext cx="335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03040" progId="Equation.3">
                  <p:embed/>
                </p:oleObj>
              </mc:Choice>
              <mc:Fallback>
                <p:oleObj name="Equation" r:id="rId2" imgW="901440" imgH="203040" progId="Equation.3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371600"/>
                        <a:ext cx="33528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95601" y="2514600"/>
            <a:ext cx="824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with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4267200" y="2362200"/>
          <a:ext cx="3200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609480" progId="Equation.3">
                  <p:embed/>
                </p:oleObj>
              </mc:Choice>
              <mc:Fallback>
                <p:oleObj name="Equation" r:id="rId4" imgW="850680" imgH="609480" progId="Equation.3">
                  <p:embed/>
                  <p:pic>
                    <p:nvPicPr>
                      <p:cNvPr id="317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362200"/>
                        <a:ext cx="3200400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801938" y="4419600"/>
          <a:ext cx="623411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393480" progId="Equation.3">
                  <p:embed/>
                </p:oleObj>
              </mc:Choice>
              <mc:Fallback>
                <p:oleObj name="Equation" r:id="rId6" imgW="1676160" imgH="393480" progId="Equation.3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419600"/>
                        <a:ext cx="6234112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2438401" y="381000"/>
          <a:ext cx="58642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838080" progId="Equation.3">
                  <p:embed/>
                </p:oleObj>
              </mc:Choice>
              <mc:Fallback>
                <p:oleObj name="Equation" r:id="rId2" imgW="1358640" imgH="838080" progId="Equation.3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381000"/>
                        <a:ext cx="5864225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62601" y="1981200"/>
            <a:ext cx="3286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no singular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2895600"/>
            <a:ext cx="596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To get general solution  assume that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43200" y="3429000"/>
          <a:ext cx="1600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Equation.3">
                  <p:embed/>
                </p:oleObj>
              </mc:Choice>
              <mc:Fallback>
                <p:oleObj name="Equation" r:id="rId4" imgW="545760" imgH="2030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16002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2620963" y="4800600"/>
          <a:ext cx="69707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393480" progId="Equation.3">
                  <p:embed/>
                </p:oleObj>
              </mc:Choice>
              <mc:Fallback>
                <p:oleObj name="Equation" r:id="rId6" imgW="1917360" imgH="393480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4800600"/>
                        <a:ext cx="6970712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95601" y="4191000"/>
            <a:ext cx="20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From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eq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308226" y="609600"/>
          <a:ext cx="729456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431640" progId="Equation.3">
                  <p:embed/>
                </p:oleObj>
              </mc:Choice>
              <mc:Fallback>
                <p:oleObj name="Equation" r:id="rId2" imgW="2006280" imgH="431640" progId="Equation.3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6" y="609600"/>
                        <a:ext cx="7294563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81200" y="1828800"/>
            <a:ext cx="7904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Eliminate from (2) and (3) to get general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5000" y="2971800"/>
            <a:ext cx="822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3.Solve the </a:t>
            </a:r>
            <a:r>
              <a:rPr lang="en-US" sz="3200" i="1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pde</a:t>
            </a:r>
            <a:r>
              <a:rPr lang="en-US" sz="3200" i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</a:p>
          <a:p>
            <a:r>
              <a:rPr lang="en-US" sz="32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find the complete and singular solutions</a:t>
            </a:r>
            <a:endParaRPr lang="en-US" sz="32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53000" y="2819400"/>
          <a:ext cx="38909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79360" progId="Equation.3">
                  <p:embed/>
                </p:oleObj>
              </mc:Choice>
              <mc:Fallback>
                <p:oleObj name="Equation" r:id="rId4" imgW="1612800" imgH="27936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819400"/>
                        <a:ext cx="389096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5000" y="4191000"/>
            <a:ext cx="8001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                               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              is in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Clairaut’s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form    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038600" y="4572000"/>
          <a:ext cx="38909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79360" progId="Equation.3">
                  <p:embed/>
                </p:oleObj>
              </mc:Choice>
              <mc:Fallback>
                <p:oleObj name="Equation" r:id="rId4" imgW="1612800" imgH="279360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72000"/>
                        <a:ext cx="389096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2095501" y="1260475"/>
          <a:ext cx="763587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266400" progId="Equation.3">
                  <p:embed/>
                </p:oleObj>
              </mc:Choice>
              <mc:Fallback>
                <p:oleObj name="Equation" r:id="rId2" imgW="2006280" imgH="266400" progId="Equation.3">
                  <p:embed/>
                  <p:pic>
                    <p:nvPicPr>
                      <p:cNvPr id="348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1" y="1260475"/>
                        <a:ext cx="7635875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0" y="381001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 complete solution of  (1)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2133601"/>
            <a:ext cx="4076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d.w.r.to  “a”   and  “b”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667000" y="3048001"/>
          <a:ext cx="7594600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914400" progId="Equation.3">
                  <p:embed/>
                </p:oleObj>
              </mc:Choice>
              <mc:Fallback>
                <p:oleObj name="Equation" r:id="rId4" imgW="2120760" imgH="9144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48001"/>
                        <a:ext cx="7594600" cy="305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2819400" y="762000"/>
          <a:ext cx="66040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1257120" progId="Equation.3">
                  <p:embed/>
                </p:oleObj>
              </mc:Choice>
              <mc:Fallback>
                <p:oleObj name="Equation" r:id="rId2" imgW="1993680" imgH="1257120" progId="Equation.3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62000"/>
                        <a:ext cx="6604000" cy="419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438400" y="304800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From (3)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286000" y="304800"/>
          <a:ext cx="7696200" cy="601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2082600" progId="Equation.3">
                  <p:embed/>
                </p:oleObj>
              </mc:Choice>
              <mc:Fallback>
                <p:oleObj name="Equation" r:id="rId2" imgW="2463480" imgH="2082600" progId="Equation.3">
                  <p:embed/>
                  <p:pic>
                    <p:nvPicPr>
                      <p:cNvPr id="368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04800"/>
                        <a:ext cx="7696200" cy="601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0" y="5715000"/>
            <a:ext cx="4586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is required singular solution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1" y="304801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4.Solve the </a:t>
            </a:r>
            <a:r>
              <a:rPr lang="en-US" sz="3200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pde</a:t>
            </a:r>
            <a:endParaRPr lang="en-US" sz="32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029200" y="381001"/>
          <a:ext cx="4421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03040" progId="Equation.3">
                  <p:embed/>
                </p:oleObj>
              </mc:Choice>
              <mc:Fallback>
                <p:oleObj name="Equation" r:id="rId2" imgW="1562040" imgH="203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81001"/>
                        <a:ext cx="4421188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 flipH="1">
            <a:off x="2057399" y="1295401"/>
            <a:ext cx="6553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       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3429000" y="1828800"/>
          <a:ext cx="5181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431640" progId="Equation.3">
                  <p:embed/>
                </p:oleObj>
              </mc:Choice>
              <mc:Fallback>
                <p:oleObj name="Equation" r:id="rId4" imgW="1562040" imgH="431640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28800"/>
                        <a:ext cx="51816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1" y="3429000"/>
            <a:ext cx="5604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Complete solution of above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pde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is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200400" y="4038600"/>
          <a:ext cx="594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203040" progId="Equation.3">
                  <p:embed/>
                </p:oleObj>
              </mc:Choice>
              <mc:Fallback>
                <p:oleObj name="Equation" r:id="rId6" imgW="1511280" imgH="203040" progId="Equation.3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5943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253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408</Words>
  <Application>Microsoft Office PowerPoint</Application>
  <PresentationFormat>Widescreen</PresentationFormat>
  <Paragraphs>93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Equation</vt:lpstr>
      <vt:lpstr>PARTIAL DIFFERENTIAL EQUATIONS (Solution and Types)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4</cp:revision>
  <dcterms:created xsi:type="dcterms:W3CDTF">2025-09-29T01:15:40Z</dcterms:created>
  <dcterms:modified xsi:type="dcterms:W3CDTF">2025-10-06T08:54:05Z</dcterms:modified>
</cp:coreProperties>
</file>