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4" r:id="rId1"/>
  </p:sldMasterIdLst>
  <p:notesMasterIdLst>
    <p:notesMasterId r:id="rId24"/>
  </p:notesMasterIdLst>
  <p:sldIdLst>
    <p:sldId id="256" r:id="rId2"/>
    <p:sldId id="257" r:id="rId3"/>
    <p:sldId id="272" r:id="rId4"/>
    <p:sldId id="258" r:id="rId5"/>
    <p:sldId id="259" r:id="rId6"/>
    <p:sldId id="260" r:id="rId7"/>
    <p:sldId id="261" r:id="rId8"/>
    <p:sldId id="262" r:id="rId9"/>
    <p:sldId id="273" r:id="rId10"/>
    <p:sldId id="274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5" r:id="rId21"/>
    <p:sldId id="276" r:id="rId22"/>
    <p:sldId id="277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040B9"/>
    <a:srgbClr val="329EA6"/>
    <a:srgbClr val="145BA1"/>
    <a:srgbClr val="C21616"/>
    <a:srgbClr val="2866A4"/>
    <a:srgbClr val="0000FF"/>
    <a:srgbClr val="D00000"/>
    <a:srgbClr val="0C559E"/>
    <a:srgbClr val="7A189C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651" autoAdjust="0"/>
    <p:restoredTop sz="91972" autoAdjust="0"/>
  </p:normalViewPr>
  <p:slideViewPr>
    <p:cSldViewPr snapToGrid="0">
      <p:cViewPr>
        <p:scale>
          <a:sx n="75" d="100"/>
          <a:sy n="75" d="100"/>
        </p:scale>
        <p:origin x="1128" y="202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bhiram Nanduri" userId="2f7414286f18a922" providerId="LiveId" clId="{61C2A58D-F82B-4BE1-96D4-DD701EAC5DB2}"/>
    <pc:docChg chg="undo custSel modSld">
      <pc:chgData name="Abhiram Nanduri" userId="2f7414286f18a922" providerId="LiveId" clId="{61C2A58D-F82B-4BE1-96D4-DD701EAC5DB2}" dt="2025-12-03T17:28:45.404" v="10" actId="1036"/>
      <pc:docMkLst>
        <pc:docMk/>
      </pc:docMkLst>
      <pc:sldChg chg="modSp mod">
        <pc:chgData name="Abhiram Nanduri" userId="2f7414286f18a922" providerId="LiveId" clId="{61C2A58D-F82B-4BE1-96D4-DD701EAC5DB2}" dt="2025-12-03T17:28:45.404" v="10" actId="1036"/>
        <pc:sldMkLst>
          <pc:docMk/>
          <pc:sldMk cId="3687238268" sldId="273"/>
        </pc:sldMkLst>
        <pc:spChg chg="mod">
          <ac:chgData name="Abhiram Nanduri" userId="2f7414286f18a922" providerId="LiveId" clId="{61C2A58D-F82B-4BE1-96D4-DD701EAC5DB2}" dt="2025-12-03T17:28:45.404" v="10" actId="1036"/>
          <ac:spMkLst>
            <pc:docMk/>
            <pc:sldMk cId="3687238268" sldId="273"/>
            <ac:spMk id="7" creationId="{5CBD4185-D411-FACA-7577-85E2D4B7040F}"/>
          </ac:spMkLst>
        </pc:spChg>
        <pc:picChg chg="mod">
          <ac:chgData name="Abhiram Nanduri" userId="2f7414286f18a922" providerId="LiveId" clId="{61C2A58D-F82B-4BE1-96D4-DD701EAC5DB2}" dt="2025-12-03T17:28:26.355" v="6" actId="1076"/>
          <ac:picMkLst>
            <pc:docMk/>
            <pc:sldMk cId="3687238268" sldId="273"/>
            <ac:picMk id="3" creationId="{54B166D0-D647-E81E-46D1-193FBFCD5E1A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62D038-005B-4834-A350-82B2F8D54E0E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0055DA-399B-4484-A094-610C877C1D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21642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033821-597E-4B4F-8572-5DA1CB1835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8640" y="950976"/>
            <a:ext cx="6509385" cy="3556730"/>
          </a:xfrm>
        </p:spPr>
        <p:txBody>
          <a:bodyPr anchor="t">
            <a:normAutofit/>
          </a:bodyPr>
          <a:lstStyle>
            <a:lvl1pPr algn="l"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C38D70-8FF5-47D7-A0DD-087A227BC9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6072" y="4572000"/>
            <a:ext cx="6481953" cy="1485900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B5B485-516D-48B7-AF1D-69AEEA351A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614DDB-2831-4FF8-9DA7-0449659D7A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F178F6-65BA-4964-80E2-DB6EA3355F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23845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DA45AC-24E0-45A1-90C3-7BF96C3FC7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2018E1-7CA3-4B5E-9683-554FDFC63E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95D32D-7150-4DF2-B992-A2B4F5605D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D03F0C-FCA3-464C-B6ED-864DB51E7D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C41006-DAE1-4326-B1AE-FD527A653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61912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73B84-BE32-464A-A765-975C21B5CF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923" y="952500"/>
            <a:ext cx="6678695" cy="3962398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0145C2-97CF-4887-904A-8ADC80525A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043860" y="952501"/>
            <a:ext cx="3500440" cy="396239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524559-DA32-4398-A8EE-EED2469D63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967BE1-F1AC-4732-B52E-1C7D63DEF8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A13C03-DDF0-48C6-B1BF-D28875F82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44093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46F411-42B3-4A17-BE7E-861BE7E7DC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8E0603-F4C0-40AC-A53E-40449D53D7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48640" y="2029968"/>
            <a:ext cx="5281506" cy="41481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BC5634-2887-4182-A9BE-B382357D4F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57928" y="2029968"/>
            <a:ext cx="5281506" cy="41481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6B6E74-28E1-4684-B515-4265ED7B1E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D375EA-A8F8-485D-A82F-CD85D4C9E1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D9E4B0-F5E3-407F-A548-B616E77498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05624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82161A-7627-4D64-AF08-10D702AFE2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2659" y="950976"/>
            <a:ext cx="10802729" cy="88179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3B6884-07D8-4CC4-BE99-516F1433BE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2918" y="1832772"/>
            <a:ext cx="5281507" cy="742638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13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82C638-B5A8-4F8C-85AE-33BEAF54C0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48640" y="2600531"/>
            <a:ext cx="5281507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40D1933-A703-4BDC-A697-728E899EEDE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57927" y="1832772"/>
            <a:ext cx="5283202" cy="742638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13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5925DBD-4D51-4A2D-B1E4-6D094CD1E8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57927" y="2600531"/>
            <a:ext cx="528320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62636E2-E26E-42F7-9E05-3F756C7D17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6F7281B-0E5C-421E-AFFE-775F57C5DD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E483462-E410-4DC7-AE53-27AABECFE6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89047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ACFA68-31B5-48C5-929A-842FDF0FD8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95A2600-419E-46E9-946F-FBDEDBA1D4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385F9A9-98FF-4653-A570-9F351A1ABD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D44457-95F1-4B15-A647-B14F91F7A6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18115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519EABA-1008-4E49-9184-3A946ECD71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05C3BD0-269D-4127-B5F7-84B0D8A74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623447-C740-4495-93EC-7252B1B929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76411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2D1155-71E7-4F0A-BB62-933743CF6E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52500"/>
            <a:ext cx="4124084" cy="2362200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B6D44-5A1E-4176-8766-4B81E045D5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00700" y="952500"/>
            <a:ext cx="5934074" cy="49085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810EC6-11DD-4B5D-A2D2-4DCF73E583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48641" y="3429000"/>
            <a:ext cx="4124084" cy="243998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5DFCDF-666E-4DB4-A1C0-79D40A0070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A69AC-15E6-4B19-A59D-DBDBE923DB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79F0EE-74DE-4FEC-81E9-E40D533978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3247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A3CA4F-6508-4AD6-8367-A0288D888D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1" y="952500"/>
            <a:ext cx="4124084" cy="2397918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906BFCD-2F93-4D99-89EA-F0359FB782B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522119" y="987425"/>
            <a:ext cx="6022181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F4C1F7-1272-41C8-8C29-676316D02D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48641" y="3429000"/>
            <a:ext cx="4124084" cy="24399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CDD491-0FE6-4B42-AAA6-B698E46F1A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58F83F-4E9F-4607-A69B-DFC932560A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324484-C6E4-4D8A-BDAB-09B1FBB436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36255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307F1B-6F93-4E6E-8C8C-D01A9DEB6A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7D2968-FE85-492F-A77B-1771F4EAA8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48641" y="2028826"/>
            <a:ext cx="11094348" cy="4029074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592DA2-B1FB-45C6-B10C-141AC2BFB3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CA6D78-CE47-4CA7-B3B6-AFAE5175F6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EDC5C0-8780-4819-A8FC-32A0141D27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95842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7B8F9A8-05F2-4F79-B689-1FA2F31965D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472612" y="952499"/>
            <a:ext cx="2207417" cy="5105401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5D615BC-61CD-4D59-8E85-B59072E2B2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57924" y="952499"/>
            <a:ext cx="8914688" cy="5105401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F81C46-8CC0-4B79-AF2E-84C86C6A8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A76817-4D29-4888-B68C-A35F5A069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A0B21A-30A9-4173-9E3F-D985B86A35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33053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F90E843-90BA-4A7D-8F9F-FFE49387A6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39" y="950976"/>
            <a:ext cx="10995659" cy="107784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F7CA62-9B55-49B4-94B6-EAAF7D5AE0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8641" y="2028826"/>
            <a:ext cx="10995660" cy="40290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3CEA03-AAFA-4A69-A3DA-1DD0EF273F1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88729" y="6449535"/>
            <a:ext cx="2983095" cy="308453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4CDE23C7-78A4-413A-A84B-93D4CC0A9EB1}" type="datetimeFigureOut">
              <a:rPr lang="en-US" smtClean="0"/>
              <a:pPr/>
              <a:t>12/3/2025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E97F43-1ECB-4FC2-863E-26CEE24A00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57924" y="173776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C7F9D8-4B2E-4871-B2AE-EFC06BE231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10710" y="6449535"/>
            <a:ext cx="932279" cy="308453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6CB39E08-E0E5-4B1A-8F7D-08FE7678A3B6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62919E4-C488-4107-9EF1-66152F848008}"/>
              </a:ext>
            </a:extLst>
          </p:cNvPr>
          <p:cNvCxnSpPr>
            <a:cxnSpLocks/>
          </p:cNvCxnSpPr>
          <p:nvPr/>
        </p:nvCxnSpPr>
        <p:spPr>
          <a:xfrm>
            <a:off x="643467" y="678719"/>
            <a:ext cx="10905066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BF79732-4088-424C-A653-4534E4389443}"/>
              </a:ext>
            </a:extLst>
          </p:cNvPr>
          <p:cNvCxnSpPr>
            <a:cxnSpLocks/>
          </p:cNvCxnSpPr>
          <p:nvPr/>
        </p:nvCxnSpPr>
        <p:spPr>
          <a:xfrm>
            <a:off x="643467" y="6309695"/>
            <a:ext cx="10905066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520594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  <p:sldLayoutId id="2147483720" r:id="rId2"/>
    <p:sldLayoutId id="2147483721" r:id="rId3"/>
    <p:sldLayoutId id="2147483722" r:id="rId4"/>
    <p:sldLayoutId id="2147483723" r:id="rId5"/>
    <p:sldLayoutId id="2147483717" r:id="rId6"/>
    <p:sldLayoutId id="2147483713" r:id="rId7"/>
    <p:sldLayoutId id="2147483714" r:id="rId8"/>
    <p:sldLayoutId id="2147483715" r:id="rId9"/>
    <p:sldLayoutId id="2147483716" r:id="rId10"/>
    <p:sldLayoutId id="2147483718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3444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60.png"/><Relationship Id="rId5" Type="http://schemas.openxmlformats.org/officeDocument/2006/relationships/image" Target="../media/image150.png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0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7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39.png"/><Relationship Id="rId7" Type="http://schemas.openxmlformats.org/officeDocument/2006/relationships/image" Target="../media/image43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10" Type="http://schemas.openxmlformats.org/officeDocument/2006/relationships/image" Target="../media/image46.png"/><Relationship Id="rId4" Type="http://schemas.openxmlformats.org/officeDocument/2006/relationships/image" Target="../media/image40.png"/><Relationship Id="rId9" Type="http://schemas.openxmlformats.org/officeDocument/2006/relationships/image" Target="../media/image45.png"/></Relationships>
</file>

<file path=ppt/slides/_rels/slide20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13" Type="http://schemas.openxmlformats.org/officeDocument/2006/relationships/image" Target="../media/image61.png"/><Relationship Id="rId18" Type="http://schemas.openxmlformats.org/officeDocument/2006/relationships/image" Target="../media/image66.png"/><Relationship Id="rId3" Type="http://schemas.microsoft.com/office/2007/relationships/hdphoto" Target="../media/hdphoto6.wdp"/><Relationship Id="rId7" Type="http://schemas.openxmlformats.org/officeDocument/2006/relationships/image" Target="../media/image55.png"/><Relationship Id="rId12" Type="http://schemas.openxmlformats.org/officeDocument/2006/relationships/image" Target="../media/image60.png"/><Relationship Id="rId17" Type="http://schemas.openxmlformats.org/officeDocument/2006/relationships/image" Target="../media/image65.png"/><Relationship Id="rId2" Type="http://schemas.openxmlformats.org/officeDocument/2006/relationships/image" Target="../media/image52.png"/><Relationship Id="rId16" Type="http://schemas.openxmlformats.org/officeDocument/2006/relationships/image" Target="../media/image6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4.png"/><Relationship Id="rId11" Type="http://schemas.openxmlformats.org/officeDocument/2006/relationships/image" Target="../media/image59.png"/><Relationship Id="rId5" Type="http://schemas.microsoft.com/office/2007/relationships/hdphoto" Target="../media/hdphoto7.wdp"/><Relationship Id="rId15" Type="http://schemas.openxmlformats.org/officeDocument/2006/relationships/image" Target="../media/image63.png"/><Relationship Id="rId10" Type="http://schemas.openxmlformats.org/officeDocument/2006/relationships/image" Target="../media/image58.png"/><Relationship Id="rId4" Type="http://schemas.openxmlformats.org/officeDocument/2006/relationships/image" Target="../media/image53.png"/><Relationship Id="rId9" Type="http://schemas.openxmlformats.org/officeDocument/2006/relationships/image" Target="../media/image57.png"/><Relationship Id="rId14" Type="http://schemas.openxmlformats.org/officeDocument/2006/relationships/image" Target="../media/image6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D18051F-0BA4-4C80-832C-1845011B9C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Neon laser lights aligned to form a triangle">
            <a:extLst>
              <a:ext uri="{FF2B5EF4-FFF2-40B4-BE49-F238E27FC236}">
                <a16:creationId xmlns:a16="http://schemas.microsoft.com/office/drawing/2014/main" id="{7383B429-9DD0-4417-506D-AE8D4A33827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8915" b="1085"/>
          <a:stretch/>
        </p:blipFill>
        <p:spPr>
          <a:xfrm>
            <a:off x="20" y="10"/>
            <a:ext cx="12191981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13F26D5C-77E9-4A8D-95F0-1635BAD126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4961205" y="-372795"/>
            <a:ext cx="6857999" cy="7603591"/>
          </a:xfrm>
          <a:prstGeom prst="rect">
            <a:avLst/>
          </a:prstGeom>
          <a:gradFill flip="none" rotWithShape="1">
            <a:gsLst>
              <a:gs pos="3000">
                <a:srgbClr val="000000">
                  <a:alpha val="0"/>
                </a:srgbClr>
              </a:gs>
              <a:gs pos="73000">
                <a:srgbClr val="000000">
                  <a:alpha val="48000"/>
                </a:srgbClr>
              </a:gs>
              <a:gs pos="100000">
                <a:srgbClr val="000000">
                  <a:alpha val="58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809C5C2-748E-C2C2-D044-D7643CF36E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43699" y="952500"/>
            <a:ext cx="4854071" cy="3893582"/>
          </a:xfrm>
        </p:spPr>
        <p:txBody>
          <a:bodyPr>
            <a:normAutofit fontScale="90000"/>
          </a:bodyPr>
          <a:lstStyle/>
          <a:p>
            <a:pPr algn="r">
              <a:lnSpc>
                <a:spcPct val="100000"/>
              </a:lnSpc>
            </a:pPr>
            <a:r>
              <a:rPr lang="en-US" sz="3900" dirty="0">
                <a:solidFill>
                  <a:schemeClr val="bg1"/>
                </a:solidFill>
              </a:rPr>
              <a:t>System Models and Dynamical Response</a:t>
            </a:r>
            <a:br>
              <a:rPr lang="en-US" sz="27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br>
              <a:rPr lang="en-US" sz="27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IN" sz="27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23AID201</a:t>
            </a:r>
            <a:br>
              <a:rPr lang="en-US" sz="27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br>
              <a:rPr lang="en-US" sz="27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27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Lecture 4 </a:t>
            </a:r>
            <a:br>
              <a:rPr lang="en-US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br>
              <a:rPr lang="en-US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br>
              <a:rPr lang="en-US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endParaRPr lang="en-IN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B90C54-5886-D32E-9251-FED81A9D84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28342" y="4967463"/>
            <a:ext cx="8520191" cy="1211818"/>
          </a:xfrm>
        </p:spPr>
        <p:txBody>
          <a:bodyPr anchor="b">
            <a:normAutofit/>
          </a:bodyPr>
          <a:lstStyle/>
          <a:p>
            <a:pPr algn="r"/>
            <a:r>
              <a:rPr lang="en-US" sz="25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Dr. Mrittunjoy Guha Majumdar</a:t>
            </a:r>
          </a:p>
          <a:p>
            <a:pPr algn="r"/>
            <a:r>
              <a:rPr lang="en-US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School of Artificial Intelligence, Amrita Vishwavidyapeetham Delhi NCR</a:t>
            </a:r>
            <a:endParaRPr lang="en-IN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632DC5A-0728-490F-8655-6B43778270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3467" y="678719"/>
            <a:ext cx="10905066" cy="0"/>
          </a:xfrm>
          <a:prstGeom prst="line">
            <a:avLst/>
          </a:prstGeom>
          <a:ln w="381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8BB1F6D-CF9C-422D-9324-C46415BB9D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3467" y="6309695"/>
            <a:ext cx="10905066" cy="0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107541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7255D86-7A38-E598-5010-A81D8344921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3931BEB-6327-CC38-99A4-8AF6E44BE5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6914" y="682881"/>
            <a:ext cx="9318171" cy="347438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4A34C4B-2808-2E04-9FB5-E4C9ABB42C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6914" y="4063585"/>
            <a:ext cx="9318171" cy="2111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36175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905A260-F550-62F4-ACCE-60D46326C57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3F7B87B-93F5-0AAA-FED2-0FE31C6FC4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754151" y="350873"/>
            <a:ext cx="6683697" cy="6156254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F10EE48E-BC7A-4CF1-24D6-6E6BE41BD9E6}"/>
              </a:ext>
            </a:extLst>
          </p:cNvPr>
          <p:cNvSpPr/>
          <p:nvPr/>
        </p:nvSpPr>
        <p:spPr>
          <a:xfrm>
            <a:off x="3605349" y="350873"/>
            <a:ext cx="2412274" cy="31968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E0EC2E1-7BD0-18E1-2ED2-F50CAB8DBAD2}"/>
              </a:ext>
            </a:extLst>
          </p:cNvPr>
          <p:cNvSpPr/>
          <p:nvPr/>
        </p:nvSpPr>
        <p:spPr>
          <a:xfrm>
            <a:off x="8747761" y="1957604"/>
            <a:ext cx="2412274" cy="31968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FC0C30B-98E6-2708-4762-4230C2A655B4}"/>
              </a:ext>
            </a:extLst>
          </p:cNvPr>
          <p:cNvSpPr/>
          <p:nvPr/>
        </p:nvSpPr>
        <p:spPr>
          <a:xfrm>
            <a:off x="8747761" y="2253695"/>
            <a:ext cx="2412274" cy="31968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1C6FFCF-AD75-F192-C972-7729150556CC}"/>
              </a:ext>
            </a:extLst>
          </p:cNvPr>
          <p:cNvSpPr/>
          <p:nvPr/>
        </p:nvSpPr>
        <p:spPr>
          <a:xfrm>
            <a:off x="8630195" y="3269156"/>
            <a:ext cx="2412274" cy="31968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50C7B38-C168-3C7B-6EC4-B4A1958C0A49}"/>
              </a:ext>
            </a:extLst>
          </p:cNvPr>
          <p:cNvSpPr/>
          <p:nvPr/>
        </p:nvSpPr>
        <p:spPr>
          <a:xfrm>
            <a:off x="8747761" y="3444592"/>
            <a:ext cx="2412274" cy="31968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11400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86F0B50-CA71-C674-AE63-4C259A84103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9F9799C-D887-7587-16EF-73BDAEA237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8170" y="327352"/>
            <a:ext cx="10995659" cy="1077849"/>
          </a:xfrm>
          <a:solidFill>
            <a:schemeClr val="bg1"/>
          </a:solidFill>
        </p:spPr>
        <p:txBody>
          <a:bodyPr/>
          <a:lstStyle/>
          <a:p>
            <a:r>
              <a:rPr lang="en-US" dirty="0"/>
              <a:t>Behavioural Models</a:t>
            </a:r>
            <a:endParaRPr lang="en-IN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27BE7AC-A087-8146-927D-917742977EA7}"/>
              </a:ext>
            </a:extLst>
          </p:cNvPr>
          <p:cNvSpPr/>
          <p:nvPr/>
        </p:nvSpPr>
        <p:spPr>
          <a:xfrm>
            <a:off x="3599805" y="2033202"/>
            <a:ext cx="6361611" cy="35443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D4909F2-3C61-0C87-C859-4D7534DDFCB8}"/>
              </a:ext>
            </a:extLst>
          </p:cNvPr>
          <p:cNvSpPr/>
          <p:nvPr/>
        </p:nvSpPr>
        <p:spPr>
          <a:xfrm>
            <a:off x="5714355" y="3877381"/>
            <a:ext cx="6361611" cy="35443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1337B24-AFD7-4846-A3D2-5B68F9D4218B}"/>
              </a:ext>
            </a:extLst>
          </p:cNvPr>
          <p:cNvSpPr/>
          <p:nvPr/>
        </p:nvSpPr>
        <p:spPr>
          <a:xfrm>
            <a:off x="1694037" y="6311998"/>
            <a:ext cx="6361611" cy="35443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B2BB198-0E4A-D33E-47A9-342B5C204F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7854" y="1066284"/>
            <a:ext cx="8283389" cy="313742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0004AA7-E8E4-6880-8B2E-06D454D231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7854" y="4202844"/>
            <a:ext cx="8283390" cy="2217371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3EE97BDA-6353-0E70-5CDE-442ACC00F015}"/>
              </a:ext>
            </a:extLst>
          </p:cNvPr>
          <p:cNvSpPr/>
          <p:nvPr/>
        </p:nvSpPr>
        <p:spPr>
          <a:xfrm>
            <a:off x="9098884" y="3410620"/>
            <a:ext cx="6361611" cy="35443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2DBCB45-2317-E962-7FD2-F6502C5A05DC}"/>
              </a:ext>
            </a:extLst>
          </p:cNvPr>
          <p:cNvSpPr/>
          <p:nvPr/>
        </p:nvSpPr>
        <p:spPr>
          <a:xfrm>
            <a:off x="5392811" y="3753778"/>
            <a:ext cx="6361611" cy="35443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F7AC6D8-C321-C46C-DDF0-FE222EF00C3B}"/>
              </a:ext>
            </a:extLst>
          </p:cNvPr>
          <p:cNvSpPr/>
          <p:nvPr/>
        </p:nvSpPr>
        <p:spPr>
          <a:xfrm>
            <a:off x="8776155" y="5369752"/>
            <a:ext cx="6361611" cy="35443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0F57660-A4F1-E610-21DD-F325623BB28B}"/>
              </a:ext>
            </a:extLst>
          </p:cNvPr>
          <p:cNvSpPr/>
          <p:nvPr/>
        </p:nvSpPr>
        <p:spPr>
          <a:xfrm>
            <a:off x="9098884" y="5703941"/>
            <a:ext cx="6361611" cy="35443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AC998D3-2A9F-D862-3026-C26D13E4B8DC}"/>
              </a:ext>
            </a:extLst>
          </p:cNvPr>
          <p:cNvSpPr/>
          <p:nvPr/>
        </p:nvSpPr>
        <p:spPr>
          <a:xfrm>
            <a:off x="418999" y="6053468"/>
            <a:ext cx="6361611" cy="35443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26520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A132734-4F55-AF85-7AAF-EB30A54CAF0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31938A3-BC33-A0EF-3AD1-DA47034B7E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5988" y="2486052"/>
            <a:ext cx="9980023" cy="1885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87414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4EEF5E3-D5E3-AF95-5387-CB5A4FC0B5A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66A743-4625-40FC-AE51-6620275BB6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651" y="873788"/>
            <a:ext cx="10995659" cy="1077849"/>
          </a:xfrm>
          <a:solidFill>
            <a:schemeClr val="bg1"/>
          </a:solidFill>
        </p:spPr>
        <p:txBody>
          <a:bodyPr/>
          <a:lstStyle/>
          <a:p>
            <a:r>
              <a:rPr lang="en-US" dirty="0"/>
              <a:t>Input-Output Models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402B5E1-72AA-0805-8C85-695BB6B21D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795" y="1674417"/>
            <a:ext cx="11043179" cy="471892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4F8BDB8E-012A-7441-0BB4-CD95F177123E}"/>
              </a:ext>
            </a:extLst>
          </p:cNvPr>
          <p:cNvSpPr/>
          <p:nvPr/>
        </p:nvSpPr>
        <p:spPr>
          <a:xfrm>
            <a:off x="9625989" y="2575046"/>
            <a:ext cx="6361611" cy="35443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96A6971-E7D3-AD2D-1678-3EE6E4BD6FE4}"/>
              </a:ext>
            </a:extLst>
          </p:cNvPr>
          <p:cNvSpPr/>
          <p:nvPr/>
        </p:nvSpPr>
        <p:spPr>
          <a:xfrm>
            <a:off x="9429255" y="4697243"/>
            <a:ext cx="6361611" cy="35443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F53E68D-DDD7-4F48-679C-4C3F83AE8652}"/>
              </a:ext>
            </a:extLst>
          </p:cNvPr>
          <p:cNvSpPr/>
          <p:nvPr/>
        </p:nvSpPr>
        <p:spPr>
          <a:xfrm>
            <a:off x="5296363" y="5611405"/>
            <a:ext cx="6361611" cy="35443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3B92BE6-1979-87FD-B9BC-AB5B7FFDAEB8}"/>
              </a:ext>
            </a:extLst>
          </p:cNvPr>
          <p:cNvSpPr/>
          <p:nvPr/>
        </p:nvSpPr>
        <p:spPr>
          <a:xfrm>
            <a:off x="64144" y="5965844"/>
            <a:ext cx="6361611" cy="35443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10778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425EB11-476A-E838-E7C1-92230E65EB7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4CE971E-5849-F339-7D26-A22591BD16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7584" y="548635"/>
            <a:ext cx="10196831" cy="397954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A235324-2D61-67B3-103B-C6D21B9EBF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7584" y="4661728"/>
            <a:ext cx="10196831" cy="177571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13890F4A-F32F-40C4-0F67-C23E1BA97E50}"/>
              </a:ext>
            </a:extLst>
          </p:cNvPr>
          <p:cNvSpPr/>
          <p:nvPr/>
        </p:nvSpPr>
        <p:spPr>
          <a:xfrm>
            <a:off x="10324406" y="2080953"/>
            <a:ext cx="739833" cy="156002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4B429EF-7583-3D7B-776D-2ADD7AECF481}"/>
              </a:ext>
            </a:extLst>
          </p:cNvPr>
          <p:cNvSpPr/>
          <p:nvPr/>
        </p:nvSpPr>
        <p:spPr>
          <a:xfrm>
            <a:off x="10324406" y="5867712"/>
            <a:ext cx="870009" cy="156002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37369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C6E5A8C-9B0F-B5CC-D4E4-84A3B339214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4592594-CCCB-6AC5-435B-D865C3A1E2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2232" y="1194857"/>
            <a:ext cx="10407535" cy="4468286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85F633CB-99A3-5447-AB9B-54D274A12612}"/>
              </a:ext>
            </a:extLst>
          </p:cNvPr>
          <p:cNvSpPr/>
          <p:nvPr/>
        </p:nvSpPr>
        <p:spPr>
          <a:xfrm>
            <a:off x="10440870" y="4471174"/>
            <a:ext cx="870009" cy="156002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0804B29-3229-4A5A-5ECE-28FDEA79C612}"/>
              </a:ext>
            </a:extLst>
          </p:cNvPr>
          <p:cNvSpPr/>
          <p:nvPr/>
        </p:nvSpPr>
        <p:spPr>
          <a:xfrm>
            <a:off x="10440870" y="2648989"/>
            <a:ext cx="870009" cy="99538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7404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CBD4185-D411-FACA-7577-85E2D4B7040F}"/>
              </a:ext>
            </a:extLst>
          </p:cNvPr>
          <p:cNvSpPr/>
          <p:nvPr/>
        </p:nvSpPr>
        <p:spPr>
          <a:xfrm>
            <a:off x="0" y="4064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4B166D0-D647-E81E-46D1-193FBFCD5E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8713" y="204675"/>
            <a:ext cx="8294574" cy="644864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51FD08F-CCEA-59EB-F7F0-7C292497D27A}"/>
              </a:ext>
            </a:extLst>
          </p:cNvPr>
          <p:cNvSpPr txBox="1"/>
          <p:nvPr/>
        </p:nvSpPr>
        <p:spPr>
          <a:xfrm>
            <a:off x="1922587" y="195966"/>
            <a:ext cx="1273458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chemeClr val="accent3">
                    <a:lumMod val="75000"/>
                  </a:schemeClr>
                </a:solidFill>
                <a:latin typeface="+mj-lt"/>
              </a:rPr>
              <a:t>Exercise 1.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66E029D-35A6-8182-4186-759F771E209E}"/>
              </a:ext>
            </a:extLst>
          </p:cNvPr>
          <p:cNvSpPr txBox="1"/>
          <p:nvPr/>
        </p:nvSpPr>
        <p:spPr>
          <a:xfrm>
            <a:off x="1948714" y="1750447"/>
            <a:ext cx="1273458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chemeClr val="accent3">
                    <a:lumMod val="75000"/>
                  </a:schemeClr>
                </a:solidFill>
                <a:latin typeface="+mj-lt"/>
              </a:rPr>
              <a:t>Exercise 2.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EF46125-E191-9C7C-145E-FF8F6FCEE6BF}"/>
              </a:ext>
            </a:extLst>
          </p:cNvPr>
          <p:cNvSpPr txBox="1"/>
          <p:nvPr/>
        </p:nvSpPr>
        <p:spPr>
          <a:xfrm>
            <a:off x="1922587" y="3368064"/>
            <a:ext cx="1273458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chemeClr val="accent3">
                    <a:lumMod val="75000"/>
                  </a:schemeClr>
                </a:solidFill>
                <a:latin typeface="+mj-lt"/>
              </a:rPr>
              <a:t>Exercise 3.</a:t>
            </a:r>
          </a:p>
        </p:txBody>
      </p:sp>
    </p:spTree>
    <p:extLst>
      <p:ext uri="{BB962C8B-B14F-4D97-AF65-F5344CB8AC3E}">
        <p14:creationId xmlns:p14="http://schemas.microsoft.com/office/powerpoint/2010/main" val="36872382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6AB88B1-5B05-8943-A678-397913D6052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8919EDE-D615-F5F1-EA28-FF76FD06F2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31817" y="1368119"/>
            <a:ext cx="10328366" cy="412176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41241B9-630B-35AC-D289-7828A8F8EA9B}"/>
              </a:ext>
            </a:extLst>
          </p:cNvPr>
          <p:cNvSpPr txBox="1"/>
          <p:nvPr/>
        </p:nvSpPr>
        <p:spPr>
          <a:xfrm>
            <a:off x="931817" y="1441291"/>
            <a:ext cx="1663337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accent3">
                    <a:lumMod val="75000"/>
                  </a:schemeClr>
                </a:solidFill>
                <a:latin typeface="+mj-lt"/>
              </a:rPr>
              <a:t>Exercise 4.</a:t>
            </a:r>
          </a:p>
        </p:txBody>
      </p:sp>
    </p:spTree>
    <p:extLst>
      <p:ext uri="{BB962C8B-B14F-4D97-AF65-F5344CB8AC3E}">
        <p14:creationId xmlns:p14="http://schemas.microsoft.com/office/powerpoint/2010/main" val="3548751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2B89682-35B1-9718-B914-6E424B09358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4A69D2-91C4-07B1-3608-A56FCE7B0F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923" y="2676698"/>
            <a:ext cx="6678695" cy="2238200"/>
          </a:xfrm>
        </p:spPr>
        <p:txBody>
          <a:bodyPr/>
          <a:lstStyle/>
          <a:p>
            <a:r>
              <a:rPr lang="en-US" dirty="0"/>
              <a:t>State Space Models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998385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81FF54C5-82E0-D9DC-331B-F9DFE15C4E2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43E2F72-AA03-D492-C0A7-8B5E337CC9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2189" y="600881"/>
            <a:ext cx="9027622" cy="438515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D9FC67D-8995-9488-DE05-2E3DB8DFC4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2189" y="5112640"/>
            <a:ext cx="9027622" cy="1385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67543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3A2DE6B-317C-F4FD-263C-1F0488416A2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AA9543-08B5-BEED-C6E2-76C8EEBE9E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414" y="2941821"/>
            <a:ext cx="10995659" cy="1077849"/>
          </a:xfrm>
          <a:solidFill>
            <a:schemeClr val="bg1"/>
          </a:solidFill>
        </p:spPr>
        <p:txBody>
          <a:bodyPr>
            <a:normAutofit/>
          </a:bodyPr>
          <a:lstStyle/>
          <a:p>
            <a:r>
              <a:rPr lang="en-US" sz="3200" dirty="0"/>
              <a:t>General </a:t>
            </a:r>
            <a:br>
              <a:rPr lang="en-US" sz="3200" dirty="0"/>
            </a:br>
            <a:r>
              <a:rPr lang="en-US" sz="3200" dirty="0"/>
              <a:t>Description</a:t>
            </a:r>
            <a:endParaRPr lang="en-IN" sz="3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5FE380F-C644-BC4E-1EFB-8EABCA6710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744989" y="588723"/>
            <a:ext cx="8848839" cy="332745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AD5D2B3-3521-CE09-CB37-1E88D226BC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4990" y="3916179"/>
            <a:ext cx="8848839" cy="2605986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E5EA29FF-3F2C-FCBE-705D-A1E5FBBAD830}"/>
              </a:ext>
            </a:extLst>
          </p:cNvPr>
          <p:cNvSpPr/>
          <p:nvPr/>
        </p:nvSpPr>
        <p:spPr>
          <a:xfrm>
            <a:off x="10908776" y="2705292"/>
            <a:ext cx="685051" cy="121088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D88432E-9887-0B00-29F4-3FBBA4A22CED}"/>
                  </a:ext>
                </a:extLst>
              </p:cNvPr>
              <p:cNvSpPr txBox="1"/>
              <p:nvPr/>
            </p:nvSpPr>
            <p:spPr>
              <a:xfrm>
                <a:off x="10216861" y="3126069"/>
                <a:ext cx="129678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chemeClr val="accent1">
                        <a:lumMod val="75000"/>
                      </a:schemeClr>
                    </a:solidFill>
                  </a:rPr>
                  <a:t>…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 dirty="0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IN" dirty="0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D88432E-9887-0B00-29F4-3FBBA4A22C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16861" y="3126069"/>
                <a:ext cx="1296785" cy="369332"/>
              </a:xfrm>
              <a:prstGeom prst="rect">
                <a:avLst/>
              </a:prstGeom>
              <a:blipFill>
                <a:blip r:embed="rId5"/>
                <a:stretch>
                  <a:fillRect l="-4225" t="-8333" b="-2833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F527A83-71F5-1514-09F0-FF19797F9033}"/>
                  </a:ext>
                </a:extLst>
              </p:cNvPr>
              <p:cNvSpPr txBox="1"/>
              <p:nvPr/>
            </p:nvSpPr>
            <p:spPr>
              <a:xfrm>
                <a:off x="10216861" y="3517418"/>
                <a:ext cx="129678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chemeClr val="accent1">
                        <a:lumMod val="75000"/>
                      </a:schemeClr>
                    </a:solidFill>
                  </a:rPr>
                  <a:t>…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dirty="0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i="1" dirty="0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IN" dirty="0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F527A83-71F5-1514-09F0-FF19797F90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16861" y="3517418"/>
                <a:ext cx="1296785" cy="369332"/>
              </a:xfrm>
              <a:prstGeom prst="rect">
                <a:avLst/>
              </a:prstGeom>
              <a:blipFill>
                <a:blip r:embed="rId6"/>
                <a:stretch>
                  <a:fillRect l="-4225" t="-6557" b="-2623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977363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D24071A-4BB2-7B3F-13E3-BCB8ADCA724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79394AE-E64D-783A-7DF8-8A8D1CB4A8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7793" y="609089"/>
            <a:ext cx="8796412" cy="444774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0539CE3-AD70-A969-8B4D-33335A3B430D}"/>
                  </a:ext>
                </a:extLst>
              </p:cNvPr>
              <p:cNvSpPr txBox="1"/>
              <p:nvPr/>
            </p:nvSpPr>
            <p:spPr>
              <a:xfrm>
                <a:off x="6349691" y="1532209"/>
                <a:ext cx="565266" cy="338554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solidFill>
                            <a:srgbClr val="D040B9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600" b="0" i="1" smtClean="0">
                          <a:solidFill>
                            <a:srgbClr val="D040B9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sz="1600" b="0" i="1" smtClean="0">
                          <a:solidFill>
                            <a:srgbClr val="D040B9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IN" sz="1600" dirty="0">
                  <a:solidFill>
                    <a:srgbClr val="D040B9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0539CE3-AD70-A969-8B4D-33335A3B43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49691" y="1532209"/>
                <a:ext cx="565266" cy="338554"/>
              </a:xfrm>
              <a:prstGeom prst="rect">
                <a:avLst/>
              </a:prstGeom>
              <a:blipFill>
                <a:blip r:embed="rId3"/>
                <a:stretch>
                  <a:fillRect b="-1071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9BDF94B-224E-3008-17DC-12607B4601F4}"/>
                  </a:ext>
                </a:extLst>
              </p:cNvPr>
              <p:cNvSpPr txBox="1"/>
              <p:nvPr/>
            </p:nvSpPr>
            <p:spPr>
              <a:xfrm>
                <a:off x="9637324" y="1550687"/>
                <a:ext cx="466232" cy="338554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solidFill>
                            <a:srgbClr val="D040B9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600" b="0" i="1" smtClean="0">
                          <a:solidFill>
                            <a:srgbClr val="D040B9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600" b="0" i="1" smtClean="0">
                          <a:solidFill>
                            <a:srgbClr val="D040B9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IN" sz="1600" dirty="0">
                  <a:solidFill>
                    <a:srgbClr val="D040B9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9BDF94B-224E-3008-17DC-12607B4601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37324" y="1550687"/>
                <a:ext cx="466232" cy="338554"/>
              </a:xfrm>
              <a:prstGeom prst="rect">
                <a:avLst/>
              </a:prstGeom>
              <a:blipFill>
                <a:blip r:embed="rId4"/>
                <a:stretch>
                  <a:fillRect l="-1316" r="-3947" b="-1071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B61CF72E-513F-221F-60FE-982C4880919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65424" y="5056831"/>
            <a:ext cx="9261151" cy="1211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74548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E8E491B-8BEC-A368-2222-5505FA840D8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DED4515-69D9-5E10-09ED-9CEB962DE7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4931" y="244107"/>
            <a:ext cx="7482137" cy="631677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FF58945-A6B5-C762-4078-3C20FDF5EC26}"/>
                  </a:ext>
                </a:extLst>
              </p:cNvPr>
              <p:cNvSpPr txBox="1"/>
              <p:nvPr/>
            </p:nvSpPr>
            <p:spPr>
              <a:xfrm>
                <a:off x="9042817" y="2354498"/>
                <a:ext cx="1296785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chemeClr val="accent1">
                        <a:lumMod val="75000"/>
                      </a:schemeClr>
                    </a:solidFill>
                  </a:rPr>
                  <a:t>…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dirty="0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i="1" dirty="0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IN" dirty="0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FF58945-A6B5-C762-4078-3C20FDF5EC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42817" y="2354498"/>
                <a:ext cx="1296785" cy="369332"/>
              </a:xfrm>
              <a:prstGeom prst="rect">
                <a:avLst/>
              </a:prstGeom>
              <a:blipFill>
                <a:blip r:embed="rId3"/>
                <a:stretch>
                  <a:fillRect l="-3756" t="-6557" b="-2623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4184F6A-5145-3C27-7429-A89CCEA3DFB5}"/>
                  </a:ext>
                </a:extLst>
              </p:cNvPr>
              <p:cNvSpPr txBox="1"/>
              <p:nvPr/>
            </p:nvSpPr>
            <p:spPr>
              <a:xfrm>
                <a:off x="9042817" y="2723830"/>
                <a:ext cx="1296785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chemeClr val="accent1">
                        <a:lumMod val="75000"/>
                      </a:schemeClr>
                    </a:solidFill>
                  </a:rPr>
                  <a:t>…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dirty="0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i="1" dirty="0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IN" dirty="0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4184F6A-5145-3C27-7429-A89CCEA3DF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42817" y="2723830"/>
                <a:ext cx="1296785" cy="369332"/>
              </a:xfrm>
              <a:prstGeom prst="rect">
                <a:avLst/>
              </a:prstGeom>
              <a:blipFill>
                <a:blip r:embed="rId4"/>
                <a:stretch>
                  <a:fillRect l="-3756" t="-8333" b="-2833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4B99DBA-FA0E-F2B8-8375-EE05F8E4F3F0}"/>
                  </a:ext>
                </a:extLst>
              </p:cNvPr>
              <p:cNvSpPr txBox="1"/>
              <p:nvPr/>
            </p:nvSpPr>
            <p:spPr>
              <a:xfrm>
                <a:off x="8782755" y="3146518"/>
                <a:ext cx="417690" cy="31597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srgbClr val="D040B9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400" b="0" i="1" smtClean="0">
                          <a:solidFill>
                            <a:srgbClr val="D040B9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400" b="0" i="1" smtClean="0">
                          <a:solidFill>
                            <a:srgbClr val="D040B9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IN" sz="1400" dirty="0">
                  <a:solidFill>
                    <a:srgbClr val="D040B9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4B99DBA-FA0E-F2B8-8375-EE05F8E4F3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82755" y="3146518"/>
                <a:ext cx="417690" cy="315976"/>
              </a:xfrm>
              <a:prstGeom prst="rect">
                <a:avLst/>
              </a:prstGeom>
              <a:blipFill>
                <a:blip r:embed="rId5"/>
                <a:stretch>
                  <a:fillRect r="-4412" b="-576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B61FDB9-219A-19C7-ACE3-F1F469687A08}"/>
                  </a:ext>
                </a:extLst>
              </p:cNvPr>
              <p:cNvSpPr txBox="1"/>
              <p:nvPr/>
            </p:nvSpPr>
            <p:spPr>
              <a:xfrm>
                <a:off x="3098799" y="5624429"/>
                <a:ext cx="366890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srgbClr val="D040B9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400" b="0" i="1" smtClean="0">
                          <a:solidFill>
                            <a:srgbClr val="D040B9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400" b="0" i="1" smtClean="0">
                          <a:solidFill>
                            <a:srgbClr val="D040B9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IN" sz="1400" dirty="0">
                  <a:solidFill>
                    <a:srgbClr val="D040B9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B61FDB9-219A-19C7-ACE3-F1F469687A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98799" y="5624429"/>
                <a:ext cx="366890" cy="307777"/>
              </a:xfrm>
              <a:prstGeom prst="rect">
                <a:avLst/>
              </a:prstGeom>
              <a:blipFill>
                <a:blip r:embed="rId6"/>
                <a:stretch>
                  <a:fillRect r="-18033" b="-10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2BFCC79-EE83-8AE7-531E-E268E2C3B80C}"/>
                  </a:ext>
                </a:extLst>
              </p:cNvPr>
              <p:cNvSpPr txBox="1"/>
              <p:nvPr/>
            </p:nvSpPr>
            <p:spPr>
              <a:xfrm>
                <a:off x="6905828" y="5181786"/>
                <a:ext cx="425414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srgbClr val="D040B9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400" b="0" i="1" smtClean="0">
                          <a:solidFill>
                            <a:srgbClr val="D040B9"/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US" sz="1400" b="0" i="1" smtClean="0">
                          <a:solidFill>
                            <a:srgbClr val="D040B9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IN" sz="1400" dirty="0">
                  <a:solidFill>
                    <a:srgbClr val="D040B9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2BFCC79-EE83-8AE7-531E-E268E2C3B8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05828" y="5181786"/>
                <a:ext cx="425414" cy="307777"/>
              </a:xfrm>
              <a:prstGeom prst="rect">
                <a:avLst/>
              </a:prstGeom>
              <a:blipFill>
                <a:blip r:embed="rId7"/>
                <a:stretch>
                  <a:fillRect r="-4286" b="-784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453414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90A7E7F-F7A6-AEA6-9D7A-73EF80AF3B9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16AFC49-D805-CA2A-0E25-6E50251EAC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3670" y="532979"/>
            <a:ext cx="9704659" cy="579204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417EDF1-1E33-EC02-F284-E138FB373D14}"/>
                  </a:ext>
                </a:extLst>
              </p:cNvPr>
              <p:cNvSpPr txBox="1"/>
              <p:nvPr/>
            </p:nvSpPr>
            <p:spPr>
              <a:xfrm>
                <a:off x="9651544" y="1347332"/>
                <a:ext cx="1296785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chemeClr val="accent1">
                        <a:lumMod val="75000"/>
                      </a:schemeClr>
                    </a:solidFill>
                  </a:rPr>
                  <a:t>…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dirty="0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i="1" dirty="0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IN" dirty="0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417EDF1-1E33-EC02-F284-E138FB373D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51544" y="1347332"/>
                <a:ext cx="1296785" cy="369332"/>
              </a:xfrm>
              <a:prstGeom prst="rect">
                <a:avLst/>
              </a:prstGeom>
              <a:blipFill>
                <a:blip r:embed="rId3"/>
                <a:stretch>
                  <a:fillRect l="-3756" t="-6557" b="-2623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C239D90-9F24-8B55-3EB1-90508D672DB0}"/>
                  </a:ext>
                </a:extLst>
              </p:cNvPr>
              <p:cNvSpPr txBox="1"/>
              <p:nvPr/>
            </p:nvSpPr>
            <p:spPr>
              <a:xfrm>
                <a:off x="9651544" y="1716664"/>
                <a:ext cx="1296785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chemeClr val="accent1">
                        <a:lumMod val="75000"/>
                      </a:schemeClr>
                    </a:solidFill>
                  </a:rPr>
                  <a:t>…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dirty="0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i="1" dirty="0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IN" dirty="0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C239D90-9F24-8B55-3EB1-90508D672D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51544" y="1716664"/>
                <a:ext cx="1296785" cy="369332"/>
              </a:xfrm>
              <a:prstGeom prst="rect">
                <a:avLst/>
              </a:prstGeom>
              <a:blipFill>
                <a:blip r:embed="rId4"/>
                <a:stretch>
                  <a:fillRect l="-3756" t="-8333" b="-2833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E8EB950-6B3E-9BA3-DE18-693B4CFFB1BE}"/>
                  </a:ext>
                </a:extLst>
              </p:cNvPr>
              <p:cNvSpPr txBox="1"/>
              <p:nvPr/>
            </p:nvSpPr>
            <p:spPr>
              <a:xfrm>
                <a:off x="9651543" y="4448699"/>
                <a:ext cx="1296785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chemeClr val="accent1">
                        <a:lumMod val="75000"/>
                      </a:schemeClr>
                    </a:solidFill>
                  </a:rPr>
                  <a:t>…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dirty="0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i="1" dirty="0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IN" dirty="0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E8EB950-6B3E-9BA3-DE18-693B4CFFB1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51543" y="4448699"/>
                <a:ext cx="1296785" cy="369332"/>
              </a:xfrm>
              <a:prstGeom prst="rect">
                <a:avLst/>
              </a:prstGeom>
              <a:blipFill>
                <a:blip r:embed="rId5"/>
                <a:stretch>
                  <a:fillRect l="-3756" t="-8333" b="-2833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542F958-647C-9751-978F-426F79474F65}"/>
                  </a:ext>
                </a:extLst>
              </p:cNvPr>
              <p:cNvSpPr txBox="1"/>
              <p:nvPr/>
            </p:nvSpPr>
            <p:spPr>
              <a:xfrm>
                <a:off x="9651543" y="4818031"/>
                <a:ext cx="1296785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chemeClr val="accent1">
                        <a:lumMod val="75000"/>
                      </a:schemeClr>
                    </a:solidFill>
                  </a:rPr>
                  <a:t>…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dirty="0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i="1" dirty="0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IN" dirty="0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542F958-647C-9751-978F-426F79474F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51543" y="4818031"/>
                <a:ext cx="1296785" cy="369332"/>
              </a:xfrm>
              <a:prstGeom prst="rect">
                <a:avLst/>
              </a:prstGeom>
              <a:blipFill>
                <a:blip r:embed="rId6"/>
                <a:stretch>
                  <a:fillRect l="-3756" t="-6557" b="-2623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13110E9-9554-F9E4-B5A1-505AC4AD75D3}"/>
                  </a:ext>
                </a:extLst>
              </p:cNvPr>
              <p:cNvSpPr txBox="1"/>
              <p:nvPr/>
            </p:nvSpPr>
            <p:spPr>
              <a:xfrm>
                <a:off x="5103532" y="853885"/>
                <a:ext cx="515390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D040B9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solidFill>
                            <a:srgbClr val="D040B9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b="0" i="1" smtClean="0">
                          <a:solidFill>
                            <a:srgbClr val="D040B9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IN" dirty="0">
                  <a:solidFill>
                    <a:srgbClr val="D040B9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13110E9-9554-F9E4-B5A1-505AC4AD75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03532" y="853885"/>
                <a:ext cx="515390" cy="369332"/>
              </a:xfrm>
              <a:prstGeom prst="rect">
                <a:avLst/>
              </a:prstGeom>
              <a:blipFill>
                <a:blip r:embed="rId7"/>
                <a:stretch>
                  <a:fillRect l="-3529" r="-4706" b="-1475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BD47537-09FB-B61B-F758-27CC9A976226}"/>
                  </a:ext>
                </a:extLst>
              </p:cNvPr>
              <p:cNvSpPr txBox="1"/>
              <p:nvPr/>
            </p:nvSpPr>
            <p:spPr>
              <a:xfrm>
                <a:off x="5732287" y="853885"/>
                <a:ext cx="515390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D040B9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solidFill>
                            <a:srgbClr val="D040B9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b="0" i="1" smtClean="0">
                          <a:solidFill>
                            <a:srgbClr val="D040B9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IN" dirty="0">
                  <a:solidFill>
                    <a:srgbClr val="D040B9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BD47537-09FB-B61B-F758-27CC9A9762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32287" y="853885"/>
                <a:ext cx="515390" cy="369332"/>
              </a:xfrm>
              <a:prstGeom prst="rect">
                <a:avLst/>
              </a:prstGeom>
              <a:blipFill>
                <a:blip r:embed="rId8"/>
                <a:stretch>
                  <a:fillRect l="-3529" r="-5882" b="-1475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405113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27A7B02-D852-2B4F-9DBC-52DDF23890E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9CC5D56-50D9-F7DF-F2FF-C9D45415C7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62421" y="1617024"/>
            <a:ext cx="9467157" cy="362395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1EDF8E5-D330-7BE8-66BA-4C8CE00CD333}"/>
                  </a:ext>
                </a:extLst>
              </p:cNvPr>
              <p:cNvSpPr txBox="1"/>
              <p:nvPr/>
            </p:nvSpPr>
            <p:spPr>
              <a:xfrm>
                <a:off x="9731057" y="2327992"/>
                <a:ext cx="1296785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chemeClr val="accent1">
                        <a:lumMod val="75000"/>
                      </a:schemeClr>
                    </a:solidFill>
                  </a:rPr>
                  <a:t>…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dirty="0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i="1" dirty="0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IN" dirty="0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1EDF8E5-D330-7BE8-66BA-4C8CE00CD3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31057" y="2327992"/>
                <a:ext cx="1296785" cy="369332"/>
              </a:xfrm>
              <a:prstGeom prst="rect">
                <a:avLst/>
              </a:prstGeom>
              <a:blipFill>
                <a:blip r:embed="rId4"/>
                <a:stretch>
                  <a:fillRect l="-3756" t="-8333" b="-2833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D2F9E66-FC69-BD19-53AC-2DFB94DAC917}"/>
                  </a:ext>
                </a:extLst>
              </p:cNvPr>
              <p:cNvSpPr txBox="1"/>
              <p:nvPr/>
            </p:nvSpPr>
            <p:spPr>
              <a:xfrm>
                <a:off x="9731056" y="2697324"/>
                <a:ext cx="1296785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chemeClr val="accent1">
                        <a:lumMod val="75000"/>
                      </a:schemeClr>
                    </a:solidFill>
                  </a:rPr>
                  <a:t>…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dirty="0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𝐽</m:t>
                    </m:r>
                    <m:r>
                      <a:rPr lang="en-US" i="1" dirty="0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IN" dirty="0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D2F9E66-FC69-BD19-53AC-2DFB94DAC9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31056" y="2697324"/>
                <a:ext cx="1296785" cy="369332"/>
              </a:xfrm>
              <a:prstGeom prst="rect">
                <a:avLst/>
              </a:prstGeom>
              <a:blipFill>
                <a:blip r:embed="rId5"/>
                <a:stretch>
                  <a:fillRect l="-3756" t="-6557" b="-2623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210501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EC53162F-A6C5-022D-F3C8-C6C14DF7D5B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EF803BB-9C87-1639-361E-5AB86BAC96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4101" y="1723024"/>
            <a:ext cx="3543795" cy="245779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4BD479D-C23C-A6F9-5802-71F659112627}"/>
              </a:ext>
            </a:extLst>
          </p:cNvPr>
          <p:cNvSpPr txBox="1"/>
          <p:nvPr/>
        </p:nvSpPr>
        <p:spPr>
          <a:xfrm>
            <a:off x="3047998" y="4180817"/>
            <a:ext cx="6096000" cy="1290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N" dirty="0"/>
              <a:t>Some examples of linear, nonlinear, time-varying, periodically-varying, and time-invariant state-space descriptions.</a:t>
            </a:r>
          </a:p>
        </p:txBody>
      </p:sp>
    </p:spTree>
    <p:extLst>
      <p:ext uri="{BB962C8B-B14F-4D97-AF65-F5344CB8AC3E}">
        <p14:creationId xmlns:p14="http://schemas.microsoft.com/office/powerpoint/2010/main" val="59159115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FBDB811-AD58-1A78-50C2-2F22B9C5137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F1CF054-0201-69F8-C99F-6CBDEBBC2F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7665" y="3093357"/>
            <a:ext cx="10995659" cy="1077849"/>
          </a:xfrm>
          <a:solidFill>
            <a:schemeClr val="bg1"/>
          </a:solidFill>
        </p:spPr>
        <p:txBody>
          <a:bodyPr/>
          <a:lstStyle/>
          <a:p>
            <a:r>
              <a:rPr lang="en-US" dirty="0"/>
              <a:t>Linearization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BC0E2A3-E76A-982D-D17D-2889C46419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7786" y="205481"/>
            <a:ext cx="6249727" cy="124325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691CDA5-C1DE-0B6C-CBCC-01566E1953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7787" y="1385725"/>
            <a:ext cx="6594284" cy="246593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F5EB712-D216-B14D-DCB6-97CC8E79E9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7786" y="3851655"/>
            <a:ext cx="6249727" cy="285289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00C221D-8F7B-C945-ABD0-A182429607A3}"/>
                  </a:ext>
                </a:extLst>
              </p:cNvPr>
              <p:cNvSpPr txBox="1"/>
              <p:nvPr/>
            </p:nvSpPr>
            <p:spPr>
              <a:xfrm>
                <a:off x="10099120" y="1066174"/>
                <a:ext cx="1296785" cy="338554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1600" dirty="0">
                    <a:solidFill>
                      <a:schemeClr val="accent1">
                        <a:lumMod val="75000"/>
                      </a:schemeClr>
                    </a:solidFill>
                  </a:rPr>
                  <a:t>…</a:t>
                </a:r>
                <a14:m>
                  <m:oMath xmlns:m="http://schemas.openxmlformats.org/officeDocument/2006/math">
                    <m:r>
                      <a:rPr lang="en-US" sz="1600" i="1" dirty="0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600" b="0" i="1" dirty="0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sz="1600" i="1" dirty="0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IN" sz="1600" dirty="0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00C221D-8F7B-C945-ABD0-A182429607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99120" y="1066174"/>
                <a:ext cx="1296785" cy="338554"/>
              </a:xfrm>
              <a:prstGeom prst="rect">
                <a:avLst/>
              </a:prstGeom>
              <a:blipFill>
                <a:blip r:embed="rId5"/>
                <a:stretch>
                  <a:fillRect l="-2830" t="-5455" b="-2363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B549724-E31A-1AB0-34A9-85C14C23CC2E}"/>
                  </a:ext>
                </a:extLst>
              </p:cNvPr>
              <p:cNvSpPr txBox="1"/>
              <p:nvPr/>
            </p:nvSpPr>
            <p:spPr>
              <a:xfrm>
                <a:off x="10063773" y="3429000"/>
                <a:ext cx="1296785" cy="338554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1600" dirty="0">
                    <a:solidFill>
                      <a:schemeClr val="accent1">
                        <a:lumMod val="75000"/>
                      </a:schemeClr>
                    </a:solidFill>
                  </a:rPr>
                  <a:t>…</a:t>
                </a:r>
                <a14:m>
                  <m:oMath xmlns:m="http://schemas.openxmlformats.org/officeDocument/2006/math">
                    <m:r>
                      <a:rPr lang="en-US" sz="1600" i="1" dirty="0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600" b="0" i="1" dirty="0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sz="1600" i="1" dirty="0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IN" sz="1600" dirty="0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B549724-E31A-1AB0-34A9-85C14C23CC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63773" y="3429000"/>
                <a:ext cx="1296785" cy="338554"/>
              </a:xfrm>
              <a:prstGeom prst="rect">
                <a:avLst/>
              </a:prstGeom>
              <a:blipFill>
                <a:blip r:embed="rId6"/>
                <a:stretch>
                  <a:fillRect l="-2817" t="-5455" b="-2181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7A9399A-3988-FCF3-4BA2-FDCE4E26D86A}"/>
                  </a:ext>
                </a:extLst>
              </p:cNvPr>
              <p:cNvSpPr txBox="1"/>
              <p:nvPr/>
            </p:nvSpPr>
            <p:spPr>
              <a:xfrm>
                <a:off x="10000513" y="5008883"/>
                <a:ext cx="1296785" cy="338554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1600" dirty="0">
                    <a:solidFill>
                      <a:schemeClr val="accent1">
                        <a:lumMod val="75000"/>
                      </a:schemeClr>
                    </a:solidFill>
                  </a:rPr>
                  <a:t>…</a:t>
                </a:r>
                <a14:m>
                  <m:oMath xmlns:m="http://schemas.openxmlformats.org/officeDocument/2006/math">
                    <m:r>
                      <a:rPr lang="en-US" sz="1600" i="1" dirty="0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600" b="0" i="1" dirty="0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sz="1600" i="1" dirty="0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IN" sz="1600" dirty="0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7A9399A-3988-FCF3-4BA2-FDCE4E26D8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00513" y="5008883"/>
                <a:ext cx="1296785" cy="338554"/>
              </a:xfrm>
              <a:prstGeom prst="rect">
                <a:avLst/>
              </a:prstGeom>
              <a:blipFill>
                <a:blip r:embed="rId7"/>
                <a:stretch>
                  <a:fillRect l="-2830" t="-5455" b="-2363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077FE57F-3496-2F81-6249-209503C90E5D}"/>
                  </a:ext>
                </a:extLst>
              </p:cNvPr>
              <p:cNvSpPr txBox="1"/>
              <p:nvPr/>
            </p:nvSpPr>
            <p:spPr>
              <a:xfrm>
                <a:off x="5698730" y="1988710"/>
                <a:ext cx="405896" cy="276999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1200" b="0" i="1" smtClean="0">
                          <a:solidFill>
                            <a:srgbClr val="D040B9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200" b="0" i="1" smtClean="0">
                          <a:solidFill>
                            <a:srgbClr val="D040B9"/>
                          </a:solidFill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US" sz="1200" b="0" i="1" smtClean="0">
                          <a:solidFill>
                            <a:srgbClr val="D040B9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IN" sz="1600" dirty="0">
                  <a:solidFill>
                    <a:srgbClr val="D040B9"/>
                  </a:solidFill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077FE57F-3496-2F81-6249-209503C90E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98730" y="1988710"/>
                <a:ext cx="405896" cy="276999"/>
              </a:xfrm>
              <a:prstGeom prst="rect">
                <a:avLst/>
              </a:prstGeom>
              <a:blipFill>
                <a:blip r:embed="rId8"/>
                <a:stretch>
                  <a:fillRect b="-869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53118026-37FC-12E4-37EF-4F768C9DD4DC}"/>
                  </a:ext>
                </a:extLst>
              </p:cNvPr>
              <p:cNvSpPr txBox="1"/>
              <p:nvPr/>
            </p:nvSpPr>
            <p:spPr>
              <a:xfrm>
                <a:off x="4876345" y="2584335"/>
                <a:ext cx="405896" cy="276999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1200" b="0" i="1" smtClean="0">
                          <a:solidFill>
                            <a:srgbClr val="D040B9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200" b="0" i="1" smtClean="0">
                          <a:solidFill>
                            <a:srgbClr val="D040B9"/>
                          </a:solidFill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US" sz="1200" b="0" i="1" smtClean="0">
                          <a:solidFill>
                            <a:srgbClr val="D040B9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IN" sz="1600" dirty="0">
                  <a:solidFill>
                    <a:srgbClr val="D040B9"/>
                  </a:solidFill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53118026-37FC-12E4-37EF-4F768C9DD4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76345" y="2584335"/>
                <a:ext cx="405896" cy="276999"/>
              </a:xfrm>
              <a:prstGeom prst="rect">
                <a:avLst/>
              </a:prstGeom>
              <a:blipFill>
                <a:blip r:embed="rId9"/>
                <a:stretch>
                  <a:fillRect b="-1111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AEF0A21D-8C7B-590F-F6AC-BEE74D13551B}"/>
                  </a:ext>
                </a:extLst>
              </p:cNvPr>
              <p:cNvSpPr txBox="1"/>
              <p:nvPr/>
            </p:nvSpPr>
            <p:spPr>
              <a:xfrm>
                <a:off x="8789862" y="4191798"/>
                <a:ext cx="405896" cy="276999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1200" b="0" i="1" smtClean="0">
                          <a:solidFill>
                            <a:srgbClr val="D040B9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200" b="0" i="1" smtClean="0">
                          <a:solidFill>
                            <a:srgbClr val="D040B9"/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sz="1200" b="0" i="1" smtClean="0">
                          <a:solidFill>
                            <a:srgbClr val="D040B9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IN" sz="1600" dirty="0">
                  <a:solidFill>
                    <a:srgbClr val="D040B9"/>
                  </a:solidFill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AEF0A21D-8C7B-590F-F6AC-BEE74D1355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89862" y="4191798"/>
                <a:ext cx="405896" cy="276999"/>
              </a:xfrm>
              <a:prstGeom prst="rect">
                <a:avLst/>
              </a:prstGeom>
              <a:blipFill>
                <a:blip r:embed="rId10"/>
                <a:stretch>
                  <a:fillRect b="-1111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32E84DD6-BF1C-09CE-BB0E-12AD71FEBF2F}"/>
                  </a:ext>
                </a:extLst>
              </p:cNvPr>
              <p:cNvSpPr txBox="1"/>
              <p:nvPr/>
            </p:nvSpPr>
            <p:spPr>
              <a:xfrm>
                <a:off x="8165885" y="4540803"/>
                <a:ext cx="405896" cy="276999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1200" b="0" i="1" smtClean="0">
                          <a:solidFill>
                            <a:srgbClr val="D040B9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200" b="0" i="1" smtClean="0">
                          <a:solidFill>
                            <a:srgbClr val="D040B9"/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sz="1200" b="0" i="1" smtClean="0">
                          <a:solidFill>
                            <a:srgbClr val="D040B9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IN" sz="1600" dirty="0">
                  <a:solidFill>
                    <a:srgbClr val="D040B9"/>
                  </a:solidFill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32E84DD6-BF1C-09CE-BB0E-12AD71FEBF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65885" y="4540803"/>
                <a:ext cx="405896" cy="276999"/>
              </a:xfrm>
              <a:prstGeom prst="rect">
                <a:avLst/>
              </a:prstGeom>
              <a:blipFill>
                <a:blip r:embed="rId10"/>
                <a:stretch>
                  <a:fillRect b="-1111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0739294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8911404-DDBE-B1B8-9E3D-4BC998BC438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5EBEDE8-AAF2-B52A-E033-A7A4A2AB30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923399" y="501801"/>
            <a:ext cx="8345201" cy="5854397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67AB1BB0-C26F-3296-84E4-208B3F9CBFCC}"/>
              </a:ext>
            </a:extLst>
          </p:cNvPr>
          <p:cNvSpPr/>
          <p:nvPr/>
        </p:nvSpPr>
        <p:spPr>
          <a:xfrm>
            <a:off x="2952206" y="501801"/>
            <a:ext cx="2978331" cy="4300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0F4AC70-9714-329D-8E2B-91AD555329CB}"/>
              </a:ext>
            </a:extLst>
          </p:cNvPr>
          <p:cNvSpPr/>
          <p:nvPr/>
        </p:nvSpPr>
        <p:spPr>
          <a:xfrm>
            <a:off x="8469086" y="2709424"/>
            <a:ext cx="2978331" cy="4300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17656D6-9778-0F36-C4C8-C11DB4725EB0}"/>
              </a:ext>
            </a:extLst>
          </p:cNvPr>
          <p:cNvSpPr txBox="1"/>
          <p:nvPr/>
        </p:nvSpPr>
        <p:spPr>
          <a:xfrm>
            <a:off x="5059680" y="962297"/>
            <a:ext cx="1544320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we’ve have had,</a:t>
            </a:r>
          </a:p>
        </p:txBody>
      </p:sp>
    </p:spTree>
    <p:extLst>
      <p:ext uri="{BB962C8B-B14F-4D97-AF65-F5344CB8AC3E}">
        <p14:creationId xmlns:p14="http://schemas.microsoft.com/office/powerpoint/2010/main" val="43674082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C11B30A-2DCE-7BE2-AB3D-D0A04EAAD0C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39641F1-B245-1CBF-F0A4-A4F9755072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2068" y="622380"/>
            <a:ext cx="7376191" cy="577406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D1FC6BF-EE36-7B25-691F-A2B612256852}"/>
              </a:ext>
            </a:extLst>
          </p:cNvPr>
          <p:cNvSpPr txBox="1"/>
          <p:nvPr/>
        </p:nvSpPr>
        <p:spPr>
          <a:xfrm>
            <a:off x="7350033" y="1088571"/>
            <a:ext cx="1036321" cy="3385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figure.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62BB6C8-0B4C-DA49-3482-6606C02944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448" y="1558835"/>
            <a:ext cx="3294620" cy="3553098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B5B3F803-BBD3-C308-1F0F-A7EC8D315420}"/>
              </a:ext>
            </a:extLst>
          </p:cNvPr>
          <p:cNvSpPr/>
          <p:nvPr/>
        </p:nvSpPr>
        <p:spPr>
          <a:xfrm>
            <a:off x="10561366" y="3892730"/>
            <a:ext cx="1571897" cy="4833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F82E67F-1BCB-5888-3CB3-BD85049C15FE}"/>
              </a:ext>
            </a:extLst>
          </p:cNvPr>
          <p:cNvSpPr/>
          <p:nvPr/>
        </p:nvSpPr>
        <p:spPr>
          <a:xfrm>
            <a:off x="10426383" y="5560422"/>
            <a:ext cx="1571897" cy="4833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77EDB08-8EF2-9234-4409-0896795EB109}"/>
                  </a:ext>
                </a:extLst>
              </p:cNvPr>
              <p:cNvSpPr txBox="1"/>
              <p:nvPr/>
            </p:nvSpPr>
            <p:spPr>
              <a:xfrm>
                <a:off x="10327254" y="3993270"/>
                <a:ext cx="126274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…(</m:t>
                      </m:r>
                      <m:r>
                        <a:rPr lang="en-IN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IN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IN" dirty="0">
                  <a:solidFill>
                    <a:schemeClr val="accent2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77EDB08-8EF2-9234-4409-0896795EB1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27254" y="3993270"/>
                <a:ext cx="1262743" cy="369332"/>
              </a:xfrm>
              <a:prstGeom prst="rect">
                <a:avLst/>
              </a:prstGeom>
              <a:blipFill>
                <a:blip r:embed="rId4"/>
                <a:stretch>
                  <a:fillRect b="-1475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7B9954C-8364-5DB7-290E-0FE44CC67E6C}"/>
                  </a:ext>
                </a:extLst>
              </p:cNvPr>
              <p:cNvSpPr txBox="1"/>
              <p:nvPr/>
            </p:nvSpPr>
            <p:spPr>
              <a:xfrm>
                <a:off x="10327254" y="5432753"/>
                <a:ext cx="126274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…(</m:t>
                      </m:r>
                      <m:r>
                        <a:rPr lang="en-IN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IN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IN" dirty="0">
                  <a:solidFill>
                    <a:schemeClr val="accent2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7B9954C-8364-5DB7-290E-0FE44CC67E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27254" y="5432753"/>
                <a:ext cx="1262743" cy="369332"/>
              </a:xfrm>
              <a:prstGeom prst="rect">
                <a:avLst/>
              </a:prstGeom>
              <a:blipFill>
                <a:blip r:embed="rId5"/>
                <a:stretch>
                  <a:fillRect b="-1475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920944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E3195393-4D5A-5CAF-841D-5D8CF5ED915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702A1E-EF86-E8AC-0E01-D9C80E8246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939474" y="2876573"/>
            <a:ext cx="6313052" cy="3553487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D29B6D6C-F200-E7F0-F48E-A075F0F9ED69}"/>
              </a:ext>
            </a:extLst>
          </p:cNvPr>
          <p:cNvSpPr/>
          <p:nvPr/>
        </p:nvSpPr>
        <p:spPr>
          <a:xfrm>
            <a:off x="4750198" y="5180563"/>
            <a:ext cx="522513" cy="13722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74C011E-80BA-3132-1245-0C2833956F55}"/>
              </a:ext>
            </a:extLst>
          </p:cNvPr>
          <p:cNvSpPr/>
          <p:nvPr/>
        </p:nvSpPr>
        <p:spPr>
          <a:xfrm>
            <a:off x="7686995" y="5165687"/>
            <a:ext cx="522513" cy="2714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5751380-93D3-6B3C-A661-8E931F7EEF0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939474" y="502911"/>
            <a:ext cx="6313052" cy="2373662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2FE5A208-29CC-F668-2E9D-22E0CCF29420}"/>
              </a:ext>
            </a:extLst>
          </p:cNvPr>
          <p:cNvSpPr/>
          <p:nvPr/>
        </p:nvSpPr>
        <p:spPr>
          <a:xfrm>
            <a:off x="8747760" y="766354"/>
            <a:ext cx="3444240" cy="37708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739E395-7890-564A-E4B6-084CADD767EB}"/>
                  </a:ext>
                </a:extLst>
              </p:cNvPr>
              <p:cNvSpPr txBox="1"/>
              <p:nvPr/>
            </p:nvSpPr>
            <p:spPr>
              <a:xfrm>
                <a:off x="8747760" y="766354"/>
                <a:ext cx="126274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…(</m:t>
                      </m:r>
                      <m:r>
                        <a:rPr lang="en-IN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IN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IN" dirty="0">
                  <a:solidFill>
                    <a:schemeClr val="accent2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739E395-7890-564A-E4B6-084CADD767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47760" y="766354"/>
                <a:ext cx="1262743" cy="369332"/>
              </a:xfrm>
              <a:prstGeom prst="rect">
                <a:avLst/>
              </a:prstGeom>
              <a:blipFill>
                <a:blip r:embed="rId6"/>
                <a:stretch>
                  <a:fillRect b="-15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50993D4-1961-756B-873B-91793505E7E0}"/>
                  </a:ext>
                </a:extLst>
              </p:cNvPr>
              <p:cNvSpPr txBox="1"/>
              <p:nvPr/>
            </p:nvSpPr>
            <p:spPr>
              <a:xfrm>
                <a:off x="4267200" y="1351188"/>
                <a:ext cx="522513" cy="33855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16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IN" sz="16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IN" sz="16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IN" sz="1600" dirty="0">
                  <a:solidFill>
                    <a:schemeClr val="accent2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50993D4-1961-756B-873B-91793505E7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7200" y="1351188"/>
                <a:ext cx="522513" cy="338554"/>
              </a:xfrm>
              <a:prstGeom prst="rect">
                <a:avLst/>
              </a:prstGeom>
              <a:blipFill>
                <a:blip r:embed="rId7"/>
                <a:stretch>
                  <a:fillRect b="-1272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58776BA-6B0D-2750-E62F-FF6A0CF4A8D6}"/>
                  </a:ext>
                </a:extLst>
              </p:cNvPr>
              <p:cNvSpPr txBox="1"/>
              <p:nvPr/>
            </p:nvSpPr>
            <p:spPr>
              <a:xfrm>
                <a:off x="5194663" y="1351188"/>
                <a:ext cx="522513" cy="33855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16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IN" sz="16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IN" sz="16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IN" sz="1600" dirty="0">
                  <a:solidFill>
                    <a:schemeClr val="accent2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58776BA-6B0D-2750-E62F-FF6A0CF4A8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4663" y="1351188"/>
                <a:ext cx="522513" cy="338554"/>
              </a:xfrm>
              <a:prstGeom prst="rect">
                <a:avLst/>
              </a:prstGeom>
              <a:blipFill>
                <a:blip r:embed="rId8"/>
                <a:stretch>
                  <a:fillRect b="-1272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7C4ACBD-EAE6-AFF4-385B-D61FEC6EE85B}"/>
                  </a:ext>
                </a:extLst>
              </p:cNvPr>
              <p:cNvSpPr txBox="1"/>
              <p:nvPr/>
            </p:nvSpPr>
            <p:spPr>
              <a:xfrm>
                <a:off x="4040446" y="2921266"/>
                <a:ext cx="522513" cy="33855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16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IN" sz="16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IN" sz="16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IN" sz="1600" dirty="0">
                  <a:solidFill>
                    <a:schemeClr val="accent2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7C4ACBD-EAE6-AFF4-385B-D61FEC6EE8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40446" y="2921266"/>
                <a:ext cx="522513" cy="338554"/>
              </a:xfrm>
              <a:prstGeom prst="rect">
                <a:avLst/>
              </a:prstGeom>
              <a:blipFill>
                <a:blip r:embed="rId9"/>
                <a:stretch>
                  <a:fillRect b="-1071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A7E4535-BF1B-C20A-7048-B9CEFF24C609}"/>
                  </a:ext>
                </a:extLst>
              </p:cNvPr>
              <p:cNvSpPr txBox="1"/>
              <p:nvPr/>
            </p:nvSpPr>
            <p:spPr>
              <a:xfrm>
                <a:off x="4950823" y="2921266"/>
                <a:ext cx="522513" cy="33855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16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IN" sz="16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IN" sz="16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IN" sz="1600" dirty="0">
                  <a:solidFill>
                    <a:schemeClr val="accent2"/>
                  </a:solidFill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A7E4535-BF1B-C20A-7048-B9CEFF24C6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0823" y="2921266"/>
                <a:ext cx="522513" cy="338554"/>
              </a:xfrm>
              <a:prstGeom prst="rect">
                <a:avLst/>
              </a:prstGeom>
              <a:blipFill>
                <a:blip r:embed="rId10"/>
                <a:stretch>
                  <a:fillRect b="-1071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89F7B1B-1E10-ECF3-8271-C892F1798685}"/>
                  </a:ext>
                </a:extLst>
              </p:cNvPr>
              <p:cNvSpPr txBox="1"/>
              <p:nvPr/>
            </p:nvSpPr>
            <p:spPr>
              <a:xfrm>
                <a:off x="5875943" y="2913116"/>
                <a:ext cx="522513" cy="33855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16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IN" sz="16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IN" sz="16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IN" sz="1600" dirty="0">
                  <a:solidFill>
                    <a:schemeClr val="accent2"/>
                  </a:solidFill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89F7B1B-1E10-ECF3-8271-C892F17986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75943" y="2913116"/>
                <a:ext cx="522513" cy="338554"/>
              </a:xfrm>
              <a:prstGeom prst="rect">
                <a:avLst/>
              </a:prstGeom>
              <a:blipFill>
                <a:blip r:embed="rId11"/>
                <a:stretch>
                  <a:fillRect b="-1272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C8C31A5-3B2C-D522-731A-AD73C3D871EA}"/>
                  </a:ext>
                </a:extLst>
              </p:cNvPr>
              <p:cNvSpPr txBox="1"/>
              <p:nvPr/>
            </p:nvSpPr>
            <p:spPr>
              <a:xfrm>
                <a:off x="8747759" y="2448633"/>
                <a:ext cx="126274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…(</m:t>
                      </m:r>
                      <m:r>
                        <a:rPr lang="en-IN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IN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IN" dirty="0">
                  <a:solidFill>
                    <a:schemeClr val="accent2"/>
                  </a:solidFill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C8C31A5-3B2C-D522-731A-AD73C3D871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47759" y="2448633"/>
                <a:ext cx="1262743" cy="369332"/>
              </a:xfrm>
              <a:prstGeom prst="rect">
                <a:avLst/>
              </a:prstGeom>
              <a:blipFill>
                <a:blip r:embed="rId12"/>
                <a:stretch>
                  <a:fillRect b="-15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1F4CB23-B826-A9AD-7D78-507380260716}"/>
                  </a:ext>
                </a:extLst>
              </p:cNvPr>
              <p:cNvSpPr txBox="1"/>
              <p:nvPr/>
            </p:nvSpPr>
            <p:spPr>
              <a:xfrm>
                <a:off x="8747759" y="4226442"/>
                <a:ext cx="126274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…(2)</m:t>
                      </m:r>
                    </m:oMath>
                  </m:oMathPara>
                </a14:m>
                <a:endParaRPr lang="en-IN" dirty="0">
                  <a:solidFill>
                    <a:schemeClr val="accent2"/>
                  </a:solidFill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1F4CB23-B826-A9AD-7D78-5073802607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47759" y="4226442"/>
                <a:ext cx="1262743" cy="369332"/>
              </a:xfrm>
              <a:prstGeom prst="rect">
                <a:avLst/>
              </a:prstGeom>
              <a:blipFill>
                <a:blip r:embed="rId13"/>
                <a:stretch>
                  <a:fillRect b="-1475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150CA203-F677-0340-9733-F24B6D8AB7C6}"/>
                  </a:ext>
                </a:extLst>
              </p:cNvPr>
              <p:cNvSpPr txBox="1"/>
              <p:nvPr/>
            </p:nvSpPr>
            <p:spPr>
              <a:xfrm>
                <a:off x="8747759" y="1689742"/>
                <a:ext cx="126274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…(1)</m:t>
                      </m:r>
                    </m:oMath>
                  </m:oMathPara>
                </a14:m>
                <a:endParaRPr lang="en-IN" dirty="0">
                  <a:solidFill>
                    <a:schemeClr val="accent2"/>
                  </a:solidFill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150CA203-F677-0340-9733-F24B6D8AB7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47759" y="1689742"/>
                <a:ext cx="1262743" cy="369332"/>
              </a:xfrm>
              <a:prstGeom prst="rect">
                <a:avLst/>
              </a:prstGeom>
              <a:blipFill>
                <a:blip r:embed="rId14"/>
                <a:stretch>
                  <a:fillRect b="-1475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849C682-3F20-5FEC-5EDF-857E317EC218}"/>
                  </a:ext>
                </a:extLst>
              </p:cNvPr>
              <p:cNvSpPr txBox="1"/>
              <p:nvPr/>
            </p:nvSpPr>
            <p:spPr>
              <a:xfrm>
                <a:off x="7467270" y="4595774"/>
                <a:ext cx="522513" cy="33855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16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(1)</m:t>
                      </m:r>
                    </m:oMath>
                  </m:oMathPara>
                </a14:m>
                <a:endParaRPr lang="en-IN" sz="1600" dirty="0">
                  <a:solidFill>
                    <a:schemeClr val="accent2"/>
                  </a:solidFill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849C682-3F20-5FEC-5EDF-857E317EC2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67270" y="4595774"/>
                <a:ext cx="522513" cy="338554"/>
              </a:xfrm>
              <a:prstGeom prst="rect">
                <a:avLst/>
              </a:prstGeom>
              <a:blipFill>
                <a:blip r:embed="rId15"/>
                <a:stretch>
                  <a:fillRect b="-1272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ECE7F6F4-0CA3-12DA-512D-570AA4ACFA4F}"/>
                  </a:ext>
                </a:extLst>
              </p:cNvPr>
              <p:cNvSpPr txBox="1"/>
              <p:nvPr/>
            </p:nvSpPr>
            <p:spPr>
              <a:xfrm>
                <a:off x="8377316" y="4596880"/>
                <a:ext cx="522513" cy="33855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16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(2)</m:t>
                      </m:r>
                    </m:oMath>
                  </m:oMathPara>
                </a14:m>
                <a:endParaRPr lang="en-IN" sz="1600" dirty="0">
                  <a:solidFill>
                    <a:schemeClr val="accent2"/>
                  </a:solidFill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ECE7F6F4-0CA3-12DA-512D-570AA4ACFA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77316" y="4596880"/>
                <a:ext cx="522513" cy="338554"/>
              </a:xfrm>
              <a:prstGeom prst="rect">
                <a:avLst/>
              </a:prstGeom>
              <a:blipFill>
                <a:blip r:embed="rId16"/>
                <a:stretch>
                  <a:fillRect b="-1071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AC1D45B1-FA85-D311-3D89-4F23AE1DD7C0}"/>
                  </a:ext>
                </a:extLst>
              </p:cNvPr>
              <p:cNvSpPr txBox="1"/>
              <p:nvPr/>
            </p:nvSpPr>
            <p:spPr>
              <a:xfrm>
                <a:off x="7686995" y="5088912"/>
                <a:ext cx="605576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16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(1)</m:t>
                      </m:r>
                    </m:oMath>
                  </m:oMathPara>
                </a14:m>
                <a:endParaRPr lang="en-IN" sz="1600" dirty="0">
                  <a:solidFill>
                    <a:schemeClr val="accent2"/>
                  </a:solidFill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AC1D45B1-FA85-D311-3D89-4F23AE1DD7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86995" y="5088912"/>
                <a:ext cx="605576" cy="338554"/>
              </a:xfrm>
              <a:prstGeom prst="rect">
                <a:avLst/>
              </a:prstGeom>
              <a:blipFill>
                <a:blip r:embed="rId17"/>
                <a:stretch>
                  <a:fillRect b="-1272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Rectangle 22">
            <a:extLst>
              <a:ext uri="{FF2B5EF4-FFF2-40B4-BE49-F238E27FC236}">
                <a16:creationId xmlns:a16="http://schemas.microsoft.com/office/drawing/2014/main" id="{ED219DC6-73DD-998B-A528-8CC09B5802DC}"/>
              </a:ext>
            </a:extLst>
          </p:cNvPr>
          <p:cNvSpPr/>
          <p:nvPr/>
        </p:nvSpPr>
        <p:spPr>
          <a:xfrm>
            <a:off x="4780673" y="5306836"/>
            <a:ext cx="522513" cy="13722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9982740-CB19-FDC8-1A31-02BF33AAFF8A}"/>
                  </a:ext>
                </a:extLst>
              </p:cNvPr>
              <p:cNvSpPr txBox="1"/>
              <p:nvPr/>
            </p:nvSpPr>
            <p:spPr>
              <a:xfrm>
                <a:off x="4707659" y="5101118"/>
                <a:ext cx="605576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16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(2)</m:t>
                      </m:r>
                    </m:oMath>
                  </m:oMathPara>
                </a14:m>
                <a:endParaRPr lang="en-IN" sz="1600" dirty="0">
                  <a:solidFill>
                    <a:schemeClr val="accent2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9982740-CB19-FDC8-1A31-02BF33AAFF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07659" y="5101118"/>
                <a:ext cx="605576" cy="338554"/>
              </a:xfrm>
              <a:prstGeom prst="rect">
                <a:avLst/>
              </a:prstGeom>
              <a:blipFill>
                <a:blip r:embed="rId18"/>
                <a:stretch>
                  <a:fillRect b="-1272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Box 23">
            <a:extLst>
              <a:ext uri="{FF2B5EF4-FFF2-40B4-BE49-F238E27FC236}">
                <a16:creationId xmlns:a16="http://schemas.microsoft.com/office/drawing/2014/main" id="{484363EA-0C04-7BA8-E2A9-9835378E578B}"/>
              </a:ext>
            </a:extLst>
          </p:cNvPr>
          <p:cNvSpPr txBox="1"/>
          <p:nvPr/>
        </p:nvSpPr>
        <p:spPr>
          <a:xfrm>
            <a:off x="8410812" y="6334779"/>
            <a:ext cx="16834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simplify</a:t>
            </a:r>
          </a:p>
        </p:txBody>
      </p:sp>
    </p:spTree>
    <p:extLst>
      <p:ext uri="{BB962C8B-B14F-4D97-AF65-F5344CB8AC3E}">
        <p14:creationId xmlns:p14="http://schemas.microsoft.com/office/powerpoint/2010/main" val="1558136369"/>
      </p:ext>
    </p:extLst>
  </p:cSld>
  <p:clrMapOvr>
    <a:masterClrMapping/>
  </p:clrMapOvr>
</p:sld>
</file>

<file path=ppt/theme/theme1.xml><?xml version="1.0" encoding="utf-8"?>
<a:theme xmlns:a="http://schemas.openxmlformats.org/drawingml/2006/main" name="TribuneVTI">
  <a:themeElements>
    <a:clrScheme name="AnalogousFromDarkSeedLeftStep">
      <a:dk1>
        <a:srgbClr val="000000"/>
      </a:dk1>
      <a:lt1>
        <a:srgbClr val="FFFFFF"/>
      </a:lt1>
      <a:dk2>
        <a:srgbClr val="1C2031"/>
      </a:dk2>
      <a:lt2>
        <a:srgbClr val="F0F3F1"/>
      </a:lt2>
      <a:accent1>
        <a:srgbClr val="D040B9"/>
      </a:accent1>
      <a:accent2>
        <a:srgbClr val="9A2EBE"/>
      </a:accent2>
      <a:accent3>
        <a:srgbClr val="6F40D0"/>
      </a:accent3>
      <a:accent4>
        <a:srgbClr val="3440C0"/>
      </a:accent4>
      <a:accent5>
        <a:srgbClr val="4088D0"/>
      </a:accent5>
      <a:accent6>
        <a:srgbClr val="2EB3BE"/>
      </a:accent6>
      <a:hlink>
        <a:srgbClr val="3F6ABF"/>
      </a:hlink>
      <a:folHlink>
        <a:srgbClr val="7F7F7F"/>
      </a:folHlink>
    </a:clrScheme>
    <a:fontScheme name="Amasis-Univers">
      <a:majorFont>
        <a:latin typeface="Amasis MT Pro Medium"/>
        <a:ea typeface=""/>
        <a:cs typeface=""/>
      </a:majorFont>
      <a:minorFont>
        <a:latin typeface="Univer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ribuneVTI" id="{4D84C650-59FC-4F6B-ADA6-B11C508FF6CE}" vid="{0E07EAE6-ACBC-4250-8522-FC108A45043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TM03090434[[fn=Wood Type]]</Template>
  <TotalTime>2518</TotalTime>
  <Words>194</Words>
  <Application>Microsoft Office PowerPoint</Application>
  <PresentationFormat>Widescreen</PresentationFormat>
  <Paragraphs>55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0" baseType="lpstr">
      <vt:lpstr>Amasis MT Pro Medium</vt:lpstr>
      <vt:lpstr>Arial</vt:lpstr>
      <vt:lpstr>Calibri</vt:lpstr>
      <vt:lpstr>Cambria Math</vt:lpstr>
      <vt:lpstr>Roboto</vt:lpstr>
      <vt:lpstr>Times New Roman</vt:lpstr>
      <vt:lpstr>Univers Light</vt:lpstr>
      <vt:lpstr>TribuneVTI</vt:lpstr>
      <vt:lpstr>System Models and Dynamical Response  23AID201  Lecture 4    </vt:lpstr>
      <vt:lpstr>PowerPoint Presentation</vt:lpstr>
      <vt:lpstr>PowerPoint Presentation</vt:lpstr>
      <vt:lpstr>Behavioural Models</vt:lpstr>
      <vt:lpstr>PowerPoint Presentation</vt:lpstr>
      <vt:lpstr>Input-Output Models</vt:lpstr>
      <vt:lpstr>PowerPoint Presentation</vt:lpstr>
      <vt:lpstr>PowerPoint Presentation</vt:lpstr>
      <vt:lpstr>PowerPoint Presentation</vt:lpstr>
      <vt:lpstr>PowerPoint Presentation</vt:lpstr>
      <vt:lpstr>State Space Models</vt:lpstr>
      <vt:lpstr>PowerPoint Presentation</vt:lpstr>
      <vt:lpstr>General  Description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Linearization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Probability and Statistics for Engineers  CSEG 2036P</dc:title>
  <dc:creator>Mrittunjoy Guha Majumdar</dc:creator>
  <cp:lastModifiedBy>Abhiram Nanduri</cp:lastModifiedBy>
  <cp:revision>216</cp:revision>
  <dcterms:created xsi:type="dcterms:W3CDTF">2023-08-29T03:39:07Z</dcterms:created>
  <dcterms:modified xsi:type="dcterms:W3CDTF">2025-12-03T17:28:52Z</dcterms:modified>
</cp:coreProperties>
</file>