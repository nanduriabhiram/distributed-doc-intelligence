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7" r:id="rId2"/>
    <p:sldId id="376" r:id="rId3"/>
    <p:sldId id="377" r:id="rId4"/>
    <p:sldId id="378" r:id="rId5"/>
    <p:sldId id="379" r:id="rId6"/>
    <p:sldId id="380" r:id="rId7"/>
    <p:sldId id="461" r:id="rId8"/>
    <p:sldId id="465" r:id="rId9"/>
    <p:sldId id="462" r:id="rId10"/>
    <p:sldId id="463" r:id="rId11"/>
    <p:sldId id="464" r:id="rId12"/>
    <p:sldId id="466" r:id="rId13"/>
    <p:sldId id="382" r:id="rId14"/>
    <p:sldId id="459" r:id="rId15"/>
    <p:sldId id="38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05D5C9-6E48-46EC-9AAE-17B6B9249DDC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37D0C2-B352-43AE-A2E4-8CBB5BA8E6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3902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>
            <a:extLst>
              <a:ext uri="{FF2B5EF4-FFF2-40B4-BE49-F238E27FC236}">
                <a16:creationId xmlns:a16="http://schemas.microsoft.com/office/drawing/2014/main" id="{D8B258B5-A491-5C06-4313-4214F56AFE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A6FB2CA-97E0-4B6E-B04C-2D73C30F3F5F}" type="slidenum">
              <a:rPr lang="ar-SA" altLang="en-US">
                <a:latin typeface="Arial" panose="020B0604020202020204" pitchFamily="34" charset="0"/>
              </a:rPr>
              <a:pPr eaLnBrk="1" hangingPunct="1"/>
              <a:t>2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02C637AC-0A8A-94B8-88D7-336FAE870FC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>
            <a:extLst>
              <a:ext uri="{FF2B5EF4-FFF2-40B4-BE49-F238E27FC236}">
                <a16:creationId xmlns:a16="http://schemas.microsoft.com/office/drawing/2014/main" id="{C6B58E04-5B5C-4084-03BC-DA9C2AA7A8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30250" y="4560888"/>
            <a:ext cx="585470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>
            <a:extLst>
              <a:ext uri="{FF2B5EF4-FFF2-40B4-BE49-F238E27FC236}">
                <a16:creationId xmlns:a16="http://schemas.microsoft.com/office/drawing/2014/main" id="{0866C1E4-FAEB-54F7-9B48-FA2AB5F08BD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3E349CA-DCE5-4579-8FE6-21F3BABC75FF}" type="slidenum">
              <a:rPr lang="ar-SA" altLang="en-US">
                <a:latin typeface="Arial" panose="020B0604020202020204" pitchFamily="34" charset="0"/>
              </a:rPr>
              <a:pPr eaLnBrk="1" hangingPunct="1"/>
              <a:t>3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D9DB1CDE-9593-DC90-6C66-40D8A614A36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F10E3798-31F4-2D12-7544-659456A8D1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30250" y="4560888"/>
            <a:ext cx="585470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>
            <a:extLst>
              <a:ext uri="{FF2B5EF4-FFF2-40B4-BE49-F238E27FC236}">
                <a16:creationId xmlns:a16="http://schemas.microsoft.com/office/drawing/2014/main" id="{67DA8486-F410-F1D3-9615-9009FE942E1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85F7160-4670-43CE-B5F3-730B7D487CCA}" type="slidenum">
              <a:rPr lang="ar-SA" altLang="en-US">
                <a:latin typeface="Arial" panose="020B0604020202020204" pitchFamily="34" charset="0"/>
              </a:rPr>
              <a:pPr eaLnBrk="1" hangingPunct="1"/>
              <a:t>4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8E4130BE-F702-8E7B-0B95-10F48781BF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9E965434-1383-281E-F26C-B9C1F745B0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30250" y="4560888"/>
            <a:ext cx="585470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80375B08-84CF-DF58-B5FB-1BD00F1AC6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37EA1D5-BD0A-4079-BE31-BD9BCE030F6A}" type="slidenum">
              <a:rPr lang="ar-SA" altLang="en-US">
                <a:latin typeface="Arial" panose="020B0604020202020204" pitchFamily="34" charset="0"/>
              </a:rPr>
              <a:pPr eaLnBrk="1" hangingPunct="1"/>
              <a:t>5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27AFD449-920D-E69E-6FE9-64DCB4DA12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7B566D2F-1AF3-3A2E-09C4-6F509F5AF1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30250" y="4560888"/>
            <a:ext cx="585470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>
            <a:extLst>
              <a:ext uri="{FF2B5EF4-FFF2-40B4-BE49-F238E27FC236}">
                <a16:creationId xmlns:a16="http://schemas.microsoft.com/office/drawing/2014/main" id="{0E4D3B1A-0437-6C63-F4F7-C7C955AFA18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1A8E23A3-8E2B-452B-9D7A-9ABCB4BF9BDB}" type="slidenum">
              <a:rPr lang="ar-SA" altLang="en-US">
                <a:latin typeface="Arial" panose="020B0604020202020204" pitchFamily="34" charset="0"/>
              </a:rPr>
              <a:pPr eaLnBrk="1" hangingPunct="1"/>
              <a:t>6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38319B0A-D32E-FC91-7880-4B3D9E865C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067577A6-9BC8-DF5D-2445-A1A97F2C37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30250" y="4560888"/>
            <a:ext cx="585470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19CB5E0D-0990-1400-EFCC-A96836D102B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F0A9020-2439-4E9F-96D2-BDEDE0B3126C}" type="slidenum">
              <a:rPr lang="ar-SA" altLang="en-US">
                <a:latin typeface="Arial" panose="020B0604020202020204" pitchFamily="34" charset="0"/>
              </a:rPr>
              <a:pPr eaLnBrk="1" hangingPunct="1"/>
              <a:t>7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73C37B7E-9988-12EA-1293-0BF2D18103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1E56D203-DE7B-917B-3D4E-62995308CA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30250" y="4560888"/>
            <a:ext cx="585470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>
            <a:extLst>
              <a:ext uri="{FF2B5EF4-FFF2-40B4-BE49-F238E27FC236}">
                <a16:creationId xmlns:a16="http://schemas.microsoft.com/office/drawing/2014/main" id="{AD3ABCA2-C799-6755-8899-C3A480F1CED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AD29206-8832-49B1-8B24-B5A6938FF58A}" type="slidenum">
              <a:rPr lang="ar-SA" altLang="en-US">
                <a:latin typeface="Arial" panose="020B0604020202020204" pitchFamily="34" charset="0"/>
              </a:rPr>
              <a:pPr eaLnBrk="1" hangingPunct="1"/>
              <a:t>8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B31AAB26-807E-1061-2C88-E8D89875197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>
            <a:extLst>
              <a:ext uri="{FF2B5EF4-FFF2-40B4-BE49-F238E27FC236}">
                <a16:creationId xmlns:a16="http://schemas.microsoft.com/office/drawing/2014/main" id="{5DD4E0E5-29A7-6D42-24E9-D091DF0730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30250" y="4560888"/>
            <a:ext cx="585470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BFA6463E-FC69-90A9-F938-5D33F023AE1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6A09422-0842-49DD-B1DB-450DB46BFEC3}" type="slidenum">
              <a:rPr lang="ar-SA" altLang="en-US">
                <a:latin typeface="Arial" panose="020B0604020202020204" pitchFamily="34" charset="0"/>
              </a:rPr>
              <a:pPr eaLnBrk="1" hangingPunct="1"/>
              <a:t>9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D41C1200-E961-F50E-CF11-7FA800FEC87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F18C3931-611E-3E41-D9EB-D689BDD823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30250" y="4560888"/>
            <a:ext cx="585470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>
            <a:extLst>
              <a:ext uri="{FF2B5EF4-FFF2-40B4-BE49-F238E27FC236}">
                <a16:creationId xmlns:a16="http://schemas.microsoft.com/office/drawing/2014/main" id="{635A174E-B88D-794F-4083-389D076AB20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7D4C245-9E9B-4BE9-ADFC-F44891CFDF32}" type="slidenum">
              <a:rPr lang="ar-SA" altLang="en-US">
                <a:latin typeface="Arial" panose="020B0604020202020204" pitchFamily="34" charset="0"/>
              </a:rPr>
              <a:pPr eaLnBrk="1" hangingPunct="1"/>
              <a:t>10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A4391497-D345-D361-72A1-E17E25B4BB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917C3A77-9F5E-18B1-44D3-B40801811D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30250" y="4560888"/>
            <a:ext cx="585470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>
            <a:extLst>
              <a:ext uri="{FF2B5EF4-FFF2-40B4-BE49-F238E27FC236}">
                <a16:creationId xmlns:a16="http://schemas.microsoft.com/office/drawing/2014/main" id="{3992F28B-9F7F-5E0A-D467-82277E2AB4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90F6C55-6D2B-4EA4-8E07-5BECBBB91842}" type="slidenum">
              <a:rPr lang="ar-SA" altLang="en-US">
                <a:latin typeface="Arial" panose="020B0604020202020204" pitchFamily="34" charset="0"/>
              </a:rPr>
              <a:pPr eaLnBrk="1" hangingPunct="1"/>
              <a:t>11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12CBCC49-FABC-15DA-E3F3-F26312E0605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>
            <a:extLst>
              <a:ext uri="{FF2B5EF4-FFF2-40B4-BE49-F238E27FC236}">
                <a16:creationId xmlns:a16="http://schemas.microsoft.com/office/drawing/2014/main" id="{D8EEDDB8-19B1-A814-A22E-AEC9D6C273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30250" y="4560888"/>
            <a:ext cx="585470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>
            <a:extLst>
              <a:ext uri="{FF2B5EF4-FFF2-40B4-BE49-F238E27FC236}">
                <a16:creationId xmlns:a16="http://schemas.microsoft.com/office/drawing/2014/main" id="{3A4A25B9-F745-F60B-F5EE-7821A71C31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ED105C7-30EA-42EB-A65B-2B9533FDE2C1}" type="slidenum">
              <a:rPr lang="ar-SA" altLang="en-US">
                <a:latin typeface="Arial" panose="020B0604020202020204" pitchFamily="34" charset="0"/>
              </a:rPr>
              <a:pPr eaLnBrk="1" hangingPunct="1"/>
              <a:t>12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F489F901-34FC-1D59-BEF9-D33971EEA6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>
            <a:extLst>
              <a:ext uri="{FF2B5EF4-FFF2-40B4-BE49-F238E27FC236}">
                <a16:creationId xmlns:a16="http://schemas.microsoft.com/office/drawing/2014/main" id="{A3D889BE-29A2-8DA9-F894-1AF94034C0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30250" y="4560888"/>
            <a:ext cx="585470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>
            <a:extLst>
              <a:ext uri="{FF2B5EF4-FFF2-40B4-BE49-F238E27FC236}">
                <a16:creationId xmlns:a16="http://schemas.microsoft.com/office/drawing/2014/main" id="{C10C048D-E990-CDF2-759D-29FF48900E2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6800306-0B34-45B3-AF2F-1E8FD560425A}" type="slidenum">
              <a:rPr lang="ar-SA" altLang="en-US">
                <a:latin typeface="Arial" panose="020B0604020202020204" pitchFamily="34" charset="0"/>
              </a:rPr>
              <a:pPr eaLnBrk="1" hangingPunct="1"/>
              <a:t>13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id="{5B76F4E2-4AA2-F4EE-4944-A0AC8296DA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>
            <a:extLst>
              <a:ext uri="{FF2B5EF4-FFF2-40B4-BE49-F238E27FC236}">
                <a16:creationId xmlns:a16="http://schemas.microsoft.com/office/drawing/2014/main" id="{223841E6-75EB-3057-C535-F48653772F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30250" y="4560888"/>
            <a:ext cx="585470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>
            <a:extLst>
              <a:ext uri="{FF2B5EF4-FFF2-40B4-BE49-F238E27FC236}">
                <a16:creationId xmlns:a16="http://schemas.microsoft.com/office/drawing/2014/main" id="{E193CF14-9EC2-FDC4-B6C0-223080FD95A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FF2B950-ECA8-48C1-9DB6-B128637A85B2}" type="slidenum">
              <a:rPr lang="ar-SA" altLang="en-US">
                <a:latin typeface="Arial" panose="020B0604020202020204" pitchFamily="34" charset="0"/>
              </a:rPr>
              <a:pPr eaLnBrk="1" hangingPunct="1"/>
              <a:t>14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0018AFE9-EC23-71ED-DE19-6017161726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>
            <a:extLst>
              <a:ext uri="{FF2B5EF4-FFF2-40B4-BE49-F238E27FC236}">
                <a16:creationId xmlns:a16="http://schemas.microsoft.com/office/drawing/2014/main" id="{3BD54641-24C5-7576-CD3B-09A30C72A3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30250" y="4560888"/>
            <a:ext cx="585470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>
            <a:extLst>
              <a:ext uri="{FF2B5EF4-FFF2-40B4-BE49-F238E27FC236}">
                <a16:creationId xmlns:a16="http://schemas.microsoft.com/office/drawing/2014/main" id="{0299E37E-1001-78B6-2EFB-02C5D99C04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defTabSz="915988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1DD4D84-E24E-47A6-B4F4-FDBCE1747273}" type="slidenum">
              <a:rPr lang="ar-SA" altLang="en-US">
                <a:latin typeface="Arial" panose="020B0604020202020204" pitchFamily="34" charset="0"/>
              </a:rPr>
              <a:pPr eaLnBrk="1" hangingPunct="1"/>
              <a:t>15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87043" name="Rectangle 2">
            <a:extLst>
              <a:ext uri="{FF2B5EF4-FFF2-40B4-BE49-F238E27FC236}">
                <a16:creationId xmlns:a16="http://schemas.microsoft.com/office/drawing/2014/main" id="{3829E6BB-D823-DBEF-0273-8B40D62BCD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>
            <a:extLst>
              <a:ext uri="{FF2B5EF4-FFF2-40B4-BE49-F238E27FC236}">
                <a16:creationId xmlns:a16="http://schemas.microsoft.com/office/drawing/2014/main" id="{722F5FD6-E7C6-D613-24A5-C53DDACF46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30250" y="4560888"/>
            <a:ext cx="585470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001EC-8677-FF16-AE3D-4D47C445BA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E5E77B-6A4C-6C3B-9B11-CD22DEC021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86A74E-1F16-18D1-DF20-CF079DD6D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C9655-E37F-4647-AFD4-4AF0E68FF503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F98A7F-FCA2-7EB5-4957-010E05C0B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3207F-6DDB-42D7-565D-D8930953F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28735-140A-4228-893B-FE55C4A105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7630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2DD48-ABDF-2C8A-FB1E-E747C635E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1FCE1-757E-3ED1-9761-E2CD9AC9BD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177FFD-7601-4151-08E4-2F477B231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C9655-E37F-4647-AFD4-4AF0E68FF503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53CD66-637B-2A69-06A1-A0CD8C70A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B881-015A-7FF1-AE00-AD6A3D3E2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28735-140A-4228-893B-FE55C4A105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8236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F8153-1C8D-C62F-AF90-07D50B6F6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7765B3-06C8-3519-823A-66481A8DF7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C7B66B-B104-AA47-35B0-C374BA2CA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C9655-E37F-4647-AFD4-4AF0E68FF503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310141-1B19-FFE6-4901-8C767BDBA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2BDCF-C6C9-1558-A156-6A2E1C08A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28735-140A-4228-893B-FE55C4A105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9884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AFB15-7204-3778-D95D-F0DB950AB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5114F-8560-C379-0BD9-828BAB276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36AC7C-1F2B-B2E4-604A-E9E2E2DF84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7C1B38-B0D4-76A3-BDCE-591B9F656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C9655-E37F-4647-AFD4-4AF0E68FF503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8C904A-3AC3-77BE-7ADD-6AAEA26C9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D65A81-28E3-147C-CEF1-42C20F985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28735-140A-4228-893B-FE55C4A105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3045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BA4A2-8F04-24E3-B2B5-AE190429E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C64753-3C67-0BF3-E367-2AE487E94A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BD43B3-3251-12BB-961B-69435DC0E1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EDEDF3-36A4-A12D-5396-A8EA4E80C1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B7EE75-EF32-7206-C10E-D34A3BD4C9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815E8C-4E72-2A1A-31CD-A98A79EB9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C9655-E37F-4647-AFD4-4AF0E68FF503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4AB5F8-DDFE-9916-63C1-BA324C7C7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CE98BD-2D6E-8070-794B-6972823BF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28735-140A-4228-893B-FE55C4A105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3545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985A7-B1B5-8706-9C30-53B849E85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8073E0-7353-259D-D5D4-B30B935B0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C9655-E37F-4647-AFD4-4AF0E68FF503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4CB8BC-4A89-205C-FB41-80F38F462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B1877E-2A78-376F-7EA9-CE98DB26D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28735-140A-4228-893B-FE55C4A105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03537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58632D-7179-F7B0-5836-FD9B3613C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C9655-E37F-4647-AFD4-4AF0E68FF503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3CBF76-CD18-50DC-99B5-E3A61CD7D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C2167E-EF59-1FE7-1176-30908462C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28735-140A-4228-893B-FE55C4A105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1883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D5045-3F96-13D2-7301-88ECB6DE3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9DFB5-6AC5-985C-489F-C0C280DAA5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04F395-1536-4761-9196-EF84D74D76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5155A2-FF5F-78F4-FE9C-CA6A3789F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C9655-E37F-4647-AFD4-4AF0E68FF503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91C3F-DF74-1EA3-7B52-D65CD2E5A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249470-CFCA-0DDC-6841-6BEE7C20E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28735-140A-4228-893B-FE55C4A105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2137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AFA3A-8765-FF74-9812-5F657EEB3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A56A2D-2921-1BAA-068F-CD9BFA3A28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4B8739-BC40-9E26-6059-3D75E5302A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7CD784-5AF9-F9BA-191E-750134DC9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C9655-E37F-4647-AFD4-4AF0E68FF503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B249A5-66FC-6671-7235-260E14511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47B108-E9FD-9B90-8F73-EA5F174C4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28735-140A-4228-893B-FE55C4A105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1626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5E760-91A5-DEED-A9AB-FA677DB3F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DBAA67-19D9-F80E-97B0-F09D03DFFA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6E0BED-743E-6AC1-7E15-7D6D25AE4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C9655-E37F-4647-AFD4-4AF0E68FF503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B1CF67-0EC4-09AF-242F-6CE7FC2DA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15FBBA-CA10-BA9D-0C05-D53A6DA80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28735-140A-4228-893B-FE55C4A105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3845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C9F4ED-2CD0-CADC-B291-C6B1523DE9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31A8D0-1DE6-ED99-B119-774981F46F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B5F97E-1762-9E96-8EA1-89A4B47BF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C9655-E37F-4647-AFD4-4AF0E68FF503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8DC212-315F-9C07-A918-BB51A9438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AA8DD1-FADD-1D09-9341-24EDF4336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28735-140A-4228-893B-FE55C4A105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9369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971CC9-CE99-C9AF-DD54-6A95E065D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7B73EE-6876-8ED9-2CC3-01C4E1243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098033-287B-80A0-2608-09677183ED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8C9655-E37F-4647-AFD4-4AF0E68FF503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8F6CAE-47A3-64C3-F5C4-F4873BB740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5487FB-29B6-AF35-59EA-A6AD8ADB75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228735-140A-4228-893B-FE55C4A105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0173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w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w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695865"/>
            <a:ext cx="7772400" cy="2895599"/>
          </a:xfrm>
        </p:spPr>
        <p:txBody>
          <a:bodyPr/>
          <a:lstStyle/>
          <a:p>
            <a:r>
              <a:rPr lang="en-US" dirty="0"/>
              <a:t>PARTIAL DIFFERENTIAL EQUATIONS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ABCD72-7E7A-527E-3357-E7AD83789661}"/>
              </a:ext>
            </a:extLst>
          </p:cNvPr>
          <p:cNvSpPr txBox="1"/>
          <p:nvPr/>
        </p:nvSpPr>
        <p:spPr>
          <a:xfrm>
            <a:off x="3286664" y="4123426"/>
            <a:ext cx="57193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Dr. Anirban Tarafdar</a:t>
            </a:r>
          </a:p>
          <a:p>
            <a:pPr algn="ctr"/>
            <a:r>
              <a:rPr lang="en-IN" dirty="0"/>
              <a:t>Amrita Vishwa Vidyapeetham, Faridabad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Slide Number Placeholder 5">
            <a:extLst>
              <a:ext uri="{FF2B5EF4-FFF2-40B4-BE49-F238E27FC236}">
                <a16:creationId xmlns:a16="http://schemas.microsoft.com/office/drawing/2014/main" id="{06249121-041E-2897-B9EA-1E893870F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661D3E7-B182-459B-8DD1-62A2F01684DF}" type="slidenum">
              <a:rPr lang="ar-SA" altLang="en-US"/>
              <a:pPr eaLnBrk="1" hangingPunct="1"/>
              <a:t>2</a:t>
            </a:fld>
            <a:endParaRPr lang="en-US" altLang="en-US"/>
          </a:p>
        </p:txBody>
      </p:sp>
      <p:sp>
        <p:nvSpPr>
          <p:cNvPr id="1029" name="Rectangle 2">
            <a:extLst>
              <a:ext uri="{FF2B5EF4-FFF2-40B4-BE49-F238E27FC236}">
                <a16:creationId xmlns:a16="http://schemas.microsoft.com/office/drawing/2014/main" id="{00D525AA-2941-7B16-F5D9-370524CD28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Partial Differential Equations</a:t>
            </a:r>
          </a:p>
        </p:txBody>
      </p:sp>
      <p:graphicFrame>
        <p:nvGraphicFramePr>
          <p:cNvPr id="1026" name="Object 3">
            <a:extLst>
              <a:ext uri="{FF2B5EF4-FFF2-40B4-BE49-F238E27FC236}">
                <a16:creationId xmlns:a16="http://schemas.microsoft.com/office/drawing/2014/main" id="{7473B326-3149-F0EC-D77F-99C1A90A21D3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2209800" y="3286125"/>
          <a:ext cx="7924800" cy="2840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047760" imgH="1091880" progId="Equation.3">
                  <p:embed/>
                </p:oleObj>
              </mc:Choice>
              <mc:Fallback>
                <p:oleObj name="Equation" r:id="rId3" imgW="3047760" imgH="1091880" progId="Equation.3">
                  <p:embed/>
                  <p:pic>
                    <p:nvPicPr>
                      <p:cNvPr id="1026" name="Object 3">
                        <a:extLst>
                          <a:ext uri="{FF2B5EF4-FFF2-40B4-BE49-F238E27FC236}">
                            <a16:creationId xmlns:a16="http://schemas.microsoft.com/office/drawing/2014/main" id="{7473B326-3149-F0EC-D77F-99C1A90A21D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3286125"/>
                        <a:ext cx="7924800" cy="2840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Text Box 4">
            <a:extLst>
              <a:ext uri="{FF2B5EF4-FFF2-40B4-BE49-F238E27FC236}">
                <a16:creationId xmlns:a16="http://schemas.microsoft.com/office/drawing/2014/main" id="{F735FD28-F9E5-E1F9-04B7-FFFA4DC86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1676400"/>
            <a:ext cx="7162800" cy="178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800">
                <a:latin typeface="Arial" panose="020B0604020202020204" pitchFamily="34" charset="0"/>
              </a:rPr>
              <a:t>A 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</a:rPr>
              <a:t>partial differential equation</a:t>
            </a:r>
            <a:r>
              <a:rPr lang="en-US" altLang="en-US" sz="2800">
                <a:latin typeface="Arial" panose="020B0604020202020204" pitchFamily="34" charset="0"/>
              </a:rPr>
              <a:t> (</a:t>
            </a:r>
            <a:r>
              <a:rPr lang="en-US" altLang="en-US" sz="2800" b="1">
                <a:solidFill>
                  <a:srgbClr val="FF0000"/>
                </a:solidFill>
                <a:latin typeface="Arial" panose="020B0604020202020204" pitchFamily="34" charset="0"/>
              </a:rPr>
              <a:t>PDE</a:t>
            </a:r>
            <a:r>
              <a:rPr lang="en-US" altLang="en-US" sz="2800">
                <a:latin typeface="Arial" panose="020B0604020202020204" pitchFamily="34" charset="0"/>
              </a:rPr>
              <a:t>) is an equation that involves an unknown function and its partial derivatives. </a:t>
            </a:r>
          </a:p>
          <a:p>
            <a:pPr eaLnBrk="1" hangingPunct="1">
              <a:spcBef>
                <a:spcPct val="50000"/>
              </a:spcBef>
            </a:pP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031" name="Rectangle 5">
            <a:extLst>
              <a:ext uri="{FF2B5EF4-FFF2-40B4-BE49-F238E27FC236}">
                <a16:creationId xmlns:a16="http://schemas.microsoft.com/office/drawing/2014/main" id="{1F8D5BB5-69FA-6AC6-3BBB-85E70DACEA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600200"/>
            <a:ext cx="7696200" cy="1600200"/>
          </a:xfrm>
          <a:prstGeom prst="rect">
            <a:avLst/>
          </a:prstGeom>
          <a:solidFill>
            <a:schemeClr val="accent1">
              <a:alpha val="23921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Slide Number Placeholder 5">
            <a:extLst>
              <a:ext uri="{FF2B5EF4-FFF2-40B4-BE49-F238E27FC236}">
                <a16:creationId xmlns:a16="http://schemas.microsoft.com/office/drawing/2014/main" id="{CFF43D09-6482-C613-7940-17C68FAB8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1828E68D-1105-48B8-8728-80CF67FC9B45}" type="slidenum">
              <a:rPr lang="ar-SA" altLang="en-US"/>
              <a:pPr eaLnBrk="1" hangingPunct="1"/>
              <a:t>3</a:t>
            </a:fld>
            <a:endParaRPr lang="en-US" altLang="en-US"/>
          </a:p>
        </p:txBody>
      </p:sp>
      <p:sp>
        <p:nvSpPr>
          <p:cNvPr id="2053" name="Rectangle 2">
            <a:extLst>
              <a:ext uri="{FF2B5EF4-FFF2-40B4-BE49-F238E27FC236}">
                <a16:creationId xmlns:a16="http://schemas.microsoft.com/office/drawing/2014/main" id="{90B199FC-3CAD-0C8B-AC5D-37A5674CAE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Notation</a:t>
            </a:r>
          </a:p>
        </p:txBody>
      </p:sp>
      <p:graphicFrame>
        <p:nvGraphicFramePr>
          <p:cNvPr id="2050" name="Object 3">
            <a:extLst>
              <a:ext uri="{FF2B5EF4-FFF2-40B4-BE49-F238E27FC236}">
                <a16:creationId xmlns:a16="http://schemas.microsoft.com/office/drawing/2014/main" id="{EB1E3552-098D-AED9-FF1F-8E5B4EA11043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2057400" y="1752601"/>
          <a:ext cx="8153400" cy="315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479760" imgH="1346040" progId="Equation.3">
                  <p:embed/>
                </p:oleObj>
              </mc:Choice>
              <mc:Fallback>
                <p:oleObj name="Equation" r:id="rId3" imgW="3479760" imgH="1346040" progId="Equation.3">
                  <p:embed/>
                  <p:pic>
                    <p:nvPicPr>
                      <p:cNvPr id="2050" name="Object 3">
                        <a:extLst>
                          <a:ext uri="{FF2B5EF4-FFF2-40B4-BE49-F238E27FC236}">
                            <a16:creationId xmlns:a16="http://schemas.microsoft.com/office/drawing/2014/main" id="{EB1E3552-098D-AED9-FF1F-8E5B4EA1104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1752601"/>
                        <a:ext cx="8153400" cy="3154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Slide Number Placeholder 5">
            <a:extLst>
              <a:ext uri="{FF2B5EF4-FFF2-40B4-BE49-F238E27FC236}">
                <a16:creationId xmlns:a16="http://schemas.microsoft.com/office/drawing/2014/main" id="{51ABB386-65B1-0D4D-EE03-2AD5AA84B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B5B8724-FE24-4480-A07C-0CB5D24B27BE}" type="slidenum">
              <a:rPr lang="ar-SA" altLang="en-US"/>
              <a:pPr eaLnBrk="1" hangingPunct="1"/>
              <a:t>4</a:t>
            </a:fld>
            <a:endParaRPr lang="en-US" altLang="en-US"/>
          </a:p>
        </p:txBody>
      </p:sp>
      <p:sp>
        <p:nvSpPr>
          <p:cNvPr id="3077" name="Rectangle 2">
            <a:extLst>
              <a:ext uri="{FF2B5EF4-FFF2-40B4-BE49-F238E27FC236}">
                <a16:creationId xmlns:a16="http://schemas.microsoft.com/office/drawing/2014/main" id="{B553A191-2AA0-3B31-F65C-1A1917E839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Linear PDE</a:t>
            </a:r>
            <a:br>
              <a:rPr lang="en-US" altLang="en-US"/>
            </a:br>
            <a:r>
              <a:rPr lang="en-US" altLang="en-US" sz="3600"/>
              <a:t>Classification</a:t>
            </a:r>
          </a:p>
        </p:txBody>
      </p:sp>
      <p:graphicFrame>
        <p:nvGraphicFramePr>
          <p:cNvPr id="3074" name="Object 3">
            <a:extLst>
              <a:ext uri="{FF2B5EF4-FFF2-40B4-BE49-F238E27FC236}">
                <a16:creationId xmlns:a16="http://schemas.microsoft.com/office/drawing/2014/main" id="{AB78F3BC-6820-E583-F6E1-48FBB253EC6F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2136776" y="1524000"/>
          <a:ext cx="6240463" cy="467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844720" imgH="2133360" progId="Equation.3">
                  <p:embed/>
                </p:oleObj>
              </mc:Choice>
              <mc:Fallback>
                <p:oleObj name="Equation" r:id="rId3" imgW="2844720" imgH="2133360" progId="Equation.3">
                  <p:embed/>
                  <p:pic>
                    <p:nvPicPr>
                      <p:cNvPr id="3074" name="Object 3">
                        <a:extLst>
                          <a:ext uri="{FF2B5EF4-FFF2-40B4-BE49-F238E27FC236}">
                            <a16:creationId xmlns:a16="http://schemas.microsoft.com/office/drawing/2014/main" id="{AB78F3BC-6820-E583-F6E1-48FBB253EC6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6776" y="1524000"/>
                        <a:ext cx="6240463" cy="467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8" name="Rectangle 4">
            <a:extLst>
              <a:ext uri="{FF2B5EF4-FFF2-40B4-BE49-F238E27FC236}">
                <a16:creationId xmlns:a16="http://schemas.microsoft.com/office/drawing/2014/main" id="{DC6E28F2-F9F5-0A3A-D7A7-DC72BDD77A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1447800"/>
            <a:ext cx="8229600" cy="990600"/>
          </a:xfrm>
          <a:prstGeom prst="rect">
            <a:avLst/>
          </a:prstGeom>
          <a:noFill/>
          <a:ln w="508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079" name="Line 6">
            <a:extLst>
              <a:ext uri="{FF2B5EF4-FFF2-40B4-BE49-F238E27FC236}">
                <a16:creationId xmlns:a16="http://schemas.microsoft.com/office/drawing/2014/main" id="{4553556D-36CC-B836-7FD5-D345CA7B403C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5105400"/>
            <a:ext cx="7620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80" name="Line 7">
            <a:extLst>
              <a:ext uri="{FF2B5EF4-FFF2-40B4-BE49-F238E27FC236}">
                <a16:creationId xmlns:a16="http://schemas.microsoft.com/office/drawing/2014/main" id="{EFA4C5A2-ADB3-92AE-2293-FB92ED1AB002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5715000"/>
            <a:ext cx="7620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81" name="Line 8">
            <a:extLst>
              <a:ext uri="{FF2B5EF4-FFF2-40B4-BE49-F238E27FC236}">
                <a16:creationId xmlns:a16="http://schemas.microsoft.com/office/drawing/2014/main" id="{4AD2CAEB-E190-3EC9-C03A-F41A7E8FDC26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6248400"/>
            <a:ext cx="9906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Slide Number Placeholder 5">
            <a:extLst>
              <a:ext uri="{FF2B5EF4-FFF2-40B4-BE49-F238E27FC236}">
                <a16:creationId xmlns:a16="http://schemas.microsoft.com/office/drawing/2014/main" id="{34D52C89-1C45-5149-4E46-A70FBD711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19416EE-5EFA-4004-B678-7DC2EB190F82}" type="slidenum">
              <a:rPr lang="ar-SA" altLang="en-US"/>
              <a:pPr eaLnBrk="1" hangingPunct="1"/>
              <a:t>5</a:t>
            </a:fld>
            <a:endParaRPr lang="en-US" altLang="en-US"/>
          </a:p>
        </p:txBody>
      </p:sp>
      <p:sp>
        <p:nvSpPr>
          <p:cNvPr id="4101" name="Rectangle 2">
            <a:extLst>
              <a:ext uri="{FF2B5EF4-FFF2-40B4-BE49-F238E27FC236}">
                <a16:creationId xmlns:a16="http://schemas.microsoft.com/office/drawing/2014/main" id="{90522B1E-C076-1A22-F90D-E705668AC1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Representing the Solution of a PDE</a:t>
            </a:r>
            <a:br>
              <a:rPr lang="en-US" altLang="en-US" sz="4000"/>
            </a:br>
            <a:r>
              <a:rPr lang="en-US" altLang="en-US" sz="4000"/>
              <a:t>(Two Independent Variables)</a:t>
            </a:r>
          </a:p>
        </p:txBody>
      </p:sp>
      <p:sp>
        <p:nvSpPr>
          <p:cNvPr id="4102" name="Rectangle 3">
            <a:extLst>
              <a:ext uri="{FF2B5EF4-FFF2-40B4-BE49-F238E27FC236}">
                <a16:creationId xmlns:a16="http://schemas.microsoft.com/office/drawing/2014/main" id="{9803ACCE-45E6-2F13-1A31-F065482485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600200"/>
            <a:ext cx="8229600" cy="762000"/>
          </a:xfrm>
        </p:spPr>
        <p:txBody>
          <a:bodyPr/>
          <a:lstStyle/>
          <a:p>
            <a:pPr eaLnBrk="1" hangingPunct="1"/>
            <a:r>
              <a:rPr lang="en-US" altLang="en-US"/>
              <a:t>Three main ways to represent the solution</a:t>
            </a:r>
          </a:p>
        </p:txBody>
      </p:sp>
      <p:sp>
        <p:nvSpPr>
          <p:cNvPr id="4103" name="Line 4">
            <a:extLst>
              <a:ext uri="{FF2B5EF4-FFF2-40B4-BE49-F238E27FC236}">
                <a16:creationId xmlns:a16="http://schemas.microsoft.com/office/drawing/2014/main" id="{91E2F4ED-3E7F-1EE3-CBA9-DA51194A6F7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86000" y="3962400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4" name="Line 5">
            <a:extLst>
              <a:ext uri="{FF2B5EF4-FFF2-40B4-BE49-F238E27FC236}">
                <a16:creationId xmlns:a16="http://schemas.microsoft.com/office/drawing/2014/main" id="{5623EBA7-B771-9E6A-A89F-90DE49D26B8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86000" y="2514600"/>
            <a:ext cx="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5" name="Freeform 6">
            <a:extLst>
              <a:ext uri="{FF2B5EF4-FFF2-40B4-BE49-F238E27FC236}">
                <a16:creationId xmlns:a16="http://schemas.microsoft.com/office/drawing/2014/main" id="{D5067A0F-0918-092D-2ACC-18B8B0073B8B}"/>
              </a:ext>
            </a:extLst>
          </p:cNvPr>
          <p:cNvSpPr>
            <a:spLocks/>
          </p:cNvSpPr>
          <p:nvPr/>
        </p:nvSpPr>
        <p:spPr bwMode="auto">
          <a:xfrm>
            <a:off x="2286000" y="2895600"/>
            <a:ext cx="1371600" cy="1066800"/>
          </a:xfrm>
          <a:custGeom>
            <a:avLst/>
            <a:gdLst>
              <a:gd name="T0" fmla="*/ 0 w 1680"/>
              <a:gd name="T1" fmla="*/ 2147483647 h 480"/>
              <a:gd name="T2" fmla="*/ 2147483647 w 1680"/>
              <a:gd name="T3" fmla="*/ 0 h 480"/>
              <a:gd name="T4" fmla="*/ 2147483647 w 1680"/>
              <a:gd name="T5" fmla="*/ 2147483647 h 480"/>
              <a:gd name="T6" fmla="*/ 0 60000 65536"/>
              <a:gd name="T7" fmla="*/ 0 60000 65536"/>
              <a:gd name="T8" fmla="*/ 0 60000 65536"/>
              <a:gd name="T9" fmla="*/ 0 w 1680"/>
              <a:gd name="T10" fmla="*/ 0 h 480"/>
              <a:gd name="T11" fmla="*/ 1680 w 1680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80" h="480">
                <a:moveTo>
                  <a:pt x="0" y="480"/>
                </a:moveTo>
                <a:cubicBezTo>
                  <a:pt x="244" y="240"/>
                  <a:pt x="488" y="0"/>
                  <a:pt x="768" y="0"/>
                </a:cubicBezTo>
                <a:cubicBezTo>
                  <a:pt x="1048" y="0"/>
                  <a:pt x="1364" y="240"/>
                  <a:pt x="1680" y="480"/>
                </a:cubicBezTo>
              </a:path>
            </a:pathLst>
          </a:custGeom>
          <a:noFill/>
          <a:ln w="28575">
            <a:solidFill>
              <a:srgbClr val="33CC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6" name="Freeform 7">
            <a:extLst>
              <a:ext uri="{FF2B5EF4-FFF2-40B4-BE49-F238E27FC236}">
                <a16:creationId xmlns:a16="http://schemas.microsoft.com/office/drawing/2014/main" id="{57B16392-F5DD-45CE-9E60-6E4BD961941B}"/>
              </a:ext>
            </a:extLst>
          </p:cNvPr>
          <p:cNvSpPr>
            <a:spLocks/>
          </p:cNvSpPr>
          <p:nvPr/>
        </p:nvSpPr>
        <p:spPr bwMode="auto">
          <a:xfrm>
            <a:off x="2286000" y="3200400"/>
            <a:ext cx="1371600" cy="685800"/>
          </a:xfrm>
          <a:custGeom>
            <a:avLst/>
            <a:gdLst>
              <a:gd name="T0" fmla="*/ 0 w 1680"/>
              <a:gd name="T1" fmla="*/ 2147483647 h 480"/>
              <a:gd name="T2" fmla="*/ 2147483647 w 1680"/>
              <a:gd name="T3" fmla="*/ 0 h 480"/>
              <a:gd name="T4" fmla="*/ 2147483647 w 1680"/>
              <a:gd name="T5" fmla="*/ 2147483647 h 480"/>
              <a:gd name="T6" fmla="*/ 0 60000 65536"/>
              <a:gd name="T7" fmla="*/ 0 60000 65536"/>
              <a:gd name="T8" fmla="*/ 0 60000 65536"/>
              <a:gd name="T9" fmla="*/ 0 w 1680"/>
              <a:gd name="T10" fmla="*/ 0 h 480"/>
              <a:gd name="T11" fmla="*/ 1680 w 1680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80" h="480">
                <a:moveTo>
                  <a:pt x="0" y="480"/>
                </a:moveTo>
                <a:cubicBezTo>
                  <a:pt x="244" y="240"/>
                  <a:pt x="488" y="0"/>
                  <a:pt x="768" y="0"/>
                </a:cubicBezTo>
                <a:cubicBezTo>
                  <a:pt x="1048" y="0"/>
                  <a:pt x="1364" y="240"/>
                  <a:pt x="1680" y="480"/>
                </a:cubicBezTo>
              </a:path>
            </a:pathLst>
          </a:custGeom>
          <a:noFill/>
          <a:ln w="19050">
            <a:solidFill>
              <a:srgbClr val="CC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7" name="Freeform 8">
            <a:extLst>
              <a:ext uri="{FF2B5EF4-FFF2-40B4-BE49-F238E27FC236}">
                <a16:creationId xmlns:a16="http://schemas.microsoft.com/office/drawing/2014/main" id="{4DD904EC-B3F6-4BA3-6119-C435C4739081}"/>
              </a:ext>
            </a:extLst>
          </p:cNvPr>
          <p:cNvSpPr>
            <a:spLocks/>
          </p:cNvSpPr>
          <p:nvPr/>
        </p:nvSpPr>
        <p:spPr bwMode="auto">
          <a:xfrm>
            <a:off x="2286000" y="2514600"/>
            <a:ext cx="1371600" cy="1447800"/>
          </a:xfrm>
          <a:custGeom>
            <a:avLst/>
            <a:gdLst>
              <a:gd name="T0" fmla="*/ 0 w 1680"/>
              <a:gd name="T1" fmla="*/ 2147483647 h 480"/>
              <a:gd name="T2" fmla="*/ 2147483647 w 1680"/>
              <a:gd name="T3" fmla="*/ 0 h 480"/>
              <a:gd name="T4" fmla="*/ 2147483647 w 1680"/>
              <a:gd name="T5" fmla="*/ 2147483647 h 480"/>
              <a:gd name="T6" fmla="*/ 0 60000 65536"/>
              <a:gd name="T7" fmla="*/ 0 60000 65536"/>
              <a:gd name="T8" fmla="*/ 0 60000 65536"/>
              <a:gd name="T9" fmla="*/ 0 w 1680"/>
              <a:gd name="T10" fmla="*/ 0 h 480"/>
              <a:gd name="T11" fmla="*/ 1680 w 1680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80" h="480">
                <a:moveTo>
                  <a:pt x="0" y="480"/>
                </a:moveTo>
                <a:cubicBezTo>
                  <a:pt x="244" y="240"/>
                  <a:pt x="488" y="0"/>
                  <a:pt x="768" y="0"/>
                </a:cubicBezTo>
                <a:cubicBezTo>
                  <a:pt x="1048" y="0"/>
                  <a:pt x="1364" y="240"/>
                  <a:pt x="1680" y="480"/>
                </a:cubicBezTo>
              </a:path>
            </a:pathLst>
          </a:cu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8" name="Line 9">
            <a:extLst>
              <a:ext uri="{FF2B5EF4-FFF2-40B4-BE49-F238E27FC236}">
                <a16:creationId xmlns:a16="http://schemas.microsoft.com/office/drawing/2014/main" id="{521A3E5B-021F-ADFF-AE25-217E0A5C4FC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72000" y="3962400"/>
            <a:ext cx="213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9" name="Line 10">
            <a:extLst>
              <a:ext uri="{FF2B5EF4-FFF2-40B4-BE49-F238E27FC236}">
                <a16:creationId xmlns:a16="http://schemas.microsoft.com/office/drawing/2014/main" id="{72B8EBD9-16B8-AA47-2737-E6A17C3947A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72000" y="2514600"/>
            <a:ext cx="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10" name="Text Box 11">
            <a:extLst>
              <a:ext uri="{FF2B5EF4-FFF2-40B4-BE49-F238E27FC236}">
                <a16:creationId xmlns:a16="http://schemas.microsoft.com/office/drawing/2014/main" id="{211FA67C-F0A0-FC35-F570-1B955F2E62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4267201"/>
            <a:ext cx="2590800" cy="146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solidFill>
                  <a:srgbClr val="0000FF"/>
                </a:solidFill>
              </a:rPr>
              <a:t>Different curves are used for different values of one of the independent variable</a:t>
            </a:r>
          </a:p>
        </p:txBody>
      </p:sp>
      <p:sp>
        <p:nvSpPr>
          <p:cNvPr id="4111" name="Line 12">
            <a:extLst>
              <a:ext uri="{FF2B5EF4-FFF2-40B4-BE49-F238E27FC236}">
                <a16:creationId xmlns:a16="http://schemas.microsoft.com/office/drawing/2014/main" id="{336A06CE-8F5B-DCFB-B135-612BBA2EED0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72000" y="2895600"/>
            <a:ext cx="182880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12" name="Line 13">
            <a:extLst>
              <a:ext uri="{FF2B5EF4-FFF2-40B4-BE49-F238E27FC236}">
                <a16:creationId xmlns:a16="http://schemas.microsoft.com/office/drawing/2014/main" id="{8A2E0B86-52CD-944D-526E-C4374F990F5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91200" y="32766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13" name="Line 14">
            <a:extLst>
              <a:ext uri="{FF2B5EF4-FFF2-40B4-BE49-F238E27FC236}">
                <a16:creationId xmlns:a16="http://schemas.microsoft.com/office/drawing/2014/main" id="{5B49BD9B-11D4-6C5C-ECDB-223E70E19AA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96000" y="3276600"/>
            <a:ext cx="1143000" cy="685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14" name="Line 15">
            <a:extLst>
              <a:ext uri="{FF2B5EF4-FFF2-40B4-BE49-F238E27FC236}">
                <a16:creationId xmlns:a16="http://schemas.microsoft.com/office/drawing/2014/main" id="{46F82802-0EAB-117F-38C6-1F11F4B4377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57800" y="3581400"/>
            <a:ext cx="609600" cy="381000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15" name="Line 16">
            <a:extLst>
              <a:ext uri="{FF2B5EF4-FFF2-40B4-BE49-F238E27FC236}">
                <a16:creationId xmlns:a16="http://schemas.microsoft.com/office/drawing/2014/main" id="{D8700CF1-CA0A-6628-63EB-E6D22461660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81600" y="3581400"/>
            <a:ext cx="685800" cy="0"/>
          </a:xfrm>
          <a:prstGeom prst="line">
            <a:avLst/>
          </a:prstGeom>
          <a:noFill/>
          <a:ln w="38100">
            <a:solidFill>
              <a:srgbClr val="00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16" name="Line 17">
            <a:extLst>
              <a:ext uri="{FF2B5EF4-FFF2-40B4-BE49-F238E27FC236}">
                <a16:creationId xmlns:a16="http://schemas.microsoft.com/office/drawing/2014/main" id="{82836163-6C07-CB6C-3E76-CE739D3BD72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67400" y="2667000"/>
            <a:ext cx="0" cy="914400"/>
          </a:xfrm>
          <a:prstGeom prst="line">
            <a:avLst/>
          </a:prstGeom>
          <a:noFill/>
          <a:ln w="38100">
            <a:solidFill>
              <a:srgbClr val="CC0066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17" name="Text Box 18">
            <a:extLst>
              <a:ext uri="{FF2B5EF4-FFF2-40B4-BE49-F238E27FC236}">
                <a16:creationId xmlns:a16="http://schemas.microsoft.com/office/drawing/2014/main" id="{F983D958-8195-4CE4-41A4-57AEDB7689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3962401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solidFill>
                  <a:srgbClr val="FF0000"/>
                </a:solidFill>
              </a:rPr>
              <a:t>x</a:t>
            </a:r>
            <a:r>
              <a:rPr lang="en-US" altLang="en-US" baseline="-2500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4118" name="Text Box 19">
            <a:extLst>
              <a:ext uri="{FF2B5EF4-FFF2-40B4-BE49-F238E27FC236}">
                <a16:creationId xmlns:a16="http://schemas.microsoft.com/office/drawing/2014/main" id="{A682F308-8CC3-234C-AEAC-E58F31F2F6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3276601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t</a:t>
            </a:r>
            <a:r>
              <a:rPr lang="en-US" altLang="en-US" baseline="-25000"/>
              <a:t>1</a:t>
            </a:r>
          </a:p>
        </p:txBody>
      </p:sp>
      <p:graphicFrame>
        <p:nvGraphicFramePr>
          <p:cNvPr id="4098" name="Object 20">
            <a:extLst>
              <a:ext uri="{FF2B5EF4-FFF2-40B4-BE49-F238E27FC236}">
                <a16:creationId xmlns:a16="http://schemas.microsoft.com/office/drawing/2014/main" id="{34AAD9AA-3088-5C1C-8E99-047CEC4B47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76801" y="2286000"/>
          <a:ext cx="841375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07960" imgH="215640" progId="Equation.3">
                  <p:embed/>
                </p:oleObj>
              </mc:Choice>
              <mc:Fallback>
                <p:oleObj name="Equation" r:id="rId3" imgW="507960" imgH="215640" progId="Equation.3">
                  <p:embed/>
                  <p:pic>
                    <p:nvPicPr>
                      <p:cNvPr id="4098" name="Object 20">
                        <a:extLst>
                          <a:ext uri="{FF2B5EF4-FFF2-40B4-BE49-F238E27FC236}">
                            <a16:creationId xmlns:a16="http://schemas.microsoft.com/office/drawing/2014/main" id="{34AAD9AA-3088-5C1C-8E99-047CEC4B478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1" y="2286000"/>
                        <a:ext cx="841375" cy="357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9" name="Line 21">
            <a:extLst>
              <a:ext uri="{FF2B5EF4-FFF2-40B4-BE49-F238E27FC236}">
                <a16:creationId xmlns:a16="http://schemas.microsoft.com/office/drawing/2014/main" id="{9FC44B97-29C3-E692-1BF4-FF7E03AF3A7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96200" y="3930650"/>
            <a:ext cx="213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20" name="Line 22">
            <a:extLst>
              <a:ext uri="{FF2B5EF4-FFF2-40B4-BE49-F238E27FC236}">
                <a16:creationId xmlns:a16="http://schemas.microsoft.com/office/drawing/2014/main" id="{EA972931-5716-38EE-5F57-C3F4D4175D6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96200" y="2482850"/>
            <a:ext cx="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21" name="Line 23">
            <a:extLst>
              <a:ext uri="{FF2B5EF4-FFF2-40B4-BE49-F238E27FC236}">
                <a16:creationId xmlns:a16="http://schemas.microsoft.com/office/drawing/2014/main" id="{0C2DA837-0E29-01B6-2164-B31DF6E467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067800" y="2819400"/>
            <a:ext cx="0" cy="1143000"/>
          </a:xfrm>
          <a:prstGeom prst="line">
            <a:avLst/>
          </a:prstGeom>
          <a:noFill/>
          <a:ln w="28575">
            <a:solidFill>
              <a:srgbClr val="00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22" name="Line 24">
            <a:extLst>
              <a:ext uri="{FF2B5EF4-FFF2-40B4-BE49-F238E27FC236}">
                <a16:creationId xmlns:a16="http://schemas.microsoft.com/office/drawing/2014/main" id="{38B4FC0E-3DFC-4B2A-04DF-145CAFAAA378}"/>
              </a:ext>
            </a:extLst>
          </p:cNvPr>
          <p:cNvSpPr>
            <a:spLocks noChangeShapeType="1"/>
          </p:cNvSpPr>
          <p:nvPr/>
        </p:nvSpPr>
        <p:spPr bwMode="auto">
          <a:xfrm>
            <a:off x="7696200" y="2743200"/>
            <a:ext cx="1371600" cy="0"/>
          </a:xfrm>
          <a:prstGeom prst="line">
            <a:avLst/>
          </a:prstGeom>
          <a:noFill/>
          <a:ln w="28575">
            <a:solidFill>
              <a:srgbClr val="FF0000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23" name="Text Box 25">
            <a:extLst>
              <a:ext uri="{FF2B5EF4-FFF2-40B4-BE49-F238E27FC236}">
                <a16:creationId xmlns:a16="http://schemas.microsoft.com/office/drawing/2014/main" id="{7240A674-11FD-9FA1-098B-37AC99F5C1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4267201"/>
            <a:ext cx="28194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>
                <a:solidFill>
                  <a:srgbClr val="0000FF"/>
                </a:solidFill>
              </a:rPr>
              <a:t>Three dimensional plot of the function T(x,t)  </a:t>
            </a:r>
          </a:p>
        </p:txBody>
      </p:sp>
      <p:sp>
        <p:nvSpPr>
          <p:cNvPr id="4124" name="Text Box 26">
            <a:extLst>
              <a:ext uri="{FF2B5EF4-FFF2-40B4-BE49-F238E27FC236}">
                <a16:creationId xmlns:a16="http://schemas.microsoft.com/office/drawing/2014/main" id="{744DC3FF-3D29-2ED6-02C9-966183B35C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4267201"/>
            <a:ext cx="3048000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>
                <a:solidFill>
                  <a:srgbClr val="CC0066"/>
                </a:solidFill>
              </a:rPr>
              <a:t>The axis represent the independent variables. The value of the function is displayed at grid points</a:t>
            </a:r>
          </a:p>
        </p:txBody>
      </p:sp>
      <p:sp>
        <p:nvSpPr>
          <p:cNvPr id="4125" name="Line 27">
            <a:extLst>
              <a:ext uri="{FF2B5EF4-FFF2-40B4-BE49-F238E27FC236}">
                <a16:creationId xmlns:a16="http://schemas.microsoft.com/office/drawing/2014/main" id="{14707103-5687-B935-18F4-32F83A87198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534400" y="2743200"/>
            <a:ext cx="0" cy="1143000"/>
          </a:xfrm>
          <a:prstGeom prst="line">
            <a:avLst/>
          </a:prstGeom>
          <a:noFill/>
          <a:ln w="28575">
            <a:solidFill>
              <a:srgbClr val="00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26" name="Line 28">
            <a:extLst>
              <a:ext uri="{FF2B5EF4-FFF2-40B4-BE49-F238E27FC236}">
                <a16:creationId xmlns:a16="http://schemas.microsoft.com/office/drawing/2014/main" id="{8DEFCD7C-F49F-8D0C-F453-E2F36AFE902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77200" y="2743200"/>
            <a:ext cx="0" cy="1143000"/>
          </a:xfrm>
          <a:prstGeom prst="line">
            <a:avLst/>
          </a:prstGeom>
          <a:noFill/>
          <a:ln w="28575">
            <a:solidFill>
              <a:srgbClr val="00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27" name="Line 29">
            <a:extLst>
              <a:ext uri="{FF2B5EF4-FFF2-40B4-BE49-F238E27FC236}">
                <a16:creationId xmlns:a16="http://schemas.microsoft.com/office/drawing/2014/main" id="{D745251F-F97E-218F-CDC4-17AE54713F05}"/>
              </a:ext>
            </a:extLst>
          </p:cNvPr>
          <p:cNvSpPr>
            <a:spLocks noChangeShapeType="1"/>
          </p:cNvSpPr>
          <p:nvPr/>
        </p:nvSpPr>
        <p:spPr bwMode="auto">
          <a:xfrm>
            <a:off x="7696200" y="3200400"/>
            <a:ext cx="1371600" cy="0"/>
          </a:xfrm>
          <a:prstGeom prst="line">
            <a:avLst/>
          </a:prstGeom>
          <a:noFill/>
          <a:ln w="28575">
            <a:solidFill>
              <a:srgbClr val="FF0000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28" name="Line 30">
            <a:extLst>
              <a:ext uri="{FF2B5EF4-FFF2-40B4-BE49-F238E27FC236}">
                <a16:creationId xmlns:a16="http://schemas.microsoft.com/office/drawing/2014/main" id="{6C08BA77-4CAA-7CD1-910E-161ECF1806F5}"/>
              </a:ext>
            </a:extLst>
          </p:cNvPr>
          <p:cNvSpPr>
            <a:spLocks noChangeShapeType="1"/>
          </p:cNvSpPr>
          <p:nvPr/>
        </p:nvSpPr>
        <p:spPr bwMode="auto">
          <a:xfrm>
            <a:off x="7696200" y="3657600"/>
            <a:ext cx="1371600" cy="0"/>
          </a:xfrm>
          <a:prstGeom prst="line">
            <a:avLst/>
          </a:prstGeom>
          <a:noFill/>
          <a:ln w="28575">
            <a:solidFill>
              <a:srgbClr val="FF0000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29" name="Text Box 31">
            <a:extLst>
              <a:ext uri="{FF2B5EF4-FFF2-40B4-BE49-F238E27FC236}">
                <a16:creationId xmlns:a16="http://schemas.microsoft.com/office/drawing/2014/main" id="{74675608-6FEC-F462-E653-1FEE67A04D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20200" y="3352801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solidFill>
                  <a:srgbClr val="FF0000"/>
                </a:solidFill>
              </a:rPr>
              <a:t>T=3.5</a:t>
            </a:r>
            <a:endParaRPr lang="en-US" altLang="en-US" baseline="-25000">
              <a:solidFill>
                <a:srgbClr val="FF0000"/>
              </a:solidFill>
            </a:endParaRPr>
          </a:p>
        </p:txBody>
      </p:sp>
      <p:sp>
        <p:nvSpPr>
          <p:cNvPr id="4130" name="AutoShape 32">
            <a:extLst>
              <a:ext uri="{FF2B5EF4-FFF2-40B4-BE49-F238E27FC236}">
                <a16:creationId xmlns:a16="http://schemas.microsoft.com/office/drawing/2014/main" id="{81BC8160-7B8A-6A29-6335-0F972C46E8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0" y="2209800"/>
            <a:ext cx="914400" cy="457200"/>
          </a:xfrm>
          <a:prstGeom prst="wedgeRoundRectCallout">
            <a:avLst>
              <a:gd name="adj1" fmla="val -50694"/>
              <a:gd name="adj2" fmla="val 160764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/>
              <a:t>T=5.2</a:t>
            </a:r>
          </a:p>
        </p:txBody>
      </p:sp>
      <p:sp>
        <p:nvSpPr>
          <p:cNvPr id="4131" name="Freeform 33">
            <a:extLst>
              <a:ext uri="{FF2B5EF4-FFF2-40B4-BE49-F238E27FC236}">
                <a16:creationId xmlns:a16="http://schemas.microsoft.com/office/drawing/2014/main" id="{F8DC5A4C-1921-0F58-FC06-D1A52ACE432C}"/>
              </a:ext>
            </a:extLst>
          </p:cNvPr>
          <p:cNvSpPr>
            <a:spLocks/>
          </p:cNvSpPr>
          <p:nvPr/>
        </p:nvSpPr>
        <p:spPr bwMode="auto">
          <a:xfrm>
            <a:off x="4572000" y="2219326"/>
            <a:ext cx="2603500" cy="1514475"/>
          </a:xfrm>
          <a:custGeom>
            <a:avLst/>
            <a:gdLst>
              <a:gd name="T0" fmla="*/ 2147483647 w 1640"/>
              <a:gd name="T1" fmla="*/ 2147483647 h 954"/>
              <a:gd name="T2" fmla="*/ 2147483647 w 1640"/>
              <a:gd name="T3" fmla="*/ 2147483647 h 954"/>
              <a:gd name="T4" fmla="*/ 2147483647 w 1640"/>
              <a:gd name="T5" fmla="*/ 2147483647 h 954"/>
              <a:gd name="T6" fmla="*/ 2147483647 w 1640"/>
              <a:gd name="T7" fmla="*/ 2147483647 h 954"/>
              <a:gd name="T8" fmla="*/ 2147483647 w 1640"/>
              <a:gd name="T9" fmla="*/ 2147483647 h 954"/>
              <a:gd name="T10" fmla="*/ 2147483647 w 1640"/>
              <a:gd name="T11" fmla="*/ 2147483647 h 954"/>
              <a:gd name="T12" fmla="*/ 2147483647 w 1640"/>
              <a:gd name="T13" fmla="*/ 2147483647 h 954"/>
              <a:gd name="T14" fmla="*/ 2147483647 w 1640"/>
              <a:gd name="T15" fmla="*/ 2147483647 h 954"/>
              <a:gd name="T16" fmla="*/ 2147483647 w 1640"/>
              <a:gd name="T17" fmla="*/ 2147483647 h 954"/>
              <a:gd name="T18" fmla="*/ 2147483647 w 1640"/>
              <a:gd name="T19" fmla="*/ 2147483647 h 954"/>
              <a:gd name="T20" fmla="*/ 2147483647 w 1640"/>
              <a:gd name="T21" fmla="*/ 2147483647 h 954"/>
              <a:gd name="T22" fmla="*/ 2147483647 w 1640"/>
              <a:gd name="T23" fmla="*/ 2147483647 h 954"/>
              <a:gd name="T24" fmla="*/ 2147483647 w 1640"/>
              <a:gd name="T25" fmla="*/ 2147483647 h 954"/>
              <a:gd name="T26" fmla="*/ 2147483647 w 1640"/>
              <a:gd name="T27" fmla="*/ 2147483647 h 954"/>
              <a:gd name="T28" fmla="*/ 2147483647 w 1640"/>
              <a:gd name="T29" fmla="*/ 2147483647 h 954"/>
              <a:gd name="T30" fmla="*/ 2147483647 w 1640"/>
              <a:gd name="T31" fmla="*/ 2147483647 h 954"/>
              <a:gd name="T32" fmla="*/ 2147483647 w 1640"/>
              <a:gd name="T33" fmla="*/ 2147483647 h 954"/>
              <a:gd name="T34" fmla="*/ 2147483647 w 1640"/>
              <a:gd name="T35" fmla="*/ 2147483647 h 954"/>
              <a:gd name="T36" fmla="*/ 2147483647 w 1640"/>
              <a:gd name="T37" fmla="*/ 2147483647 h 954"/>
              <a:gd name="T38" fmla="*/ 2147483647 w 1640"/>
              <a:gd name="T39" fmla="*/ 2147483647 h 954"/>
              <a:gd name="T40" fmla="*/ 2147483647 w 1640"/>
              <a:gd name="T41" fmla="*/ 2147483647 h 954"/>
              <a:gd name="T42" fmla="*/ 2147483647 w 1640"/>
              <a:gd name="T43" fmla="*/ 2147483647 h 954"/>
              <a:gd name="T44" fmla="*/ 2147483647 w 1640"/>
              <a:gd name="T45" fmla="*/ 2147483647 h 954"/>
              <a:gd name="T46" fmla="*/ 2147483647 w 1640"/>
              <a:gd name="T47" fmla="*/ 2147483647 h 954"/>
              <a:gd name="T48" fmla="*/ 2147483647 w 1640"/>
              <a:gd name="T49" fmla="*/ 2147483647 h 954"/>
              <a:gd name="T50" fmla="*/ 2147483647 w 1640"/>
              <a:gd name="T51" fmla="*/ 2147483647 h 954"/>
              <a:gd name="T52" fmla="*/ 2147483647 w 1640"/>
              <a:gd name="T53" fmla="*/ 2147483647 h 954"/>
              <a:gd name="T54" fmla="*/ 2147483647 w 1640"/>
              <a:gd name="T55" fmla="*/ 2147483647 h 954"/>
              <a:gd name="T56" fmla="*/ 2147483647 w 1640"/>
              <a:gd name="T57" fmla="*/ 2147483647 h 954"/>
              <a:gd name="T58" fmla="*/ 2147483647 w 1640"/>
              <a:gd name="T59" fmla="*/ 2147483647 h 954"/>
              <a:gd name="T60" fmla="*/ 2147483647 w 1640"/>
              <a:gd name="T61" fmla="*/ 2147483647 h 954"/>
              <a:gd name="T62" fmla="*/ 2147483647 w 1640"/>
              <a:gd name="T63" fmla="*/ 2147483647 h 954"/>
              <a:gd name="T64" fmla="*/ 0 w 1640"/>
              <a:gd name="T65" fmla="*/ 2147483647 h 954"/>
              <a:gd name="T66" fmla="*/ 2147483647 w 1640"/>
              <a:gd name="T67" fmla="*/ 2147483647 h 954"/>
              <a:gd name="T68" fmla="*/ 2147483647 w 1640"/>
              <a:gd name="T69" fmla="*/ 2147483647 h 954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w 1640"/>
              <a:gd name="T106" fmla="*/ 0 h 954"/>
              <a:gd name="T107" fmla="*/ 1640 w 1640"/>
              <a:gd name="T108" fmla="*/ 954 h 954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T105" t="T106" r="T107" b="T108"/>
            <a:pathLst>
              <a:path w="1640" h="954">
                <a:moveTo>
                  <a:pt x="60" y="520"/>
                </a:moveTo>
                <a:cubicBezTo>
                  <a:pt x="31" y="534"/>
                  <a:pt x="9" y="548"/>
                  <a:pt x="69" y="498"/>
                </a:cubicBezTo>
                <a:cubicBezTo>
                  <a:pt x="104" y="469"/>
                  <a:pt x="104" y="475"/>
                  <a:pt x="145" y="464"/>
                </a:cubicBezTo>
                <a:cubicBezTo>
                  <a:pt x="177" y="442"/>
                  <a:pt x="245" y="311"/>
                  <a:pt x="298" y="385"/>
                </a:cubicBezTo>
                <a:cubicBezTo>
                  <a:pt x="378" y="370"/>
                  <a:pt x="344" y="380"/>
                  <a:pt x="400" y="362"/>
                </a:cubicBezTo>
                <a:cubicBezTo>
                  <a:pt x="462" y="308"/>
                  <a:pt x="423" y="384"/>
                  <a:pt x="477" y="367"/>
                </a:cubicBezTo>
                <a:cubicBezTo>
                  <a:pt x="537" y="286"/>
                  <a:pt x="475" y="382"/>
                  <a:pt x="533" y="339"/>
                </a:cubicBezTo>
                <a:cubicBezTo>
                  <a:pt x="622" y="272"/>
                  <a:pt x="561" y="311"/>
                  <a:pt x="672" y="246"/>
                </a:cubicBezTo>
                <a:cubicBezTo>
                  <a:pt x="913" y="139"/>
                  <a:pt x="961" y="88"/>
                  <a:pt x="1211" y="79"/>
                </a:cubicBezTo>
                <a:cubicBezTo>
                  <a:pt x="1251" y="0"/>
                  <a:pt x="1508" y="140"/>
                  <a:pt x="1567" y="158"/>
                </a:cubicBezTo>
                <a:cubicBezTo>
                  <a:pt x="1578" y="169"/>
                  <a:pt x="1589" y="183"/>
                  <a:pt x="1601" y="192"/>
                </a:cubicBezTo>
                <a:cubicBezTo>
                  <a:pt x="1612" y="201"/>
                  <a:pt x="1630" y="198"/>
                  <a:pt x="1635" y="214"/>
                </a:cubicBezTo>
                <a:cubicBezTo>
                  <a:pt x="1640" y="234"/>
                  <a:pt x="1598" y="265"/>
                  <a:pt x="1592" y="272"/>
                </a:cubicBezTo>
                <a:cubicBezTo>
                  <a:pt x="1578" y="289"/>
                  <a:pt x="1548" y="322"/>
                  <a:pt x="1527" y="339"/>
                </a:cubicBezTo>
                <a:cubicBezTo>
                  <a:pt x="1506" y="356"/>
                  <a:pt x="1487" y="356"/>
                  <a:pt x="1464" y="373"/>
                </a:cubicBezTo>
                <a:cubicBezTo>
                  <a:pt x="1440" y="423"/>
                  <a:pt x="1424" y="409"/>
                  <a:pt x="1388" y="441"/>
                </a:cubicBezTo>
                <a:cubicBezTo>
                  <a:pt x="1361" y="496"/>
                  <a:pt x="1357" y="470"/>
                  <a:pt x="1319" y="498"/>
                </a:cubicBezTo>
                <a:cubicBezTo>
                  <a:pt x="1302" y="512"/>
                  <a:pt x="1285" y="529"/>
                  <a:pt x="1269" y="543"/>
                </a:cubicBezTo>
                <a:cubicBezTo>
                  <a:pt x="1250" y="560"/>
                  <a:pt x="1222" y="556"/>
                  <a:pt x="1200" y="565"/>
                </a:cubicBezTo>
                <a:cubicBezTo>
                  <a:pt x="1161" y="618"/>
                  <a:pt x="1109" y="627"/>
                  <a:pt x="1055" y="644"/>
                </a:cubicBezTo>
                <a:cubicBezTo>
                  <a:pt x="1034" y="687"/>
                  <a:pt x="1031" y="701"/>
                  <a:pt x="1006" y="739"/>
                </a:cubicBezTo>
                <a:cubicBezTo>
                  <a:pt x="989" y="763"/>
                  <a:pt x="936" y="860"/>
                  <a:pt x="936" y="860"/>
                </a:cubicBezTo>
                <a:cubicBezTo>
                  <a:pt x="925" y="905"/>
                  <a:pt x="920" y="925"/>
                  <a:pt x="885" y="939"/>
                </a:cubicBezTo>
                <a:cubicBezTo>
                  <a:pt x="818" y="910"/>
                  <a:pt x="923" y="954"/>
                  <a:pt x="792" y="916"/>
                </a:cubicBezTo>
                <a:cubicBezTo>
                  <a:pt x="774" y="911"/>
                  <a:pt x="741" y="894"/>
                  <a:pt x="741" y="894"/>
                </a:cubicBezTo>
                <a:cubicBezTo>
                  <a:pt x="721" y="855"/>
                  <a:pt x="706" y="841"/>
                  <a:pt x="672" y="826"/>
                </a:cubicBezTo>
                <a:cubicBezTo>
                  <a:pt x="640" y="782"/>
                  <a:pt x="605" y="772"/>
                  <a:pt x="562" y="758"/>
                </a:cubicBezTo>
                <a:cubicBezTo>
                  <a:pt x="534" y="733"/>
                  <a:pt x="508" y="726"/>
                  <a:pt x="477" y="713"/>
                </a:cubicBezTo>
                <a:cubicBezTo>
                  <a:pt x="434" y="716"/>
                  <a:pt x="390" y="710"/>
                  <a:pt x="349" y="724"/>
                </a:cubicBezTo>
                <a:cubicBezTo>
                  <a:pt x="329" y="730"/>
                  <a:pt x="317" y="761"/>
                  <a:pt x="298" y="770"/>
                </a:cubicBezTo>
                <a:cubicBezTo>
                  <a:pt x="281" y="777"/>
                  <a:pt x="247" y="792"/>
                  <a:pt x="247" y="792"/>
                </a:cubicBezTo>
                <a:cubicBezTo>
                  <a:pt x="160" y="785"/>
                  <a:pt x="111" y="793"/>
                  <a:pt x="43" y="736"/>
                </a:cubicBezTo>
                <a:cubicBezTo>
                  <a:pt x="5" y="658"/>
                  <a:pt x="16" y="693"/>
                  <a:pt x="0" y="634"/>
                </a:cubicBezTo>
                <a:cubicBezTo>
                  <a:pt x="8" y="626"/>
                  <a:pt x="26" y="612"/>
                  <a:pt x="26" y="612"/>
                </a:cubicBezTo>
                <a:lnTo>
                  <a:pt x="60" y="520"/>
                </a:lnTo>
                <a:close/>
              </a:path>
            </a:pathLst>
          </a:custGeom>
          <a:solidFill>
            <a:schemeClr val="accent1">
              <a:alpha val="3098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Slide Number Placeholder 5">
            <a:extLst>
              <a:ext uri="{FF2B5EF4-FFF2-40B4-BE49-F238E27FC236}">
                <a16:creationId xmlns:a16="http://schemas.microsoft.com/office/drawing/2014/main" id="{1E307F64-70C4-D4C9-2779-7A7F8670C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E0CA2D5-5E9A-4E57-9585-95E49FEB0F84}" type="slidenum">
              <a:rPr lang="ar-SA" altLang="en-US"/>
              <a:pPr eaLnBrk="1" hangingPunct="1"/>
              <a:t>6</a:t>
            </a:fld>
            <a:endParaRPr lang="en-US" altLang="en-US"/>
          </a:p>
        </p:txBody>
      </p:sp>
      <p:sp>
        <p:nvSpPr>
          <p:cNvPr id="5125" name="Rectangle 2">
            <a:extLst>
              <a:ext uri="{FF2B5EF4-FFF2-40B4-BE49-F238E27FC236}">
                <a16:creationId xmlns:a16="http://schemas.microsoft.com/office/drawing/2014/main" id="{58D8330A-78BA-A68C-10F2-24BA77139D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800"/>
              <a:t>Heat Equation </a:t>
            </a:r>
          </a:p>
        </p:txBody>
      </p:sp>
      <p:graphicFrame>
        <p:nvGraphicFramePr>
          <p:cNvPr id="5122" name="Object 3">
            <a:extLst>
              <a:ext uri="{FF2B5EF4-FFF2-40B4-BE49-F238E27FC236}">
                <a16:creationId xmlns:a16="http://schemas.microsoft.com/office/drawing/2014/main" id="{863C042B-AEED-7C77-4A5E-C86755F830F6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2438401" y="4114801"/>
          <a:ext cx="3260725" cy="175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25400" imgH="876240" progId="Equation.3">
                  <p:embed/>
                </p:oleObj>
              </mc:Choice>
              <mc:Fallback>
                <p:oleObj name="Equation" r:id="rId3" imgW="1625400" imgH="876240" progId="Equation.3">
                  <p:embed/>
                  <p:pic>
                    <p:nvPicPr>
                      <p:cNvPr id="5122" name="Object 3">
                        <a:extLst>
                          <a:ext uri="{FF2B5EF4-FFF2-40B4-BE49-F238E27FC236}">
                            <a16:creationId xmlns:a16="http://schemas.microsoft.com/office/drawing/2014/main" id="{863C042B-AEED-7C77-4A5E-C86755F830F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1" y="4114801"/>
                        <a:ext cx="3260725" cy="1757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6" name="Line 4">
            <a:extLst>
              <a:ext uri="{FF2B5EF4-FFF2-40B4-BE49-F238E27FC236}">
                <a16:creationId xmlns:a16="http://schemas.microsoft.com/office/drawing/2014/main" id="{26E4829C-0A0C-01FC-E2AE-8B82F39D9385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600" y="2362200"/>
            <a:ext cx="2438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127" name="Text Box 5">
            <a:extLst>
              <a:ext uri="{FF2B5EF4-FFF2-40B4-BE49-F238E27FC236}">
                <a16:creationId xmlns:a16="http://schemas.microsoft.com/office/drawing/2014/main" id="{05146F5C-FF3B-1669-FE59-25FDCD4F63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2376488"/>
            <a:ext cx="304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x</a:t>
            </a:r>
          </a:p>
        </p:txBody>
      </p:sp>
      <p:sp>
        <p:nvSpPr>
          <p:cNvPr id="5128" name="AutoShape 6">
            <a:extLst>
              <a:ext uri="{FF2B5EF4-FFF2-40B4-BE49-F238E27FC236}">
                <a16:creationId xmlns:a16="http://schemas.microsoft.com/office/drawing/2014/main" id="{CB24C93D-3739-CCFF-C0B2-40F6AF092FE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848100" y="1104900"/>
            <a:ext cx="152400" cy="2209800"/>
          </a:xfrm>
          <a:prstGeom prst="can">
            <a:avLst>
              <a:gd name="adj" fmla="val 75051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29" name="Text Box 7">
            <a:extLst>
              <a:ext uri="{FF2B5EF4-FFF2-40B4-BE49-F238E27FC236}">
                <a16:creationId xmlns:a16="http://schemas.microsoft.com/office/drawing/2014/main" id="{C99F31B1-89C8-71BC-FBA2-F765CA8338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1981201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ice</a:t>
            </a:r>
          </a:p>
        </p:txBody>
      </p:sp>
      <p:sp>
        <p:nvSpPr>
          <p:cNvPr id="5130" name="Text Box 8">
            <a:extLst>
              <a:ext uri="{FF2B5EF4-FFF2-40B4-BE49-F238E27FC236}">
                <a16:creationId xmlns:a16="http://schemas.microsoft.com/office/drawing/2014/main" id="{5FC4B7EF-EF51-8000-016A-9C58F0AA77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1905001"/>
            <a:ext cx="914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ice</a:t>
            </a:r>
          </a:p>
        </p:txBody>
      </p:sp>
      <p:sp>
        <p:nvSpPr>
          <p:cNvPr id="5131" name="Rectangle 9">
            <a:extLst>
              <a:ext uri="{FF2B5EF4-FFF2-40B4-BE49-F238E27FC236}">
                <a16:creationId xmlns:a16="http://schemas.microsoft.com/office/drawing/2014/main" id="{1B1F29B8-6DEE-4717-DF9C-7E0F63A274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1752600"/>
            <a:ext cx="762000" cy="5334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32" name="Rectangle 10">
            <a:extLst>
              <a:ext uri="{FF2B5EF4-FFF2-40B4-BE49-F238E27FC236}">
                <a16:creationId xmlns:a16="http://schemas.microsoft.com/office/drawing/2014/main" id="{9ABF4152-2E0D-5C72-D731-062B08CBC3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1752600"/>
            <a:ext cx="685800" cy="533400"/>
          </a:xfrm>
          <a:prstGeom prst="rect">
            <a:avLst/>
          </a:prstGeom>
          <a:solidFill>
            <a:schemeClr val="bg1">
              <a:alpha val="30196"/>
            </a:scheme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33" name="Line 11">
            <a:extLst>
              <a:ext uri="{FF2B5EF4-FFF2-40B4-BE49-F238E27FC236}">
                <a16:creationId xmlns:a16="http://schemas.microsoft.com/office/drawing/2014/main" id="{C8F0DDFE-4630-D863-E6AF-DD09694F155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34200" y="4267200"/>
            <a:ext cx="3048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134" name="Line 12">
            <a:extLst>
              <a:ext uri="{FF2B5EF4-FFF2-40B4-BE49-F238E27FC236}">
                <a16:creationId xmlns:a16="http://schemas.microsoft.com/office/drawing/2014/main" id="{391980A4-3387-AAD5-3A4B-44C13E4C34D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34200" y="2438400"/>
            <a:ext cx="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135" name="Freeform 13">
            <a:extLst>
              <a:ext uri="{FF2B5EF4-FFF2-40B4-BE49-F238E27FC236}">
                <a16:creationId xmlns:a16="http://schemas.microsoft.com/office/drawing/2014/main" id="{131EA6FF-9681-011C-7D3D-4E0A959152AD}"/>
              </a:ext>
            </a:extLst>
          </p:cNvPr>
          <p:cNvSpPr>
            <a:spLocks/>
          </p:cNvSpPr>
          <p:nvPr/>
        </p:nvSpPr>
        <p:spPr bwMode="auto">
          <a:xfrm>
            <a:off x="6934200" y="3200400"/>
            <a:ext cx="2667000" cy="1066800"/>
          </a:xfrm>
          <a:custGeom>
            <a:avLst/>
            <a:gdLst>
              <a:gd name="T0" fmla="*/ 0 w 1680"/>
              <a:gd name="T1" fmla="*/ 2147483647 h 480"/>
              <a:gd name="T2" fmla="*/ 2147483647 w 1680"/>
              <a:gd name="T3" fmla="*/ 0 h 480"/>
              <a:gd name="T4" fmla="*/ 2147483647 w 1680"/>
              <a:gd name="T5" fmla="*/ 2147483647 h 480"/>
              <a:gd name="T6" fmla="*/ 0 60000 65536"/>
              <a:gd name="T7" fmla="*/ 0 60000 65536"/>
              <a:gd name="T8" fmla="*/ 0 60000 65536"/>
              <a:gd name="T9" fmla="*/ 0 w 1680"/>
              <a:gd name="T10" fmla="*/ 0 h 480"/>
              <a:gd name="T11" fmla="*/ 1680 w 1680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80" h="480">
                <a:moveTo>
                  <a:pt x="0" y="480"/>
                </a:moveTo>
                <a:cubicBezTo>
                  <a:pt x="244" y="240"/>
                  <a:pt x="488" y="0"/>
                  <a:pt x="768" y="0"/>
                </a:cubicBezTo>
                <a:cubicBezTo>
                  <a:pt x="1048" y="0"/>
                  <a:pt x="1364" y="240"/>
                  <a:pt x="1680" y="48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136" name="Freeform 14">
            <a:extLst>
              <a:ext uri="{FF2B5EF4-FFF2-40B4-BE49-F238E27FC236}">
                <a16:creationId xmlns:a16="http://schemas.microsoft.com/office/drawing/2014/main" id="{849368AE-BD86-8A87-BBCE-85BAD114EDCA}"/>
              </a:ext>
            </a:extLst>
          </p:cNvPr>
          <p:cNvSpPr>
            <a:spLocks/>
          </p:cNvSpPr>
          <p:nvPr/>
        </p:nvSpPr>
        <p:spPr bwMode="auto">
          <a:xfrm>
            <a:off x="6934200" y="3581400"/>
            <a:ext cx="2667000" cy="685800"/>
          </a:xfrm>
          <a:custGeom>
            <a:avLst/>
            <a:gdLst>
              <a:gd name="T0" fmla="*/ 0 w 1680"/>
              <a:gd name="T1" fmla="*/ 2147483647 h 480"/>
              <a:gd name="T2" fmla="*/ 2147483647 w 1680"/>
              <a:gd name="T3" fmla="*/ 0 h 480"/>
              <a:gd name="T4" fmla="*/ 2147483647 w 1680"/>
              <a:gd name="T5" fmla="*/ 2147483647 h 480"/>
              <a:gd name="T6" fmla="*/ 0 60000 65536"/>
              <a:gd name="T7" fmla="*/ 0 60000 65536"/>
              <a:gd name="T8" fmla="*/ 0 60000 65536"/>
              <a:gd name="T9" fmla="*/ 0 w 1680"/>
              <a:gd name="T10" fmla="*/ 0 h 480"/>
              <a:gd name="T11" fmla="*/ 1680 w 1680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80" h="480">
                <a:moveTo>
                  <a:pt x="0" y="480"/>
                </a:moveTo>
                <a:cubicBezTo>
                  <a:pt x="244" y="240"/>
                  <a:pt x="488" y="0"/>
                  <a:pt x="768" y="0"/>
                </a:cubicBezTo>
                <a:cubicBezTo>
                  <a:pt x="1048" y="0"/>
                  <a:pt x="1364" y="240"/>
                  <a:pt x="1680" y="48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137" name="Line 15">
            <a:extLst>
              <a:ext uri="{FF2B5EF4-FFF2-40B4-BE49-F238E27FC236}">
                <a16:creationId xmlns:a16="http://schemas.microsoft.com/office/drawing/2014/main" id="{EEE93D19-5049-E5A3-9303-626C30995EF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05800" y="2667000"/>
            <a:ext cx="304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138" name="Text Box 16">
            <a:extLst>
              <a:ext uri="{FF2B5EF4-FFF2-40B4-BE49-F238E27FC236}">
                <a16:creationId xmlns:a16="http://schemas.microsoft.com/office/drawing/2014/main" id="{D5233D1B-AA2E-613E-17B8-560F10FF70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4800" y="2057400"/>
            <a:ext cx="2286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Temperature at different x at t=0</a:t>
            </a:r>
          </a:p>
        </p:txBody>
      </p:sp>
      <p:sp>
        <p:nvSpPr>
          <p:cNvPr id="5139" name="Text Box 17">
            <a:extLst>
              <a:ext uri="{FF2B5EF4-FFF2-40B4-BE49-F238E27FC236}">
                <a16:creationId xmlns:a16="http://schemas.microsoft.com/office/drawing/2014/main" id="{12C74BA5-4C8B-24EB-50C7-DF6F2C95CE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600" y="4692650"/>
            <a:ext cx="2286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Temperature at different x at t=h</a:t>
            </a:r>
          </a:p>
        </p:txBody>
      </p:sp>
      <p:sp>
        <p:nvSpPr>
          <p:cNvPr id="5140" name="Line 18">
            <a:extLst>
              <a:ext uri="{FF2B5EF4-FFF2-40B4-BE49-F238E27FC236}">
                <a16:creationId xmlns:a16="http://schemas.microsoft.com/office/drawing/2014/main" id="{8612982B-9C78-F132-4BFC-AF796A9A892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001000" y="3657600"/>
            <a:ext cx="53340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141" name="Text Box 19">
            <a:extLst>
              <a:ext uri="{FF2B5EF4-FFF2-40B4-BE49-F238E27FC236}">
                <a16:creationId xmlns:a16="http://schemas.microsoft.com/office/drawing/2014/main" id="{6AAD41F6-083A-40E9-C67A-8B7964FAD6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2057400"/>
            <a:ext cx="1676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/>
              <a:t>Temperature</a:t>
            </a:r>
          </a:p>
        </p:txBody>
      </p:sp>
      <p:sp>
        <p:nvSpPr>
          <p:cNvPr id="5142" name="Text Box 20">
            <a:extLst>
              <a:ext uri="{FF2B5EF4-FFF2-40B4-BE49-F238E27FC236}">
                <a16:creationId xmlns:a16="http://schemas.microsoft.com/office/drawing/2014/main" id="{343026AD-5E6B-35D7-0439-6CA3F54777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1600" y="4267200"/>
            <a:ext cx="1676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/>
              <a:t>Position  x</a:t>
            </a:r>
          </a:p>
        </p:txBody>
      </p:sp>
      <p:sp>
        <p:nvSpPr>
          <p:cNvPr id="5143" name="Text Box 21">
            <a:extLst>
              <a:ext uri="{FF2B5EF4-FFF2-40B4-BE49-F238E27FC236}">
                <a16:creationId xmlns:a16="http://schemas.microsoft.com/office/drawing/2014/main" id="{C56C8E89-3DA4-E77F-33BE-F99765C9E0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2667001"/>
            <a:ext cx="320040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Thin metal rod  insulated everywhere except at the edges. At  t =0 the rod is placed in ice </a:t>
            </a:r>
          </a:p>
        </p:txBody>
      </p:sp>
      <p:sp>
        <p:nvSpPr>
          <p:cNvPr id="1069078" name="AutoShape 22">
            <a:extLst>
              <a:ext uri="{FF2B5EF4-FFF2-40B4-BE49-F238E27FC236}">
                <a16:creationId xmlns:a16="http://schemas.microsoft.com/office/drawing/2014/main" id="{5EE1358E-10E1-214B-6F80-CDB6DA8C18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685800"/>
            <a:ext cx="2438400" cy="914400"/>
          </a:xfrm>
          <a:prstGeom prst="wedgeRectCallout">
            <a:avLst>
              <a:gd name="adj1" fmla="val -20116"/>
              <a:gd name="adj2" fmla="val 9895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/>
              <a:t>Different curve is used for each value of 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907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Slide Number Placeholder 5">
            <a:extLst>
              <a:ext uri="{FF2B5EF4-FFF2-40B4-BE49-F238E27FC236}">
                <a16:creationId xmlns:a16="http://schemas.microsoft.com/office/drawing/2014/main" id="{817A265E-09D4-7F8E-3A00-643E6C4D6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AE527DF-3B1E-4D7A-99D3-C9DD2C36001B}" type="slidenum">
              <a:rPr lang="ar-SA" altLang="en-US"/>
              <a:pPr eaLnBrk="1" hangingPunct="1"/>
              <a:t>7</a:t>
            </a:fld>
            <a:endParaRPr lang="en-US" altLang="en-US"/>
          </a:p>
        </p:txBody>
      </p:sp>
      <p:sp>
        <p:nvSpPr>
          <p:cNvPr id="61444" name="Rectangle 2">
            <a:extLst>
              <a:ext uri="{FF2B5EF4-FFF2-40B4-BE49-F238E27FC236}">
                <a16:creationId xmlns:a16="http://schemas.microsoft.com/office/drawing/2014/main" id="{01ADDD9F-DE1B-1567-4B97-4311E068EF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Examples of PDEs</a:t>
            </a:r>
          </a:p>
        </p:txBody>
      </p:sp>
      <p:sp>
        <p:nvSpPr>
          <p:cNvPr id="61445" name="Rectangle 3">
            <a:extLst>
              <a:ext uri="{FF2B5EF4-FFF2-40B4-BE49-F238E27FC236}">
                <a16:creationId xmlns:a16="http://schemas.microsoft.com/office/drawing/2014/main" id="{1A47D9E2-B028-9EDD-7283-DA3441F6B3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   PDEs are used to model many systems in many different fields of science and engineering.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000"/>
              <a:t> 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u="sng">
                <a:solidFill>
                  <a:srgbClr val="0066FF"/>
                </a:solidFill>
              </a:rPr>
              <a:t>Important Examples:</a:t>
            </a:r>
          </a:p>
          <a:p>
            <a:pPr lvl="1" eaLnBrk="1" hangingPunct="1"/>
            <a:r>
              <a:rPr lang="en-US" altLang="en-US" sz="2500">
                <a:solidFill>
                  <a:srgbClr val="FF0000"/>
                </a:solidFill>
              </a:rPr>
              <a:t>Laplace Equation</a:t>
            </a:r>
          </a:p>
          <a:p>
            <a:pPr lvl="1" eaLnBrk="1" hangingPunct="1"/>
            <a:r>
              <a:rPr lang="en-US" altLang="en-US" sz="2500">
                <a:solidFill>
                  <a:srgbClr val="FF0000"/>
                </a:solidFill>
              </a:rPr>
              <a:t>Heat Equation</a:t>
            </a:r>
          </a:p>
          <a:p>
            <a:pPr lvl="1" eaLnBrk="1" hangingPunct="1"/>
            <a:r>
              <a:rPr lang="en-US" altLang="en-US" sz="2500">
                <a:solidFill>
                  <a:srgbClr val="FF0000"/>
                </a:solidFill>
              </a:rPr>
              <a:t>Wave Equation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Slide Number Placeholder 5">
            <a:extLst>
              <a:ext uri="{FF2B5EF4-FFF2-40B4-BE49-F238E27FC236}">
                <a16:creationId xmlns:a16="http://schemas.microsoft.com/office/drawing/2014/main" id="{97A7AF02-B867-5C67-7DC5-D7E5AEE57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A127F88-A0DD-4D86-B1C2-2EEB28A84605}" type="slidenum">
              <a:rPr lang="ar-SA" altLang="en-US"/>
              <a:pPr eaLnBrk="1" hangingPunct="1"/>
              <a:t>8</a:t>
            </a:fld>
            <a:endParaRPr lang="en-US" altLang="en-US"/>
          </a:p>
        </p:txBody>
      </p:sp>
      <p:sp>
        <p:nvSpPr>
          <p:cNvPr id="6149" name="Rectangle 2">
            <a:extLst>
              <a:ext uri="{FF2B5EF4-FFF2-40B4-BE49-F238E27FC236}">
                <a16:creationId xmlns:a16="http://schemas.microsoft.com/office/drawing/2014/main" id="{64F26686-E777-7C51-9FDF-54A36D7861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Laplace Equation</a:t>
            </a:r>
          </a:p>
        </p:txBody>
      </p:sp>
      <p:sp>
        <p:nvSpPr>
          <p:cNvPr id="6150" name="Text Box 4">
            <a:extLst>
              <a:ext uri="{FF2B5EF4-FFF2-40B4-BE49-F238E27FC236}">
                <a16:creationId xmlns:a16="http://schemas.microsoft.com/office/drawing/2014/main" id="{6B68A57D-E599-1E0B-D94C-03D34B9FC4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3048000"/>
            <a:ext cx="7772400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800">
                <a:latin typeface="Arial" panose="020B0604020202020204" pitchFamily="34" charset="0"/>
              </a:rPr>
              <a:t>Used to describe the steady state distribution of heat in a body.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2800">
                <a:latin typeface="Arial" panose="020B0604020202020204" pitchFamily="34" charset="0"/>
              </a:rPr>
              <a:t>Also used to describe the steady state distribution of electrical charge in a body.</a:t>
            </a:r>
          </a:p>
        </p:txBody>
      </p:sp>
      <p:sp>
        <p:nvSpPr>
          <p:cNvPr id="6151" name="Rectangle 5">
            <a:extLst>
              <a:ext uri="{FF2B5EF4-FFF2-40B4-BE49-F238E27FC236}">
                <a16:creationId xmlns:a16="http://schemas.microsoft.com/office/drawing/2014/main" id="{EDC35AEE-1C53-237F-6C1F-DA20651060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676400"/>
            <a:ext cx="7620000" cy="1219200"/>
          </a:xfrm>
          <a:prstGeom prst="rect">
            <a:avLst/>
          </a:prstGeom>
          <a:solidFill>
            <a:schemeClr val="accent1">
              <a:alpha val="23921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6146" name="Object 2">
            <a:extLst>
              <a:ext uri="{FF2B5EF4-FFF2-40B4-BE49-F238E27FC236}">
                <a16:creationId xmlns:a16="http://schemas.microsoft.com/office/drawing/2014/main" id="{FFBB64F2-8075-6CCE-7993-1F7C8F61A9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32076" y="1752600"/>
          <a:ext cx="6664325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666880" imgH="457200" progId="Equation.3">
                  <p:embed/>
                </p:oleObj>
              </mc:Choice>
              <mc:Fallback>
                <p:oleObj name="Equation" r:id="rId3" imgW="2666880" imgH="457200" progId="Equation.3">
                  <p:embed/>
                  <p:pic>
                    <p:nvPicPr>
                      <p:cNvPr id="6146" name="Object 2">
                        <a:extLst>
                          <a:ext uri="{FF2B5EF4-FFF2-40B4-BE49-F238E27FC236}">
                            <a16:creationId xmlns:a16="http://schemas.microsoft.com/office/drawing/2014/main" id="{FFBB64F2-8075-6CCE-7993-1F7C8F61A99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2076" y="1752600"/>
                        <a:ext cx="6664325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Slide Number Placeholder 5">
            <a:extLst>
              <a:ext uri="{FF2B5EF4-FFF2-40B4-BE49-F238E27FC236}">
                <a16:creationId xmlns:a16="http://schemas.microsoft.com/office/drawing/2014/main" id="{A415CD86-DE22-BAF1-CB24-6BEA664AA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EE45390-C1FC-4966-BF29-76D7ADE52A2C}" type="slidenum">
              <a:rPr lang="ar-SA" altLang="en-US"/>
              <a:pPr eaLnBrk="1" hangingPunct="1"/>
              <a:t>9</a:t>
            </a:fld>
            <a:endParaRPr lang="en-US" altLang="en-US"/>
          </a:p>
        </p:txBody>
      </p:sp>
      <p:sp>
        <p:nvSpPr>
          <p:cNvPr id="7173" name="Rectangle 2">
            <a:extLst>
              <a:ext uri="{FF2B5EF4-FFF2-40B4-BE49-F238E27FC236}">
                <a16:creationId xmlns:a16="http://schemas.microsoft.com/office/drawing/2014/main" id="{DD2D7309-39CB-C51F-AE98-E7607D783F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Heat Equation</a:t>
            </a:r>
          </a:p>
        </p:txBody>
      </p:sp>
      <p:graphicFrame>
        <p:nvGraphicFramePr>
          <p:cNvPr id="7170" name="Object 3">
            <a:extLst>
              <a:ext uri="{FF2B5EF4-FFF2-40B4-BE49-F238E27FC236}">
                <a16:creationId xmlns:a16="http://schemas.microsoft.com/office/drawing/2014/main" id="{7351B0A6-F659-5B04-804C-61B6B9584D92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2303464" y="1809750"/>
          <a:ext cx="5788025" cy="1189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349360" imgH="482400" progId="Equation.3">
                  <p:embed/>
                </p:oleObj>
              </mc:Choice>
              <mc:Fallback>
                <p:oleObj name="Equation" r:id="rId3" imgW="2349360" imgH="482400" progId="Equation.3">
                  <p:embed/>
                  <p:pic>
                    <p:nvPicPr>
                      <p:cNvPr id="7170" name="Object 3">
                        <a:extLst>
                          <a:ext uri="{FF2B5EF4-FFF2-40B4-BE49-F238E27FC236}">
                            <a16:creationId xmlns:a16="http://schemas.microsoft.com/office/drawing/2014/main" id="{7351B0A6-F659-5B04-804C-61B6B9584D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3464" y="1809750"/>
                        <a:ext cx="5788025" cy="1189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4" name="Text Box 4">
            <a:extLst>
              <a:ext uri="{FF2B5EF4-FFF2-40B4-BE49-F238E27FC236}">
                <a16:creationId xmlns:a16="http://schemas.microsoft.com/office/drawing/2014/main" id="{F435B380-99CA-EFAE-FDEB-C6F0BA160F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3548063"/>
            <a:ext cx="7162800" cy="2462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800">
                <a:latin typeface="Arial" panose="020B0604020202020204" pitchFamily="34" charset="0"/>
              </a:rPr>
              <a:t>The function 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</a:rPr>
              <a:t>u(x,y,z,t)</a:t>
            </a:r>
            <a:r>
              <a:rPr lang="en-US" altLang="en-US">
                <a:latin typeface="Arial" panose="020B0604020202020204" pitchFamily="34" charset="0"/>
              </a:rPr>
              <a:t>  </a:t>
            </a:r>
            <a:r>
              <a:rPr lang="en-US" altLang="en-US" sz="2800">
                <a:latin typeface="Arial" panose="020B0604020202020204" pitchFamily="34" charset="0"/>
              </a:rPr>
              <a:t>is used to represent the temperature at time </a:t>
            </a:r>
            <a:r>
              <a:rPr lang="en-US" altLang="en-US" sz="2800" i="1">
                <a:solidFill>
                  <a:srgbClr val="FF0000"/>
                </a:solidFill>
                <a:latin typeface="Arial" panose="020B0604020202020204" pitchFamily="34" charset="0"/>
              </a:rPr>
              <a:t>t</a:t>
            </a:r>
            <a:r>
              <a:rPr lang="en-US" altLang="en-US" sz="2800">
                <a:latin typeface="Arial" panose="020B0604020202020204" pitchFamily="34" charset="0"/>
              </a:rPr>
              <a:t>  in a physical body at a point  with coordinates 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</a:rPr>
              <a:t>(x,y,z)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2800" b="1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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800">
                <a:latin typeface="Arial" panose="020B0604020202020204" pitchFamily="34" charset="0"/>
              </a:rPr>
              <a:t>is the thermal diffusivity. It is sufficient to consider the case </a:t>
            </a:r>
            <a:r>
              <a:rPr lang="en-US" altLang="en-US" sz="2800" b="1">
                <a:latin typeface="Arial" panose="020B0604020202020204" pitchFamily="34" charset="0"/>
                <a:sym typeface="Symbol" panose="05050102010706020507" pitchFamily="18" charset="2"/>
              </a:rPr>
              <a:t></a:t>
            </a:r>
            <a:r>
              <a:rPr lang="en-US" altLang="en-US" sz="2800" b="1">
                <a:latin typeface="Arial" panose="020B0604020202020204" pitchFamily="34" charset="0"/>
              </a:rPr>
              <a:t> = 1</a:t>
            </a:r>
            <a:r>
              <a:rPr lang="en-US" altLang="en-US" sz="2800"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7175" name="Rectangle 5">
            <a:extLst>
              <a:ext uri="{FF2B5EF4-FFF2-40B4-BE49-F238E27FC236}">
                <a16:creationId xmlns:a16="http://schemas.microsoft.com/office/drawing/2014/main" id="{F248438B-DE49-D71E-DB96-729B15FA5F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1600200"/>
            <a:ext cx="6858000" cy="1524000"/>
          </a:xfrm>
          <a:prstGeom prst="rect">
            <a:avLst/>
          </a:prstGeom>
          <a:solidFill>
            <a:schemeClr val="accent1">
              <a:alpha val="23921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Slide Number Placeholder 5">
            <a:extLst>
              <a:ext uri="{FF2B5EF4-FFF2-40B4-BE49-F238E27FC236}">
                <a16:creationId xmlns:a16="http://schemas.microsoft.com/office/drawing/2014/main" id="{C1DBEA52-1E6B-AAF9-D102-C1CC46AA6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748BBD4-40A0-418D-B2F1-D34471F680A5}" type="slidenum">
              <a:rPr lang="ar-SA" altLang="en-US"/>
              <a:pPr eaLnBrk="1" hangingPunct="1"/>
              <a:t>10</a:t>
            </a:fld>
            <a:endParaRPr lang="en-US" altLang="en-US"/>
          </a:p>
        </p:txBody>
      </p:sp>
      <p:sp>
        <p:nvSpPr>
          <p:cNvPr id="8197" name="Rectangle 2">
            <a:extLst>
              <a:ext uri="{FF2B5EF4-FFF2-40B4-BE49-F238E27FC236}">
                <a16:creationId xmlns:a16="http://schemas.microsoft.com/office/drawing/2014/main" id="{CCEC0C31-B5EB-5EAD-1F45-3ECA5B0CD5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Simpler Heat Equation</a:t>
            </a:r>
          </a:p>
        </p:txBody>
      </p:sp>
      <p:graphicFrame>
        <p:nvGraphicFramePr>
          <p:cNvPr id="8194" name="Object 3">
            <a:extLst>
              <a:ext uri="{FF2B5EF4-FFF2-40B4-BE49-F238E27FC236}">
                <a16:creationId xmlns:a16="http://schemas.microsoft.com/office/drawing/2014/main" id="{C8EE589A-BD22-CE2F-70ED-9CA98E96D0B5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2362200" y="1868488"/>
          <a:ext cx="3500438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09400" imgH="419040" progId="Equation.3">
                  <p:embed/>
                </p:oleObj>
              </mc:Choice>
              <mc:Fallback>
                <p:oleObj name="Equation" r:id="rId3" imgW="1409400" imgH="419040" progId="Equation.3">
                  <p:embed/>
                  <p:pic>
                    <p:nvPicPr>
                      <p:cNvPr id="8194" name="Object 3">
                        <a:extLst>
                          <a:ext uri="{FF2B5EF4-FFF2-40B4-BE49-F238E27FC236}">
                            <a16:creationId xmlns:a16="http://schemas.microsoft.com/office/drawing/2014/main" id="{C8EE589A-BD22-CE2F-70ED-9CA98E96D0B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1868488"/>
                        <a:ext cx="3500438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8" name="Text Box 4">
            <a:extLst>
              <a:ext uri="{FF2B5EF4-FFF2-40B4-BE49-F238E27FC236}">
                <a16:creationId xmlns:a16="http://schemas.microsoft.com/office/drawing/2014/main" id="{065B5023-707E-97BC-0091-ACE2E85B7B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3429000"/>
            <a:ext cx="7162800" cy="135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800" i="1">
                <a:solidFill>
                  <a:srgbClr val="FF0000"/>
                </a:solidFill>
                <a:latin typeface="Arial" panose="020B0604020202020204" pitchFamily="34" charset="0"/>
              </a:rPr>
              <a:t>T(x,t)</a:t>
            </a:r>
            <a:r>
              <a:rPr lang="en-US" altLang="en-US">
                <a:latin typeface="Arial" panose="020B0604020202020204" pitchFamily="34" charset="0"/>
              </a:rPr>
              <a:t>  </a:t>
            </a:r>
            <a:r>
              <a:rPr lang="en-US" altLang="en-US" sz="2800">
                <a:latin typeface="Arial" panose="020B0604020202020204" pitchFamily="34" charset="0"/>
              </a:rPr>
              <a:t>is used to represent the temperature at time </a:t>
            </a:r>
            <a:r>
              <a:rPr lang="en-US" altLang="en-US" sz="2800" i="1">
                <a:solidFill>
                  <a:srgbClr val="FF0000"/>
                </a:solidFill>
                <a:latin typeface="Arial" panose="020B0604020202020204" pitchFamily="34" charset="0"/>
              </a:rPr>
              <a:t>t</a:t>
            </a:r>
            <a:r>
              <a:rPr lang="en-US" altLang="en-US" sz="2800">
                <a:latin typeface="Arial" panose="020B0604020202020204" pitchFamily="34" charset="0"/>
              </a:rPr>
              <a:t>  at  the  point </a:t>
            </a:r>
            <a:r>
              <a:rPr lang="en-US" altLang="en-US" sz="2800" i="1">
                <a:solidFill>
                  <a:srgbClr val="FF0000"/>
                </a:solidFill>
                <a:latin typeface="Arial" panose="020B0604020202020204" pitchFamily="34" charset="0"/>
              </a:rPr>
              <a:t>x</a:t>
            </a:r>
            <a:r>
              <a:rPr lang="en-US" altLang="en-US" sz="2800">
                <a:latin typeface="Arial" panose="020B0604020202020204" pitchFamily="34" charset="0"/>
              </a:rPr>
              <a:t> of the thin rod</a:t>
            </a:r>
            <a:r>
              <a:rPr lang="en-US" altLang="en-US" sz="2800" i="1">
                <a:latin typeface="Arial" panose="020B0604020202020204" pitchFamily="34" charset="0"/>
              </a:rPr>
              <a:t>.</a:t>
            </a:r>
            <a:r>
              <a:rPr lang="en-US" altLang="en-US" sz="2800">
                <a:latin typeface="Arial" panose="020B0604020202020204" pitchFamily="34" charset="0"/>
              </a:rPr>
              <a:t> </a:t>
            </a:r>
          </a:p>
          <a:p>
            <a:pPr eaLnBrk="1" hangingPunct="1">
              <a:spcBef>
                <a:spcPct val="50000"/>
              </a:spcBef>
            </a:pP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8199" name="Rectangle 5">
            <a:extLst>
              <a:ext uri="{FF2B5EF4-FFF2-40B4-BE49-F238E27FC236}">
                <a16:creationId xmlns:a16="http://schemas.microsoft.com/office/drawing/2014/main" id="{BD1FB023-DBAF-20B9-2DA7-82F321709F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1676400"/>
            <a:ext cx="7848600" cy="1524000"/>
          </a:xfrm>
          <a:prstGeom prst="rect">
            <a:avLst/>
          </a:prstGeom>
          <a:solidFill>
            <a:schemeClr val="accent1">
              <a:alpha val="23921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200" name="AutoShape 6">
            <a:extLst>
              <a:ext uri="{FF2B5EF4-FFF2-40B4-BE49-F238E27FC236}">
                <a16:creationId xmlns:a16="http://schemas.microsoft.com/office/drawing/2014/main" id="{77125ABD-EC2D-4F77-040A-D6A45CD0961A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620000" y="914400"/>
            <a:ext cx="114300" cy="2552700"/>
          </a:xfrm>
          <a:prstGeom prst="can">
            <a:avLst>
              <a:gd name="adj" fmla="val 181872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201" name="Line 7">
            <a:extLst>
              <a:ext uri="{FF2B5EF4-FFF2-40B4-BE49-F238E27FC236}">
                <a16:creationId xmlns:a16="http://schemas.microsoft.com/office/drawing/2014/main" id="{476FE691-E589-954B-6E75-8D4FD7B541C3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8400" y="2438400"/>
            <a:ext cx="3048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202" name="Text Box 8">
            <a:extLst>
              <a:ext uri="{FF2B5EF4-FFF2-40B4-BE49-F238E27FC236}">
                <a16:creationId xmlns:a16="http://schemas.microsoft.com/office/drawing/2014/main" id="{F9FFDCAB-A6CE-9A92-7E26-5FBF898D5A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72600" y="2224088"/>
            <a:ext cx="381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Slide Number Placeholder 5">
            <a:extLst>
              <a:ext uri="{FF2B5EF4-FFF2-40B4-BE49-F238E27FC236}">
                <a16:creationId xmlns:a16="http://schemas.microsoft.com/office/drawing/2014/main" id="{21E6093A-3D91-B350-7F9E-F5E7AFC53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81541EA-144E-4DCA-992A-6FAF79065B5A}" type="slidenum">
              <a:rPr lang="ar-SA" altLang="en-US"/>
              <a:pPr eaLnBrk="1" hangingPunct="1"/>
              <a:t>11</a:t>
            </a:fld>
            <a:endParaRPr lang="en-US" altLang="en-US"/>
          </a:p>
        </p:txBody>
      </p:sp>
      <p:sp>
        <p:nvSpPr>
          <p:cNvPr id="9221" name="Rectangle 2">
            <a:extLst>
              <a:ext uri="{FF2B5EF4-FFF2-40B4-BE49-F238E27FC236}">
                <a16:creationId xmlns:a16="http://schemas.microsoft.com/office/drawing/2014/main" id="{C2A1B711-85F7-B9C1-3316-694E6D73B9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Wave Equation</a:t>
            </a:r>
          </a:p>
        </p:txBody>
      </p:sp>
      <p:graphicFrame>
        <p:nvGraphicFramePr>
          <p:cNvPr id="9218" name="Object 3">
            <a:extLst>
              <a:ext uri="{FF2B5EF4-FFF2-40B4-BE49-F238E27FC236}">
                <a16:creationId xmlns:a16="http://schemas.microsoft.com/office/drawing/2014/main" id="{62849891-73AC-05FE-0E2B-8A75005F5091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2528888" y="1752600"/>
          <a:ext cx="6096000" cy="120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438280" imgH="482400" progId="Equation.3">
                  <p:embed/>
                </p:oleObj>
              </mc:Choice>
              <mc:Fallback>
                <p:oleObj name="Equation" r:id="rId3" imgW="2438280" imgH="482400" progId="Equation.3">
                  <p:embed/>
                  <p:pic>
                    <p:nvPicPr>
                      <p:cNvPr id="9218" name="Object 3">
                        <a:extLst>
                          <a:ext uri="{FF2B5EF4-FFF2-40B4-BE49-F238E27FC236}">
                            <a16:creationId xmlns:a16="http://schemas.microsoft.com/office/drawing/2014/main" id="{62849891-73AC-05FE-0E2B-8A75005F509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8888" y="1752600"/>
                        <a:ext cx="6096000" cy="1206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2" name="Text Box 4">
            <a:extLst>
              <a:ext uri="{FF2B5EF4-FFF2-40B4-BE49-F238E27FC236}">
                <a16:creationId xmlns:a16="http://schemas.microsoft.com/office/drawing/2014/main" id="{532C37EB-AA87-525B-A72F-91FAB73D0B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3252788"/>
            <a:ext cx="7848600" cy="2462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800">
                <a:latin typeface="Arial" panose="020B0604020202020204" pitchFamily="34" charset="0"/>
              </a:rPr>
              <a:t>The function </a:t>
            </a:r>
            <a:r>
              <a:rPr lang="en-US" altLang="en-US" sz="2800" i="1">
                <a:latin typeface="Arial" panose="020B0604020202020204" pitchFamily="34" charset="0"/>
              </a:rPr>
              <a:t>u(x,y,z,t)</a:t>
            </a:r>
            <a:r>
              <a:rPr lang="en-US" altLang="en-US" sz="2800">
                <a:latin typeface="Arial" panose="020B0604020202020204" pitchFamily="34" charset="0"/>
              </a:rPr>
              <a:t> is used to represent the displacement at time t of a particle whose position at rest is </a:t>
            </a:r>
            <a:r>
              <a:rPr lang="en-US" altLang="en-US" sz="2800" i="1">
                <a:latin typeface="Arial" panose="020B0604020202020204" pitchFamily="34" charset="0"/>
              </a:rPr>
              <a:t>(x,y,z) .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2800">
                <a:latin typeface="Arial" panose="020B0604020202020204" pitchFamily="34" charset="0"/>
              </a:rPr>
              <a:t>The constant </a:t>
            </a:r>
            <a:r>
              <a:rPr lang="en-US" altLang="en-US" sz="2800" i="1">
                <a:latin typeface="Arial" panose="020B0604020202020204" pitchFamily="34" charset="0"/>
              </a:rPr>
              <a:t>c </a:t>
            </a:r>
            <a:r>
              <a:rPr lang="en-US" altLang="en-US" sz="2800">
                <a:latin typeface="Arial" panose="020B0604020202020204" pitchFamily="34" charset="0"/>
              </a:rPr>
              <a:t>represents the propagation speed of the wave.</a:t>
            </a:r>
          </a:p>
        </p:txBody>
      </p:sp>
      <p:sp>
        <p:nvSpPr>
          <p:cNvPr id="9223" name="Rectangle 5">
            <a:extLst>
              <a:ext uri="{FF2B5EF4-FFF2-40B4-BE49-F238E27FC236}">
                <a16:creationId xmlns:a16="http://schemas.microsoft.com/office/drawing/2014/main" id="{FC486DC2-2659-43AD-E621-63EBEBFBB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1600200"/>
            <a:ext cx="6934200" cy="1447800"/>
          </a:xfrm>
          <a:prstGeom prst="rect">
            <a:avLst/>
          </a:prstGeom>
          <a:solidFill>
            <a:schemeClr val="accent1">
              <a:alpha val="23921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Slide Number Placeholder 5">
            <a:extLst>
              <a:ext uri="{FF2B5EF4-FFF2-40B4-BE49-F238E27FC236}">
                <a16:creationId xmlns:a16="http://schemas.microsoft.com/office/drawing/2014/main" id="{60613CAC-FD5C-1D00-876B-6F1F08C1E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C38D39E-A8A0-4DBC-B82B-E8628CF88753}" type="slidenum">
              <a:rPr lang="ar-SA" altLang="en-US"/>
              <a:pPr eaLnBrk="1" hangingPunct="1"/>
              <a:t>12</a:t>
            </a:fld>
            <a:endParaRPr lang="en-US" altLang="en-US"/>
          </a:p>
        </p:txBody>
      </p:sp>
      <p:sp>
        <p:nvSpPr>
          <p:cNvPr id="62468" name="Rectangle 2">
            <a:extLst>
              <a:ext uri="{FF2B5EF4-FFF2-40B4-BE49-F238E27FC236}">
                <a16:creationId xmlns:a16="http://schemas.microsoft.com/office/drawing/2014/main" id="{E67F2519-3E1D-F944-016A-5369FDBD19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rgbClr val="006600"/>
                </a:solidFill>
              </a:rPr>
              <a:t>Classification of PDEs</a:t>
            </a:r>
          </a:p>
        </p:txBody>
      </p:sp>
      <p:sp>
        <p:nvSpPr>
          <p:cNvPr id="62469" name="Rectangle 3">
            <a:extLst>
              <a:ext uri="{FF2B5EF4-FFF2-40B4-BE49-F238E27FC236}">
                <a16:creationId xmlns:a16="http://schemas.microsoft.com/office/drawing/2014/main" id="{907DAF29-53F0-2E51-25B9-EACF345A8C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/>
              <a:t>   </a:t>
            </a:r>
            <a:r>
              <a:rPr lang="en-US" altLang="en-US">
                <a:solidFill>
                  <a:srgbClr val="0000FF"/>
                </a:solidFill>
              </a:rPr>
              <a:t>Linear Second order PDEs are important sets of equations that are used to model many systems in many different fields of science and engineering.</a:t>
            </a:r>
            <a:r>
              <a:rPr lang="en-US" altLang="en-US"/>
              <a:t>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800"/>
              <a:t> 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   </a:t>
            </a:r>
            <a:r>
              <a:rPr lang="en-US" altLang="en-US" sz="3200"/>
              <a:t>Classification is important because: </a:t>
            </a:r>
          </a:p>
          <a:p>
            <a:pPr lvl="1" eaLnBrk="1" hangingPunct="1"/>
            <a:r>
              <a:rPr lang="en-US" altLang="en-US"/>
              <a:t>Each category relates to specific engineering problems.</a:t>
            </a:r>
          </a:p>
          <a:p>
            <a:pPr lvl="1" eaLnBrk="1" hangingPunct="1"/>
            <a:r>
              <a:rPr lang="en-US" altLang="en-US"/>
              <a:t>Different approaches are used to solve these categories.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Slide Number Placeholder 5">
            <a:extLst>
              <a:ext uri="{FF2B5EF4-FFF2-40B4-BE49-F238E27FC236}">
                <a16:creationId xmlns:a16="http://schemas.microsoft.com/office/drawing/2014/main" id="{CE99C1A8-30F8-14EC-FAE9-520668015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FCAEFE2-ABA8-4722-BE54-005A55C88635}" type="slidenum">
              <a:rPr lang="ar-SA" altLang="en-US"/>
              <a:pPr eaLnBrk="1" hangingPunct="1"/>
              <a:t>13</a:t>
            </a:fld>
            <a:endParaRPr lang="en-US" altLang="en-US"/>
          </a:p>
        </p:txBody>
      </p:sp>
      <p:sp>
        <p:nvSpPr>
          <p:cNvPr id="10245" name="Rectangle 2">
            <a:extLst>
              <a:ext uri="{FF2B5EF4-FFF2-40B4-BE49-F238E27FC236}">
                <a16:creationId xmlns:a16="http://schemas.microsoft.com/office/drawing/2014/main" id="{69CC5DD8-78E1-F6D2-79D2-4DD2E11327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Linear Second Order PDEs</a:t>
            </a:r>
            <a:br>
              <a:rPr lang="en-US" altLang="en-US"/>
            </a:br>
            <a:r>
              <a:rPr lang="en-US" altLang="en-US" sz="3600"/>
              <a:t>Classification</a:t>
            </a:r>
          </a:p>
        </p:txBody>
      </p:sp>
      <p:graphicFrame>
        <p:nvGraphicFramePr>
          <p:cNvPr id="10242" name="Object 3">
            <a:extLst>
              <a:ext uri="{FF2B5EF4-FFF2-40B4-BE49-F238E27FC236}">
                <a16:creationId xmlns:a16="http://schemas.microsoft.com/office/drawing/2014/main" id="{6DC80DEC-725D-66E1-D8E2-D59E877D944C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2209800" y="1600201"/>
          <a:ext cx="7632700" cy="436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466800" imgH="1981080" progId="Equation.3">
                  <p:embed/>
                </p:oleObj>
              </mc:Choice>
              <mc:Fallback>
                <p:oleObj name="Equation" r:id="rId3" imgW="3466800" imgH="1981080" progId="Equation.3">
                  <p:embed/>
                  <p:pic>
                    <p:nvPicPr>
                      <p:cNvPr id="10242" name="Object 3">
                        <a:extLst>
                          <a:ext uri="{FF2B5EF4-FFF2-40B4-BE49-F238E27FC236}">
                            <a16:creationId xmlns:a16="http://schemas.microsoft.com/office/drawing/2014/main" id="{6DC80DEC-725D-66E1-D8E2-D59E877D944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1600201"/>
                        <a:ext cx="7632700" cy="4360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6" name="Rectangle 4">
            <a:extLst>
              <a:ext uri="{FF2B5EF4-FFF2-40B4-BE49-F238E27FC236}">
                <a16:creationId xmlns:a16="http://schemas.microsoft.com/office/drawing/2014/main" id="{B7B1B186-BB44-3BEF-0B3E-ED91AB05C7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4267200"/>
            <a:ext cx="5181600" cy="1752600"/>
          </a:xfrm>
          <a:prstGeom prst="rect">
            <a:avLst/>
          </a:prstGeom>
          <a:noFill/>
          <a:ln w="508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Slide Number Placeholder 5">
            <a:extLst>
              <a:ext uri="{FF2B5EF4-FFF2-40B4-BE49-F238E27FC236}">
                <a16:creationId xmlns:a16="http://schemas.microsoft.com/office/drawing/2014/main" id="{9CF98018-C586-2031-37AD-256BBBA0B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3117A4B-20F0-4C22-B139-3DBEC5AEA7C9}" type="slidenum">
              <a:rPr lang="ar-SA" altLang="en-US"/>
              <a:pPr eaLnBrk="1" hangingPunct="1"/>
              <a:t>14</a:t>
            </a:fld>
            <a:endParaRPr lang="en-US" altLang="en-US"/>
          </a:p>
        </p:txBody>
      </p:sp>
      <p:sp>
        <p:nvSpPr>
          <p:cNvPr id="11269" name="Rectangle 2">
            <a:extLst>
              <a:ext uri="{FF2B5EF4-FFF2-40B4-BE49-F238E27FC236}">
                <a16:creationId xmlns:a16="http://schemas.microsoft.com/office/drawing/2014/main" id="{12B233D7-FAC6-0333-A568-210D0B3433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Linear Second Order PDE</a:t>
            </a:r>
            <a:br>
              <a:rPr lang="en-US" altLang="en-US"/>
            </a:br>
            <a:r>
              <a:rPr lang="en-US" altLang="en-US" sz="3600"/>
              <a:t>Examples (Classification)</a:t>
            </a:r>
          </a:p>
        </p:txBody>
      </p:sp>
      <p:graphicFrame>
        <p:nvGraphicFramePr>
          <p:cNvPr id="11266" name="Object 3">
            <a:extLst>
              <a:ext uri="{FF2B5EF4-FFF2-40B4-BE49-F238E27FC236}">
                <a16:creationId xmlns:a16="http://schemas.microsoft.com/office/drawing/2014/main" id="{5E38A0FE-C8C6-03A6-784B-7A4EDCA36C1F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2667001" y="1600201"/>
          <a:ext cx="6456363" cy="441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933640" imgH="2006280" progId="Equation.3">
                  <p:embed/>
                </p:oleObj>
              </mc:Choice>
              <mc:Fallback>
                <p:oleObj name="Equation" r:id="rId3" imgW="2933640" imgH="2006280" progId="Equation.3">
                  <p:embed/>
                  <p:pic>
                    <p:nvPicPr>
                      <p:cNvPr id="11266" name="Object 3">
                        <a:extLst>
                          <a:ext uri="{FF2B5EF4-FFF2-40B4-BE49-F238E27FC236}">
                            <a16:creationId xmlns:a16="http://schemas.microsoft.com/office/drawing/2014/main" id="{5E38A0FE-C8C6-03A6-784B-7A4EDCA36C1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1" y="1600201"/>
                        <a:ext cx="6456363" cy="441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Slide Number Placeholder 5">
            <a:extLst>
              <a:ext uri="{FF2B5EF4-FFF2-40B4-BE49-F238E27FC236}">
                <a16:creationId xmlns:a16="http://schemas.microsoft.com/office/drawing/2014/main" id="{790ECC93-0D8A-0298-0951-C05F8CD75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394C93B-DB25-4D6D-BD30-BE9AEFF46DE0}" type="slidenum">
              <a:rPr lang="ar-SA" altLang="en-US"/>
              <a:pPr eaLnBrk="1" hangingPunct="1"/>
              <a:t>15</a:t>
            </a:fld>
            <a:endParaRPr lang="en-US" altLang="en-US"/>
          </a:p>
        </p:txBody>
      </p:sp>
      <p:sp>
        <p:nvSpPr>
          <p:cNvPr id="12293" name="Rectangle 2">
            <a:extLst>
              <a:ext uri="{FF2B5EF4-FFF2-40B4-BE49-F238E27FC236}">
                <a16:creationId xmlns:a16="http://schemas.microsoft.com/office/drawing/2014/main" id="{DC3C77E9-86E4-2CCE-1B28-4E467E8B73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Linear Second Order PDE</a:t>
            </a:r>
            <a:br>
              <a:rPr lang="en-US" altLang="en-US"/>
            </a:br>
            <a:r>
              <a:rPr lang="en-US" altLang="en-US" sz="3600"/>
              <a:t>Examples (Classification)</a:t>
            </a:r>
          </a:p>
        </p:txBody>
      </p:sp>
      <p:graphicFrame>
        <p:nvGraphicFramePr>
          <p:cNvPr id="12290" name="Object 3">
            <a:extLst>
              <a:ext uri="{FF2B5EF4-FFF2-40B4-BE49-F238E27FC236}">
                <a16:creationId xmlns:a16="http://schemas.microsoft.com/office/drawing/2014/main" id="{96C38DE8-749F-FF80-B029-127827A8711E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2195514" y="1524000"/>
          <a:ext cx="6580187" cy="460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958840" imgH="2070000" progId="Equation.3">
                  <p:embed/>
                </p:oleObj>
              </mc:Choice>
              <mc:Fallback>
                <p:oleObj name="Equation" r:id="rId3" imgW="2958840" imgH="2070000" progId="Equation.3">
                  <p:embed/>
                  <p:pic>
                    <p:nvPicPr>
                      <p:cNvPr id="12290" name="Object 3">
                        <a:extLst>
                          <a:ext uri="{FF2B5EF4-FFF2-40B4-BE49-F238E27FC236}">
                            <a16:creationId xmlns:a16="http://schemas.microsoft.com/office/drawing/2014/main" id="{96C38DE8-749F-FF80-B029-127827A8711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4" y="1524000"/>
                        <a:ext cx="6580187" cy="4603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4" name="Line 4">
            <a:extLst>
              <a:ext uri="{FF2B5EF4-FFF2-40B4-BE49-F238E27FC236}">
                <a16:creationId xmlns:a16="http://schemas.microsoft.com/office/drawing/2014/main" id="{ED237E25-40C3-47B6-4F83-953479497024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3962400"/>
            <a:ext cx="66294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</TotalTime>
  <Words>461</Words>
  <Application>Microsoft Office PowerPoint</Application>
  <PresentationFormat>Widescreen</PresentationFormat>
  <Paragraphs>82</Paragraphs>
  <Slides>15</Slides>
  <Notes>14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Wingdings</vt:lpstr>
      <vt:lpstr>Office Theme</vt:lpstr>
      <vt:lpstr>Equation</vt:lpstr>
      <vt:lpstr>PARTIAL DIFFERENTIAL EQUATIONS</vt:lpstr>
      <vt:lpstr>Partial Differential Equations</vt:lpstr>
      <vt:lpstr>Notation</vt:lpstr>
      <vt:lpstr>Linear PDE Classification</vt:lpstr>
      <vt:lpstr>Representing the Solution of a PDE (Two Independent Variables)</vt:lpstr>
      <vt:lpstr>Heat Equation </vt:lpstr>
      <vt:lpstr>Examples of PDEs</vt:lpstr>
      <vt:lpstr>Laplace Equation</vt:lpstr>
      <vt:lpstr>Heat Equation</vt:lpstr>
      <vt:lpstr>Simpler Heat Equation</vt:lpstr>
      <vt:lpstr>Wave Equation</vt:lpstr>
      <vt:lpstr>Classification of PDEs</vt:lpstr>
      <vt:lpstr>Linear Second Order PDEs Classification</vt:lpstr>
      <vt:lpstr>Linear Second Order PDE Examples (Classification)</vt:lpstr>
      <vt:lpstr>Linear Second Order PDE Examples (Classification)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Anirban Tarfdar</dc:creator>
  <cp:lastModifiedBy>Anirban Tarfdar</cp:lastModifiedBy>
  <cp:revision>2</cp:revision>
  <dcterms:created xsi:type="dcterms:W3CDTF">2025-09-29T01:29:39Z</dcterms:created>
  <dcterms:modified xsi:type="dcterms:W3CDTF">2025-10-06T08:53:50Z</dcterms:modified>
</cp:coreProperties>
</file>