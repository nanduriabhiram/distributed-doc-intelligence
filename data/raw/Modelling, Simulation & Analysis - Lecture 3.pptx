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26"/>
  </p:notes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EA6"/>
    <a:srgbClr val="145BA1"/>
    <a:srgbClr val="D040B9"/>
    <a:srgbClr val="C21616"/>
    <a:srgbClr val="2866A4"/>
    <a:srgbClr val="0000FF"/>
    <a:srgbClr val="D00000"/>
    <a:srgbClr val="0C559E"/>
    <a:srgbClr val="7A189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972" autoAdjust="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2D038-005B-4834-A350-82B2F8D54E0E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055DA-399B-4484-A094-610C877C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16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8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9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6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0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1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4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4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2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8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0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10/20/2025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05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6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4.wdp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6.wdp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7" Type="http://schemas.microsoft.com/office/2007/relationships/hdphoto" Target="../media/hdphoto2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microsoft.com/office/2007/relationships/hdphoto" Target="../media/hdphoto20.wdp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4.wdp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7.wdp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0.wdp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7" Type="http://schemas.microsoft.com/office/2007/relationships/hdphoto" Target="../media/hdphoto33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microsoft.com/office/2007/relationships/hdphoto" Target="../media/hdphoto32.wdp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18051F-0BA4-4C80-832C-1845011B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eon laser lights aligned to form a triangle">
            <a:extLst>
              <a:ext uri="{FF2B5EF4-FFF2-40B4-BE49-F238E27FC236}">
                <a16:creationId xmlns:a16="http://schemas.microsoft.com/office/drawing/2014/main" id="{7383B429-9DD0-4417-506D-AE8D4A3382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15" b="1085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961205" y="-372795"/>
            <a:ext cx="6857999" cy="7603591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9C5C2-748E-C2C2-D044-D7643CF36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3699" y="952500"/>
            <a:ext cx="4854071" cy="3893582"/>
          </a:xfrm>
        </p:spPr>
        <p:txBody>
          <a:bodyPr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49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Bond Graph Modelling</a:t>
            </a:r>
            <a:b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23AID201</a:t>
            </a:r>
            <a:b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 3 </a:t>
            </a:r>
            <a:b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90C54-5886-D32E-9251-FED81A9D8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28342" y="4967463"/>
            <a:ext cx="8520191" cy="1211818"/>
          </a:xfrm>
        </p:spPr>
        <p:txBody>
          <a:bodyPr anchor="b">
            <a:normAutofit/>
          </a:bodyPr>
          <a:lstStyle/>
          <a:p>
            <a:pPr algn="r"/>
            <a:r>
              <a:rPr lang="en-US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Dr. Mrittunjoy Guha Majumdar</a:t>
            </a:r>
          </a:p>
          <a:p>
            <a:pPr algn="r"/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School of Artificial Intelligence, Amrita Vishwavidyapeetham Delhi NCR</a:t>
            </a:r>
            <a:endParaRPr lang="en-IN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75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2C661-2968-8792-F800-F55F95D9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40D1-EBB2-2BB0-CC2D-1F07D098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97833"/>
            <a:ext cx="10995659" cy="107784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IN" sz="4000" i="0" u="none" strike="noStrike" baseline="0" dirty="0"/>
              <a:t>What is Bond Graph Modelling?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E8BF2-74B3-E126-4BC2-16DA0067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001483"/>
            <a:ext cx="10995660" cy="5390605"/>
          </a:xfrm>
          <a:solidFill>
            <a:schemeClr val="bg1"/>
          </a:solidFill>
        </p:spPr>
        <p:txBody>
          <a:bodyPr numCol="1">
            <a:no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Bond graphs provide a unified way to describe dynamic behavior of systems across multiple domains (electrical, mechanical, hydraulic, thermal, etc.) based on energy exchange.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The method relies on physical analogies beyond equations, emphasizing common energy concepts across domains.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Bond-graph sub-models are reusable, non-causal components that can be treated as objects in object-oriented physical system modeling.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Bond graphs are labeled, directed graphs where vertices represent sub-models (idealized physical phenomena) and edges (bonds) represent energy connections between ports.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Vertices may represent either equations or entire bond graphs, enabling hierarchical and modular model construction.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Each bond carries power and has two directions: power direction (for sign convention) and computational causality direction (input vs. output variables). Equations may need rewriting depending on assigned causality.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Bond-graph models can integrate with block diagrams, having power ports, signal inputs, and signal outputs as interfaces.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D040B9"/>
              </a:buClr>
              <a:buFont typeface="Univers Light" panose="020B0403020202020204" pitchFamily="34" charset="0"/>
              <a:buChar char="җ"/>
            </a:pPr>
            <a:r>
              <a:rPr lang="en-US" altLang="en-US" sz="1600" dirty="0"/>
              <a:t>The concept originated with Paynter (1961), expanded by </a:t>
            </a:r>
            <a:r>
              <a:rPr lang="en-US" altLang="en-US" sz="1600" dirty="0" err="1"/>
              <a:t>Karnopp</a:t>
            </a:r>
            <a:r>
              <a:rPr lang="en-US" altLang="en-US" sz="1600" dirty="0"/>
              <a:t> &amp; Rosenberg (1968–1990), refined by </a:t>
            </a:r>
            <a:r>
              <a:rPr lang="en-US" altLang="en-US" sz="1600" dirty="0" err="1"/>
              <a:t>Thoma</a:t>
            </a:r>
            <a:r>
              <a:rPr lang="en-US" altLang="en-US" sz="1600" dirty="0"/>
              <a:t> (1975) and Van </a:t>
            </a:r>
            <a:r>
              <a:rPr lang="en-US" altLang="en-US" sz="1600" dirty="0" err="1"/>
              <a:t>Dixhoorn</a:t>
            </a:r>
            <a:r>
              <a:rPr lang="en-US" altLang="en-US" sz="1600" dirty="0"/>
              <a:t> (1982), and formalized into a thermodynamic systems theory framework by </a:t>
            </a:r>
            <a:r>
              <a:rPr lang="en-US" altLang="en-US" sz="1600" dirty="0" err="1"/>
              <a:t>Breedveld</a:t>
            </a:r>
            <a:r>
              <a:rPr lang="en-US" altLang="en-US" sz="1600" dirty="0"/>
              <a:t> (1984–85).</a:t>
            </a:r>
          </a:p>
        </p:txBody>
      </p:sp>
    </p:spTree>
    <p:extLst>
      <p:ext uri="{BB962C8B-B14F-4D97-AF65-F5344CB8AC3E}">
        <p14:creationId xmlns:p14="http://schemas.microsoft.com/office/powerpoint/2010/main" val="425290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240ABC-9277-D81A-F4C9-938634886286}"/>
              </a:ext>
            </a:extLst>
          </p:cNvPr>
          <p:cNvSpPr/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E7CCE-4339-4ACD-CA46-205D66CDC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1790" y="540613"/>
            <a:ext cx="9328420" cy="577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0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5CCF-A784-D17A-FBBA-889A74EDF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Bond Graphs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26501-59F2-899B-12F4-D6AD19CED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3492137"/>
            <a:ext cx="3500440" cy="1422763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sz="2800" i="1" dirty="0">
                <a:latin typeface="Californian FB" panose="0207040306080B030204" pitchFamily="18" charset="0"/>
              </a:rPr>
              <a:t>Source (or Active Elements), Passive Elements, Converters and Junctions</a:t>
            </a:r>
            <a:endParaRPr lang="en-IN" sz="2800" i="1" dirty="0"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851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DF4127-5417-F83D-AE34-154FACD81289}"/>
              </a:ext>
            </a:extLst>
          </p:cNvPr>
          <p:cNvSpPr/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A8568-9F5D-C0F8-B5B7-34ED7B82F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22" y="332668"/>
            <a:ext cx="10995659" cy="1077849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en-US" dirty="0"/>
              <a:t>Sources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BED02-1EAE-B0A4-DDAE-D6D428C0A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4667" y="1000959"/>
            <a:ext cx="10102666" cy="537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8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BDF438-01EF-3361-AAF6-A60183A1F40A}"/>
              </a:ext>
            </a:extLst>
          </p:cNvPr>
          <p:cNvSpPr/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EAB5D-DF64-7619-1748-FEC4B494A9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28502" y="2575371"/>
            <a:ext cx="8934995" cy="211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3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8976C3-DCCB-072B-35ED-BE57C0A22F49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3DC66-995D-F8AC-28B8-E4526F68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68" y="515548"/>
            <a:ext cx="10995659" cy="1077849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Passive Elements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4AC10-5526-7E2B-338E-4B006C413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331" y="1178577"/>
            <a:ext cx="10431331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2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130C01-25FB-DB27-E3CE-FE92C0415D2F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2C604-DF86-542D-890D-46095FCF5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1995" y="266057"/>
            <a:ext cx="9168009" cy="45963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188A70-7AF7-7475-4A95-C57DD3C6D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1995" y="4766914"/>
            <a:ext cx="9168009" cy="197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09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A86410-0573-1305-AE79-64921F7D31B3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04CC6-A5BB-14BC-16AF-E48A63316F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0309" y="319097"/>
            <a:ext cx="7944959" cy="1848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37C8F3-221F-03C0-B5E7-7D077C5E139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0309" y="2567075"/>
            <a:ext cx="7944959" cy="1787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390DFF-2F70-C852-7471-A515794099C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2229" y="4618678"/>
            <a:ext cx="7382905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2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EB906E-04E7-4F0F-C31C-173143321459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D22D41-41EB-DD37-5131-E33F7D1C49A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4103" y="1960206"/>
            <a:ext cx="10763794" cy="293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54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B344FD-0652-A42B-77DE-0D68EB300B37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7C6FC-5BD7-1DF2-063E-785AA193DD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228" y="2014273"/>
            <a:ext cx="10859589" cy="313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49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37BEA3-AABE-53D0-5923-452B672B429A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333630-721F-0D1D-4C7A-9FE8634F15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8936" y="1963698"/>
            <a:ext cx="10763795" cy="294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1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C36E0D-F79B-A2BA-95E7-8877FF2DD131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70916-1CDB-C5CB-7E96-DBCC9CF0B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69" y="750679"/>
            <a:ext cx="10995659" cy="1077849"/>
          </a:xfrm>
        </p:spPr>
        <p:txBody>
          <a:bodyPr/>
          <a:lstStyle/>
          <a:p>
            <a:r>
              <a:rPr lang="en-US" dirty="0"/>
              <a:t>Two-Port Elements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5308B-2B92-86D0-4868-82D570C29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152" y="1543996"/>
            <a:ext cx="10725692" cy="2397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27103B-7036-85E8-824A-774D7FBED5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21274" y="4168385"/>
            <a:ext cx="7749447" cy="216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48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4F83-58DA-FF4E-DB7C-78E9943A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8" y="393627"/>
            <a:ext cx="10995659" cy="1077849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Transformer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A78A11-92D1-EDDF-EF4B-996B404F5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701" y="1223728"/>
            <a:ext cx="10896596" cy="18885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25C78-68B9-6509-9AF4-962F53F7D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701" y="3429000"/>
            <a:ext cx="10896596" cy="290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68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0ACB00-19D6-F065-F978-91B5525A7A13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51920-3AF6-7984-CD11-CBC54C96A2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1599" y="2385867"/>
            <a:ext cx="8068801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84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939788-2171-DEBC-D7BA-8BCCF101BF62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47FE0-1776-CF08-5D02-18E766DA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" y="236873"/>
            <a:ext cx="10995659" cy="1077849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Gyrator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99D17-A5D9-28DB-048F-6BA74E7EE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511" y="871701"/>
            <a:ext cx="9920976" cy="574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33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132ED4-2822-7A73-4BAE-D2D9D78DE51F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D12A15-B807-47F1-28AF-DFB0593C2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943" y="422909"/>
            <a:ext cx="9705221" cy="3170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AE888F-EB7A-4D60-881F-935B3EB032A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2724" y="3753395"/>
            <a:ext cx="3603481" cy="2930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23998-B74F-4F25-D812-2523DF735C0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0171" y="4010349"/>
            <a:ext cx="3633980" cy="24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84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EC493F-0DA2-4B1C-A9BE-91FE09EA4210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476AB-DBA2-8825-834A-6C3E4EC1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68" y="376211"/>
            <a:ext cx="10995659" cy="1077849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Junctions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4899C-1BA3-3123-0515-095A34E3D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6650" y="1061286"/>
            <a:ext cx="10258697" cy="53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20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2C7DB1-7EFC-A020-5ED1-7C10E4882F93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AD145-A9B3-8729-3B0D-FBF4C728B7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3747" y="701512"/>
            <a:ext cx="5284506" cy="2479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78D022-950C-A361-E325-06F80A60B5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3746" y="3575735"/>
            <a:ext cx="5284507" cy="26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01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57EBD9-9C10-9FC7-5B22-BC36F0CD1C49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276F0-5097-67E5-2D6E-F7B01BA6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" y="818611"/>
            <a:ext cx="10995659" cy="896711"/>
          </a:xfrm>
          <a:solidFill>
            <a:schemeClr val="bg1"/>
          </a:solidFill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Example</a:t>
            </a:r>
            <a:endParaRPr lang="en-IN" i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18338-60A3-75B5-A98F-431370C20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2818" y="1879675"/>
            <a:ext cx="9546363" cy="371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20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7FDF4A-0082-6817-7C91-3C44E0CE29FF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D31AC-07CC-73CF-4A6D-A3C39BA1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084320" y="307484"/>
            <a:ext cx="10995659" cy="1077849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Solution</a:t>
            </a:r>
            <a:endParaRPr lang="en-IN" i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DC10F-2A8A-8413-93F3-BE2DFBBE6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8834" y="791844"/>
            <a:ext cx="9300754" cy="3517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A37EE-D334-87F5-D25F-7A6C5EF03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8834" y="4261470"/>
            <a:ext cx="9300754" cy="208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45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9178F4-35E7-0928-C5D5-EE88E3ACD2CD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239F6-DEC3-A431-620B-A79DAA8152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80131" y="397637"/>
            <a:ext cx="5031738" cy="60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12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B50B94-1ECB-E38A-98A5-B77930C111B3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A5D46D-C857-A52F-5C5A-A156C3B1D5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7147" y="172808"/>
            <a:ext cx="7171653" cy="23389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F46D41-08DF-5429-C705-37B0193CC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4232" y="2511739"/>
            <a:ext cx="7084568" cy="42591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B05453B-AF07-84EB-69C2-65BE4C022340}"/>
              </a:ext>
            </a:extLst>
          </p:cNvPr>
          <p:cNvSpPr txBox="1">
            <a:spLocks/>
          </p:cNvSpPr>
          <p:nvPr/>
        </p:nvSpPr>
        <p:spPr>
          <a:xfrm rot="16200000">
            <a:off x="786757" y="766487"/>
            <a:ext cx="2084069" cy="896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i="1" dirty="0">
                <a:solidFill>
                  <a:srgbClr val="145BA1"/>
                </a:solidFill>
              </a:rPr>
              <a:t>Example</a:t>
            </a:r>
            <a:endParaRPr lang="en-IN" i="1" dirty="0">
              <a:solidFill>
                <a:srgbClr val="145BA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DD186B-A850-8A42-BF34-157078EB2264}"/>
              </a:ext>
            </a:extLst>
          </p:cNvPr>
          <p:cNvSpPr txBox="1">
            <a:spLocks/>
          </p:cNvSpPr>
          <p:nvPr/>
        </p:nvSpPr>
        <p:spPr>
          <a:xfrm rot="5400000">
            <a:off x="7375510" y="3807338"/>
            <a:ext cx="4520794" cy="10778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i="1" dirty="0">
                <a:solidFill>
                  <a:schemeClr val="tx1"/>
                </a:solidFill>
              </a:rPr>
              <a:t>Solution</a:t>
            </a:r>
            <a:endParaRPr lang="en-IN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590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4BD6D2-280E-2EDD-AF5B-AE7276CD11E5}"/>
              </a:ext>
            </a:extLst>
          </p:cNvPr>
          <p:cNvSpPr>
            <a:spLocks/>
          </p:cNvSpPr>
          <p:nvPr/>
        </p:nvSpPr>
        <p:spPr>
          <a:xfrm>
            <a:off x="0" y="0"/>
            <a:ext cx="1166077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128D6-6013-4DD7-EFF0-0A65C10F4C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2948" y="400717"/>
            <a:ext cx="5286103" cy="2081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E7F8A-4CCC-4592-0DB3-90E9DD135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37896" y="2824688"/>
            <a:ext cx="5286103" cy="684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38E630-7323-D039-54D4-48A2CBEAE7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2948" y="3509275"/>
            <a:ext cx="5271051" cy="300473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08D09D8-C43D-BA7C-B1EA-6A5211550E6A}"/>
              </a:ext>
            </a:extLst>
          </p:cNvPr>
          <p:cNvSpPr txBox="1">
            <a:spLocks/>
          </p:cNvSpPr>
          <p:nvPr/>
        </p:nvSpPr>
        <p:spPr>
          <a:xfrm rot="16200000">
            <a:off x="1962558" y="853573"/>
            <a:ext cx="2084069" cy="896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i="1" dirty="0">
                <a:solidFill>
                  <a:srgbClr val="329EA6"/>
                </a:solidFill>
              </a:rPr>
              <a:t>Example</a:t>
            </a:r>
            <a:endParaRPr lang="en-IN" i="1" dirty="0">
              <a:solidFill>
                <a:srgbClr val="329EA6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096CAC4-C95A-F64D-E9DE-F00415552767}"/>
              </a:ext>
            </a:extLst>
          </p:cNvPr>
          <p:cNvSpPr txBox="1">
            <a:spLocks/>
          </p:cNvSpPr>
          <p:nvPr/>
        </p:nvSpPr>
        <p:spPr>
          <a:xfrm rot="5400000">
            <a:off x="6493705" y="3946676"/>
            <a:ext cx="4520794" cy="10778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i="1" dirty="0">
                <a:solidFill>
                  <a:schemeClr val="tx1"/>
                </a:solidFill>
              </a:rPr>
              <a:t>Solution</a:t>
            </a:r>
            <a:endParaRPr lang="en-IN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644769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C2031"/>
      </a:dk2>
      <a:lt2>
        <a:srgbClr val="F0F3F1"/>
      </a:lt2>
      <a:accent1>
        <a:srgbClr val="D040B9"/>
      </a:accent1>
      <a:accent2>
        <a:srgbClr val="9A2EBE"/>
      </a:accent2>
      <a:accent3>
        <a:srgbClr val="6F40D0"/>
      </a:accent3>
      <a:accent4>
        <a:srgbClr val="3440C0"/>
      </a:accent4>
      <a:accent5>
        <a:srgbClr val="4088D0"/>
      </a:accent5>
      <a:accent6>
        <a:srgbClr val="2EB3BE"/>
      </a:accent6>
      <a:hlink>
        <a:srgbClr val="3F6ABF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2472</TotalTime>
  <Words>271</Words>
  <Application>Microsoft Office PowerPoint</Application>
  <PresentationFormat>Widescreen</PresentationFormat>
  <Paragraphs>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Amasis MT Pro Medium</vt:lpstr>
      <vt:lpstr>Arial</vt:lpstr>
      <vt:lpstr>Calibri</vt:lpstr>
      <vt:lpstr>Californian FB</vt:lpstr>
      <vt:lpstr>Roboto</vt:lpstr>
      <vt:lpstr>Univers Light</vt:lpstr>
      <vt:lpstr>TribuneVTI</vt:lpstr>
      <vt:lpstr>Bond Graph Modelling  23AID201  Lecture 3    </vt:lpstr>
      <vt:lpstr>What is Bond Graph Modelling?</vt:lpstr>
      <vt:lpstr>PowerPoint Presentation</vt:lpstr>
      <vt:lpstr>Elements of Bond Graphs</vt:lpstr>
      <vt:lpstr>Sources</vt:lpstr>
      <vt:lpstr>PowerPoint Presentation</vt:lpstr>
      <vt:lpstr>Passive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Two-Port Elements</vt:lpstr>
      <vt:lpstr>Transformer</vt:lpstr>
      <vt:lpstr>PowerPoint Presentation</vt:lpstr>
      <vt:lpstr>Gyrator</vt:lpstr>
      <vt:lpstr>PowerPoint Presentation</vt:lpstr>
      <vt:lpstr>Junctions</vt:lpstr>
      <vt:lpstr>PowerPoint Presentation</vt:lpstr>
      <vt:lpstr>Example</vt:lpstr>
      <vt:lpstr>Solution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and Statistics for Engineers  CSEG 2036P</dc:title>
  <dc:creator>Mrittunjoy Guha Majumdar</dc:creator>
  <cp:lastModifiedBy>Abhiram Nanduri</cp:lastModifiedBy>
  <cp:revision>180</cp:revision>
  <dcterms:created xsi:type="dcterms:W3CDTF">2023-08-29T03:39:07Z</dcterms:created>
  <dcterms:modified xsi:type="dcterms:W3CDTF">2025-10-20T09:38:19Z</dcterms:modified>
</cp:coreProperties>
</file>