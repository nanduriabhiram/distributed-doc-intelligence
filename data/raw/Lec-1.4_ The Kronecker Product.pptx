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5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EB99"/>
    <a:srgbClr val="6BD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83" d="100"/>
          <a:sy n="83" d="100"/>
        </p:scale>
        <p:origin x="84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ED10A-0ECC-426B-841E-2F639E8FC17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B9433-6102-40BA-98BE-5DBAD984AD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038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CBF6-E6EF-AD2E-EF70-0CA6A1D4F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D4D64-5F2B-E8DE-3726-DEE2BB0FA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0861-872E-963E-D442-06FFC888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696FB-75B3-476C-5D74-5E239250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278DF-853A-C448-49B5-5BC78652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0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2731-7BF0-DBE5-C018-82A1FD2D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076AF-0539-4397-117C-5D33BE433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032DC-0EEC-2531-683D-82C4C096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71823-65BA-EECA-276D-74373EFB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083BB-4A6D-E123-9C18-61D5CF52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715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DC30-46B6-2FBA-7077-98FFADBB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711BB-3276-D6C2-E6C5-0DF06C47F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9B395-C11A-7C27-6930-6D479317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CC348-4C59-EF99-6A6D-E18E8F91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7433-6639-E5C4-C9D2-E778EDC7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8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F3BF-0A29-5F66-CBE3-4712AC7F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D8AF2-104B-3E49-94D0-C2B95C7C5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EC7AF-5E6D-307F-6ECE-9F6D88353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73D3A-9039-511D-1F0B-2A18DD02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6C84F-4D34-6B63-B0CE-E1760889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20590-D938-3A68-2133-E5CD9F0F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82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028A-DB44-1F76-7D0A-1E6F32B7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F31AC-19B8-39D4-97FC-A94304453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DC0D4-C450-F955-00F6-CF94E8CC6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3DC70B-F00E-127C-E486-03A114A7A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E361E-ED01-058C-6B16-EDCB6CBEC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3C7825-B3BA-A30F-ED4A-44559BFF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74D752-C712-25CF-F994-A10682AD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1E517-0AD8-BA3C-44A0-B8849460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7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8C05-36FA-339A-C1E8-D06B88B9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40540-411F-EFB4-DF40-E82976D8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9E30E-78A7-3DCF-0D6A-DAD60D72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B5C6F-652D-3985-2196-F0FC8D3C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44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F11B61-BCFE-FC82-3415-24ABE62A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EFD32-530B-ED5B-1BAC-EAEDB6F6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D8037-3F6E-69E9-6D90-829EAC30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43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C00E-8976-90E7-B892-2918419B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760D7-EA26-5081-ACD9-C8FED735D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ADDFC-14CD-5CC6-9DD4-28C88AEC7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20857-9915-43CF-3DFC-A1FAC999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3868F-7F97-054F-5AA2-C2D0FFEC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A18B6-7314-6A23-0050-F569CE50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37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D563-0440-BB83-B754-D49BB73D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D5054-12B1-B2EA-95E8-4309C2A9F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1AEF4-7B81-5FF8-49D1-9560988F1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01C8-E4A4-F9C9-2E69-03053D46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0C3D5-1EB6-7840-A72B-8795D34C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E6BB5-5AC6-A4DA-5885-30E7FCD1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45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13E85-CF37-85A4-08F2-756EFC1B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ED819-1B20-9E65-7A3E-ED06F03D6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3B639-FFCA-99D8-1815-013AEC4B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70A7A-01EB-477B-1032-E798EFD8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32144-C404-067F-53AB-DB20865B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72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9E1A9-BE72-FEF0-61DC-7FE4D7724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A58A4-1A04-BD8A-E539-50C0949DE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9625-5717-51A3-D855-6C67CCB3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E7DC3-CDD7-1498-C8A5-CC9508C9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78D71-19CF-493F-3E47-0DA9B120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919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8C49B46-D171-47A2-9396-A48FBE5894C5}" type="datetime1">
              <a:rPr lang="ar-SA" altLang="en-US"/>
              <a:pPr/>
              <a:t>07/09/1447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ar-SA" altLang="en-US"/>
              <a:t>احصاء واحتمالات 2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5C1CE73-58FF-4121-929B-825A2B2EB4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42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C1BBE8-D40E-285F-D607-BAF7C6A8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55AB9-16DC-77A8-A534-BFA2BCA1D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B2AB8-111A-AA00-9AFE-4BA377530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F2CDF-9D02-4F34-8012-29ED1C0F8D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AC98A-8D12-42F1-8C1D-2EA2E25B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EF702-7E9D-FD8B-1291-546B98AF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D780B-31A0-502D-6976-4B6E50F1CAE4}"/>
              </a:ext>
            </a:extLst>
          </p:cNvPr>
          <p:cNvSpPr txBox="1"/>
          <p:nvPr userDrawn="1"/>
        </p:nvSpPr>
        <p:spPr>
          <a:xfrm rot="20606426">
            <a:off x="4437681" y="4359840"/>
            <a:ext cx="83458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Dr. Anirban Tarafdar </a:t>
            </a:r>
          </a:p>
          <a:p>
            <a:pPr algn="ctr"/>
            <a:r>
              <a:rPr lang="en-IN" sz="28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Assistant Professor, School of AI</a:t>
            </a:r>
          </a:p>
          <a:p>
            <a:pPr algn="ctr"/>
            <a:r>
              <a:rPr lang="en-IN" sz="28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Amrita Vishwa Vidyapeetham, Faridabad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A59377-54E3-4281-5681-51B0020B5CA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2346">
            <a:off x="6461210" y="3310689"/>
            <a:ext cx="3263603" cy="1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6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14D95-E851-4363-8D1B-AA2E7E96D809}"/>
              </a:ext>
            </a:extLst>
          </p:cNvPr>
          <p:cNvSpPr txBox="1"/>
          <p:nvPr/>
        </p:nvSpPr>
        <p:spPr>
          <a:xfrm>
            <a:off x="2276767" y="1017288"/>
            <a:ext cx="73983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23MAT214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Intelligent System-4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97E64-9AD3-29A2-3157-B024989B113A}"/>
              </a:ext>
            </a:extLst>
          </p:cNvPr>
          <p:cNvSpPr txBox="1"/>
          <p:nvPr/>
        </p:nvSpPr>
        <p:spPr>
          <a:xfrm>
            <a:off x="1801095" y="2208562"/>
            <a:ext cx="8349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Part- 1.4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E7920-56C5-3DF1-F81B-ED6B8B3D136A}"/>
              </a:ext>
            </a:extLst>
          </p:cNvPr>
          <p:cNvSpPr txBox="1"/>
          <p:nvPr/>
        </p:nvSpPr>
        <p:spPr>
          <a:xfrm>
            <a:off x="1445488" y="3030504"/>
            <a:ext cx="92825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Kronecker Products</a:t>
            </a: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D0099-BBFA-FEE6-12F6-BF2D850DF5E8}"/>
              </a:ext>
            </a:extLst>
          </p:cNvPr>
          <p:cNvSpPr txBox="1"/>
          <p:nvPr/>
        </p:nvSpPr>
        <p:spPr>
          <a:xfrm>
            <a:off x="101601" y="6276112"/>
            <a:ext cx="8035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*All Sources: Stanford University, Texas Tech University, UC Santa Barbara, etc.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39519-9EE8-4135-39E1-AA80503DB1E0}"/>
              </a:ext>
            </a:extLst>
          </p:cNvPr>
          <p:cNvSpPr txBox="1"/>
          <p:nvPr/>
        </p:nvSpPr>
        <p:spPr>
          <a:xfrm>
            <a:off x="108531" y="6513279"/>
            <a:ext cx="100422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*Sharing or distributing this lecture material without the permission of the lecture coordinator is strictly prohibited.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8E76A-F431-2472-4729-C7B50F2D84D3}"/>
              </a:ext>
            </a:extLst>
          </p:cNvPr>
          <p:cNvSpPr txBox="1"/>
          <p:nvPr/>
        </p:nvSpPr>
        <p:spPr>
          <a:xfrm>
            <a:off x="2773221" y="274111"/>
            <a:ext cx="6405418" cy="687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Amrita School of Artificial Intelligence, Faridabad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Amrita Vishwa Vidyapeetham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5A89A-053C-1625-ADB9-89B923F72954}"/>
              </a:ext>
            </a:extLst>
          </p:cNvPr>
          <p:cNvSpPr/>
          <p:nvPr/>
        </p:nvSpPr>
        <p:spPr>
          <a:xfrm>
            <a:off x="3935896" y="4174435"/>
            <a:ext cx="3697356" cy="57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BTech 4</a:t>
            </a:r>
            <a:r>
              <a:rPr lang="en-IN" sz="24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</a:t>
            </a:r>
          </a:p>
        </p:txBody>
      </p:sp>
    </p:spTree>
    <p:extLst>
      <p:ext uri="{BB962C8B-B14F-4D97-AF65-F5344CB8AC3E}">
        <p14:creationId xmlns:p14="http://schemas.microsoft.com/office/powerpoint/2010/main" val="314566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C131F3-AF65-81A0-7295-4D881CD2EEC3}"/>
              </a:ext>
            </a:extLst>
          </p:cNvPr>
          <p:cNvSpPr txBox="1"/>
          <p:nvPr/>
        </p:nvSpPr>
        <p:spPr>
          <a:xfrm>
            <a:off x="542635" y="1007331"/>
            <a:ext cx="79825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000" dirty="0"/>
              <a:t>In previous lectures:</a:t>
            </a:r>
          </a:p>
          <a:p>
            <a:pPr>
              <a:spcAft>
                <a:spcPts val="600"/>
              </a:spcAft>
              <a:buNone/>
            </a:pPr>
            <a:r>
              <a:rPr lang="en-US" sz="2000" dirty="0"/>
              <a:t>• Shift matrix modeled translation</a:t>
            </a:r>
            <a:br>
              <a:rPr lang="en-US" sz="2000" dirty="0"/>
            </a:br>
            <a:r>
              <a:rPr lang="en-US" sz="2000" dirty="0"/>
              <a:t>• Circulant matrix modeled periodic convolution</a:t>
            </a:r>
          </a:p>
          <a:p>
            <a:pPr>
              <a:spcAft>
                <a:spcPts val="600"/>
              </a:spcAft>
              <a:buNone/>
            </a:pPr>
            <a:endParaRPr lang="en-US" sz="2000" dirty="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But real systems are often: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• 2D (images)</a:t>
            </a:r>
            <a:br>
              <a:rPr lang="en-US" sz="2000" dirty="0"/>
            </a:br>
            <a:r>
              <a:rPr lang="en-US" sz="2000" dirty="0"/>
              <a:t>• Extend 1D systems to 2D</a:t>
            </a:r>
            <a:br>
              <a:rPr lang="en-US" sz="2000" dirty="0"/>
            </a:br>
            <a:r>
              <a:rPr lang="en-US" sz="2000" dirty="0"/>
              <a:t>• Multi-channel signals</a:t>
            </a:r>
            <a:br>
              <a:rPr lang="en-US" sz="2000" dirty="0"/>
            </a:br>
            <a:r>
              <a:rPr lang="en-US" sz="2000" dirty="0"/>
              <a:t>• Block structured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We need a way to build large structured matrices from smaller ones.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That is the </a:t>
            </a:r>
            <a:r>
              <a:rPr lang="en-US" sz="2000" b="1" dirty="0"/>
              <a:t>Kronecker product</a:t>
            </a:r>
            <a:r>
              <a:rPr lang="en-US" sz="2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8364B-BFDC-08EB-491F-156A70FDA963}"/>
              </a:ext>
            </a:extLst>
          </p:cNvPr>
          <p:cNvSpPr txBox="1"/>
          <p:nvPr/>
        </p:nvSpPr>
        <p:spPr>
          <a:xfrm>
            <a:off x="80818" y="249443"/>
            <a:ext cx="6405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Why Do We Need Kronecker Product?</a:t>
            </a:r>
          </a:p>
        </p:txBody>
      </p:sp>
    </p:spTree>
    <p:extLst>
      <p:ext uri="{BB962C8B-B14F-4D97-AF65-F5344CB8AC3E}">
        <p14:creationId xmlns:p14="http://schemas.microsoft.com/office/powerpoint/2010/main" val="2551651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A40623-7A6E-F2AA-0F89-4D896328A048}"/>
                  </a:ext>
                </a:extLst>
              </p:cNvPr>
              <p:cNvSpPr txBox="1"/>
              <p:nvPr/>
            </p:nvSpPr>
            <p:spPr>
              <a:xfrm>
                <a:off x="496455" y="425629"/>
                <a:ext cx="5830454" cy="2947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Definition</a:t>
                </a:r>
              </a:p>
              <a:p>
                <a:pPr>
                  <a:buNone/>
                </a:pPr>
                <a:r>
                  <a:rPr lang="en-IN" sz="2400" dirty="0"/>
                  <a:t>Let: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dirty="0"/>
                  <a:t>Each entry of A becomes a scaled copy of B.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A40623-7A6E-F2AA-0F89-4D896328A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55" y="425629"/>
                <a:ext cx="5830454" cy="2947474"/>
              </a:xfrm>
              <a:prstGeom prst="rect">
                <a:avLst/>
              </a:prstGeom>
              <a:blipFill>
                <a:blip r:embed="rId2"/>
                <a:stretch>
                  <a:fillRect l="-1567" t="-1656" b="-3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588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1C0184-9D05-CB61-7DFD-281E509A2566}"/>
                  </a:ext>
                </a:extLst>
              </p:cNvPr>
              <p:cNvSpPr txBox="1"/>
              <p:nvPr/>
            </p:nvSpPr>
            <p:spPr>
              <a:xfrm>
                <a:off x="574964" y="821877"/>
                <a:ext cx="6405418" cy="57529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Let: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Compute step by step.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b="1" dirty="0"/>
                  <a:t>Step 1: Multiply B by each element of A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1B =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ar-AE" sz="2000" dirty="0"/>
                  <a:t>2</a:t>
                </a:r>
                <a:r>
                  <a:rPr lang="en-IN" sz="2000" dirty="0"/>
                  <a:t>B =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ar-AE" sz="2000" dirty="0"/>
                  <a:t>3</a:t>
                </a:r>
                <a:r>
                  <a:rPr lang="en-IN" sz="2000" dirty="0"/>
                  <a:t>B =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ar-AE" sz="2000" dirty="0"/>
                  <a:t>4</a:t>
                </a:r>
                <a:r>
                  <a:rPr lang="en-IN" sz="2000" dirty="0"/>
                  <a:t>B =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1C0184-9D05-CB61-7DFD-281E509A2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64" y="821877"/>
                <a:ext cx="6405418" cy="5752985"/>
              </a:xfrm>
              <a:prstGeom prst="rect">
                <a:avLst/>
              </a:prstGeom>
              <a:blipFill>
                <a:blip r:embed="rId2"/>
                <a:stretch>
                  <a:fillRect l="-951" t="-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A720CE-2FC2-0189-62B2-DA507B60C6F7}"/>
                  </a:ext>
                </a:extLst>
              </p:cNvPr>
              <p:cNvSpPr txBox="1"/>
              <p:nvPr/>
            </p:nvSpPr>
            <p:spPr>
              <a:xfrm>
                <a:off x="6980382" y="1955934"/>
                <a:ext cx="4906819" cy="18417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2000" b="1" dirty="0"/>
                  <a:t>Step 2: Assemble block matrix</a:t>
                </a:r>
                <a:endParaRPr lang="en-IN" sz="200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Dimension: 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0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0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A720CE-2FC2-0189-62B2-DA507B60C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382" y="1955934"/>
                <a:ext cx="4906819" cy="1841786"/>
              </a:xfrm>
              <a:prstGeom prst="rect">
                <a:avLst/>
              </a:prstGeom>
              <a:blipFill>
                <a:blip r:embed="rId3"/>
                <a:stretch>
                  <a:fillRect l="-1242" t="-1987" b="-49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AF7D85C-031F-37B2-3859-71A2A5D3878C}"/>
              </a:ext>
            </a:extLst>
          </p:cNvPr>
          <p:cNvSpPr txBox="1"/>
          <p:nvPr/>
        </p:nvSpPr>
        <p:spPr>
          <a:xfrm>
            <a:off x="182418" y="221734"/>
            <a:ext cx="6405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C00000"/>
                </a:solidFill>
              </a:rPr>
              <a:t>Full Numerical Example</a:t>
            </a:r>
          </a:p>
        </p:txBody>
      </p:sp>
    </p:spTree>
    <p:extLst>
      <p:ext uri="{BB962C8B-B14F-4D97-AF65-F5344CB8AC3E}">
        <p14:creationId xmlns:p14="http://schemas.microsoft.com/office/powerpoint/2010/main" val="136827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1AC6EA-D36A-18B9-949B-52570502DE93}"/>
                  </a:ext>
                </a:extLst>
              </p:cNvPr>
              <p:cNvSpPr txBox="1"/>
              <p:nvPr/>
            </p:nvSpPr>
            <p:spPr>
              <a:xfrm>
                <a:off x="847436" y="751344"/>
                <a:ext cx="6405418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Eigenvalue Property (Important)</a:t>
                </a:r>
              </a:p>
              <a:p>
                <a:pPr>
                  <a:buNone/>
                </a:pPr>
                <a:r>
                  <a:rPr lang="en-IN" sz="2400" dirty="0"/>
                  <a:t>If: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𝐵𝑤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𝜆𝜇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dirty="0"/>
                  <a:t>Thus eigenvalues multiply.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1AC6EA-D36A-18B9-949B-52570502D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36" y="751344"/>
                <a:ext cx="6405418" cy="2677656"/>
              </a:xfrm>
              <a:prstGeom prst="rect">
                <a:avLst/>
              </a:prstGeom>
              <a:blipFill>
                <a:blip r:embed="rId2"/>
                <a:stretch>
                  <a:fillRect l="-1427" t="-1818" b="-4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34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87A307-4163-CE21-5F0F-864C8FFD236F}"/>
                  </a:ext>
                </a:extLst>
              </p:cNvPr>
              <p:cNvSpPr txBox="1"/>
              <p:nvPr/>
            </p:nvSpPr>
            <p:spPr>
              <a:xfrm>
                <a:off x="498763" y="923681"/>
                <a:ext cx="6405418" cy="3062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US" sz="2400" dirty="0"/>
                  <a:t>Suppose: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US" sz="2400" dirty="0"/>
                  <a:t>• A represents vertical filtering</a:t>
                </a:r>
                <a:br>
                  <a:rPr lang="en-US" sz="2400" dirty="0"/>
                </a:br>
                <a:r>
                  <a:rPr lang="en-US" sz="2400" dirty="0"/>
                  <a:t>• B represents horizontal filtering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US" sz="2400" dirty="0"/>
                  <a:t>Then: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US" sz="2400" dirty="0"/>
                  <a:t>represents 2D filtering operator.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US" sz="2400" dirty="0"/>
                  <a:t>This is how 2D convolution matrices are built.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87A307-4163-CE21-5F0F-864C8FFD2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3" y="923681"/>
                <a:ext cx="6405418" cy="3062377"/>
              </a:xfrm>
              <a:prstGeom prst="rect">
                <a:avLst/>
              </a:prstGeom>
              <a:blipFill>
                <a:blip r:embed="rId2"/>
                <a:stretch>
                  <a:fillRect l="-1522" t="-1594" b="-35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4AB025A-22C1-B506-4F9A-9F7B36EFE963}"/>
              </a:ext>
            </a:extLst>
          </p:cNvPr>
          <p:cNvSpPr txBox="1"/>
          <p:nvPr/>
        </p:nvSpPr>
        <p:spPr>
          <a:xfrm>
            <a:off x="498763" y="4527490"/>
            <a:ext cx="7465291" cy="15542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70C0"/>
                </a:solidFill>
              </a:rPr>
              <a:t>Why Kronecker Appears</a:t>
            </a:r>
          </a:p>
          <a:p>
            <a:pPr>
              <a:spcAft>
                <a:spcPts val="600"/>
              </a:spcAft>
              <a:buNone/>
            </a:pPr>
            <a:r>
              <a:rPr lang="en-US" sz="2000" dirty="0"/>
              <a:t>Because:</a:t>
            </a:r>
          </a:p>
          <a:p>
            <a:pPr>
              <a:spcAft>
                <a:spcPts val="600"/>
              </a:spcAft>
              <a:buNone/>
            </a:pPr>
            <a:r>
              <a:rPr lang="en-US" sz="2000" dirty="0"/>
              <a:t>2D separable filtering = vertical operation × horizontal operation.</a:t>
            </a:r>
          </a:p>
          <a:p>
            <a:pPr>
              <a:spcAft>
                <a:spcPts val="600"/>
              </a:spcAft>
              <a:buNone/>
            </a:pPr>
            <a:r>
              <a:rPr lang="en-US" sz="2000" dirty="0"/>
              <a:t>Kronecker naturally combines independent dimensions.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A3230F-8DCB-A7FC-3E9A-D14D01C2D72E}"/>
              </a:ext>
            </a:extLst>
          </p:cNvPr>
          <p:cNvSpPr txBox="1"/>
          <p:nvPr/>
        </p:nvSpPr>
        <p:spPr>
          <a:xfrm>
            <a:off x="3701472" y="65161"/>
            <a:ext cx="640541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Real-Life Scenario: </a:t>
            </a:r>
            <a:r>
              <a:rPr lang="en-US" sz="2800" b="1" dirty="0">
                <a:solidFill>
                  <a:srgbClr val="C00000"/>
                </a:solidFill>
              </a:rPr>
              <a:t>2D 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320337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E9D332-9F61-6255-F946-37D87CE59974}"/>
                  </a:ext>
                </a:extLst>
              </p:cNvPr>
              <p:cNvSpPr txBox="1"/>
              <p:nvPr/>
            </p:nvSpPr>
            <p:spPr>
              <a:xfrm>
                <a:off x="320964" y="1035863"/>
                <a:ext cx="7705436" cy="27068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🎯 Real System</a:t>
                </a:r>
              </a:p>
              <a:p>
                <a:pPr>
                  <a:buNone/>
                </a:pPr>
                <a:r>
                  <a:rPr lang="en-IN" sz="2400" dirty="0"/>
                  <a:t>An image is a 2D signal: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dirty="0"/>
                  <a:t>Suppose: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Horizontal blur matrix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ar-AE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Vertical blur matrix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dirty="0"/>
                  <a:t>We want to blur in both directions.</a:t>
                </a:r>
                <a:endParaRPr lang="ar-AE" sz="24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E9D332-9F61-6255-F946-37D87CE59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64" y="1035863"/>
                <a:ext cx="7705436" cy="2706831"/>
              </a:xfrm>
              <a:prstGeom prst="rect">
                <a:avLst/>
              </a:prstGeom>
              <a:blipFill>
                <a:blip r:embed="rId2"/>
                <a:stretch>
                  <a:fillRect l="-1266" t="-2027" b="-4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E67F97-2CC2-E75D-9B6C-2CA8A5A12798}"/>
                  </a:ext>
                </a:extLst>
              </p:cNvPr>
              <p:cNvSpPr txBox="1"/>
              <p:nvPr/>
            </p:nvSpPr>
            <p:spPr>
              <a:xfrm>
                <a:off x="6608618" y="3344747"/>
                <a:ext cx="5398654" cy="330866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IN" sz="2400" b="1" dirty="0"/>
                  <a:t>🧠 Mathematical Model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400" dirty="0"/>
                  <a:t>2D filtering can be written as: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</a:rPr>
                        <m:t>𝑋</m:t>
                      </m:r>
                      <m:sSubSup>
                        <m:sSub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ar-AE" sz="24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400" dirty="0"/>
                  <a:t>If we convert image into vector form: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vec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 sz="24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ar-AE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ar-AE" sz="2400" b="0" i="0"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ar-AE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ar-AE" sz="24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ar-AE" sz="2400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IN" sz="2400" b="0" i="1">
                          <a:latin typeface="Cambria Math" panose="02040503050406030204" pitchFamily="18" charset="0"/>
                        </a:rPr>
                        <m:t>vec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400" dirty="0"/>
                  <a:t>This is a standard identity: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vec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𝐴𝑋𝐵</m:t>
                          </m:r>
                        </m:e>
                      </m:d>
                      <m:r>
                        <a:rPr lang="ar-AE" sz="24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b="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ar-AE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b="0" i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m:rPr>
                          <m:nor/>
                        </m:rPr>
                        <a:rPr lang="ar-AE" sz="2400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IN" sz="2400" b="0" i="1">
                          <a:latin typeface="Cambria Math" panose="02040503050406030204" pitchFamily="18" charset="0"/>
                        </a:rPr>
                        <m:t>vec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E67F97-2CC2-E75D-9B6C-2CA8A5A12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618" y="3344747"/>
                <a:ext cx="5398654" cy="3308663"/>
              </a:xfrm>
              <a:prstGeom prst="rect">
                <a:avLst/>
              </a:prstGeom>
              <a:blipFill>
                <a:blip r:embed="rId3"/>
                <a:stretch>
                  <a:fillRect l="-1693" t="-16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7B3D9FE-40D3-2829-CBA8-40BA532E7F69}"/>
              </a:ext>
            </a:extLst>
          </p:cNvPr>
          <p:cNvSpPr txBox="1"/>
          <p:nvPr/>
        </p:nvSpPr>
        <p:spPr>
          <a:xfrm>
            <a:off x="3701472" y="65161"/>
            <a:ext cx="640541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Real-Life Scenario: </a:t>
            </a:r>
            <a:r>
              <a:rPr lang="en-IN" sz="2800" b="1" dirty="0"/>
              <a:t>2D Image Blurring </a:t>
            </a:r>
            <a:endParaRPr lang="en-IN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30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4ED20C-CC98-3261-E6AD-D60A7542B281}"/>
                  </a:ext>
                </a:extLst>
              </p:cNvPr>
              <p:cNvSpPr txBox="1"/>
              <p:nvPr/>
            </p:nvSpPr>
            <p:spPr>
              <a:xfrm>
                <a:off x="718126" y="885234"/>
                <a:ext cx="5128492" cy="3477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IN" sz="2000" b="1" dirty="0"/>
                  <a:t>🎯 Real System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Image of size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0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IN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We apply 1D DFT on rows and columns.</a:t>
                </a:r>
              </a:p>
              <a:p>
                <a:pPr>
                  <a:spcAft>
                    <a:spcPts val="600"/>
                  </a:spcAft>
                  <a:buNone/>
                </a:pPr>
                <a:br>
                  <a:rPr lang="en-IN" sz="2000" dirty="0"/>
                </a:br>
                <a:endParaRPr lang="en-IN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b="1" dirty="0"/>
                  <a:t>🧠 Mathematical Structure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1D Fourier matrix: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ar-AE" sz="2000" dirty="0"/>
                  <a:t>2</a:t>
                </a:r>
                <a:r>
                  <a:rPr lang="en-IN" sz="2000" dirty="0"/>
                  <a:t>D Fourier matrix: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4ED20C-CC98-3261-E6AD-D60A7542B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26" y="885234"/>
                <a:ext cx="5128492" cy="3477875"/>
              </a:xfrm>
              <a:prstGeom prst="rect">
                <a:avLst/>
              </a:prstGeom>
              <a:blipFill>
                <a:blip r:embed="rId2"/>
                <a:stretch>
                  <a:fillRect l="-1308" t="-1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DBFFB70-9065-EC6D-0FC3-88EB19EA08FB}"/>
              </a:ext>
            </a:extLst>
          </p:cNvPr>
          <p:cNvSpPr txBox="1"/>
          <p:nvPr/>
        </p:nvSpPr>
        <p:spPr>
          <a:xfrm>
            <a:off x="2768599" y="83127"/>
            <a:ext cx="7714673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Real-Life Scenario: </a:t>
            </a:r>
            <a:r>
              <a:rPr lang="en-IN" sz="2800" b="1" dirty="0"/>
              <a:t>2D Discrete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BC59BA-19A4-EC0B-2CF8-BE1054B5CBBE}"/>
                  </a:ext>
                </a:extLst>
              </p:cNvPr>
              <p:cNvSpPr txBox="1"/>
              <p:nvPr/>
            </p:nvSpPr>
            <p:spPr>
              <a:xfrm>
                <a:off x="6259945" y="2030859"/>
                <a:ext cx="4602018" cy="24004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IN" sz="2000" b="1" dirty="0"/>
                  <a:t>Example (N=2)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Then: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This is 2D Fourier transform matrix.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BC59BA-19A4-EC0B-2CF8-BE1054B5C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945" y="2030859"/>
                <a:ext cx="4602018" cy="2400465"/>
              </a:xfrm>
              <a:prstGeom prst="rect">
                <a:avLst/>
              </a:prstGeom>
              <a:blipFill>
                <a:blip r:embed="rId3"/>
                <a:stretch>
                  <a:fillRect l="-1457" t="-1269" b="-35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AA6DB1A-0B08-4827-E5CC-2C8A021E7306}"/>
              </a:ext>
            </a:extLst>
          </p:cNvPr>
          <p:cNvSpPr txBox="1"/>
          <p:nvPr/>
        </p:nvSpPr>
        <p:spPr>
          <a:xfrm>
            <a:off x="394855" y="5117145"/>
            <a:ext cx="640541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Kronecker Appears</a:t>
            </a:r>
          </a:p>
          <a:p>
            <a:pPr>
              <a:buNone/>
            </a:pPr>
            <a:r>
              <a:rPr lang="en-US" dirty="0"/>
              <a:t>Because:</a:t>
            </a:r>
          </a:p>
          <a:p>
            <a:pPr>
              <a:buNone/>
            </a:pPr>
            <a:r>
              <a:rPr lang="en-US" dirty="0"/>
              <a:t>Frequency in x-direction and y-direction are independent.</a:t>
            </a:r>
          </a:p>
          <a:p>
            <a:pPr>
              <a:buNone/>
            </a:pPr>
            <a:r>
              <a:rPr lang="en-US" dirty="0"/>
              <a:t>Kronecker combines independent bases.</a:t>
            </a:r>
          </a:p>
        </p:txBody>
      </p:sp>
    </p:spTree>
    <p:extLst>
      <p:ext uri="{BB962C8B-B14F-4D97-AF65-F5344CB8AC3E}">
        <p14:creationId xmlns:p14="http://schemas.microsoft.com/office/powerpoint/2010/main" val="306203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5519AF-FF12-E96A-C84B-EA96F97F6F16}"/>
              </a:ext>
            </a:extLst>
          </p:cNvPr>
          <p:cNvSpPr txBox="1"/>
          <p:nvPr/>
        </p:nvSpPr>
        <p:spPr>
          <a:xfrm>
            <a:off x="2632364" y="643622"/>
            <a:ext cx="5985164" cy="3277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400" dirty="0"/>
              <a:t>Kronecker product appears whenever:</a:t>
            </a:r>
          </a:p>
          <a:p>
            <a:pPr>
              <a:spcAft>
                <a:spcPts val="600"/>
              </a:spcAft>
              <a:buNone/>
            </a:pPr>
            <a:r>
              <a:rPr lang="en-US" sz="2400" dirty="0">
                <a:solidFill>
                  <a:srgbClr val="0070C0"/>
                </a:solidFill>
              </a:rPr>
              <a:t>A system has independent dimensions.</a:t>
            </a:r>
          </a:p>
          <a:p>
            <a:pPr>
              <a:spcAft>
                <a:spcPts val="600"/>
              </a:spcAft>
              <a:buNone/>
            </a:pPr>
            <a:r>
              <a:rPr lang="en-US" sz="2400" dirty="0"/>
              <a:t>Examples:</a:t>
            </a:r>
          </a:p>
          <a:p>
            <a:pPr>
              <a:spcAft>
                <a:spcPts val="600"/>
              </a:spcAft>
              <a:buNone/>
            </a:pPr>
            <a:r>
              <a:rPr lang="en-US" sz="2400" dirty="0"/>
              <a:t>• Space × Time</a:t>
            </a:r>
            <a:br>
              <a:rPr lang="en-US" sz="2400" dirty="0"/>
            </a:br>
            <a:r>
              <a:rPr lang="en-US" sz="2400" dirty="0"/>
              <a:t>• Row × Column</a:t>
            </a:r>
            <a:br>
              <a:rPr lang="en-US" sz="2400" dirty="0"/>
            </a:br>
            <a:r>
              <a:rPr lang="en-US" sz="2400" dirty="0"/>
              <a:t>• Sensor × Time</a:t>
            </a:r>
            <a:br>
              <a:rPr lang="en-US" sz="2400" dirty="0"/>
            </a:br>
            <a:r>
              <a:rPr lang="en-US" sz="2400" dirty="0"/>
              <a:t>• X-direction × Y-direction</a:t>
            </a:r>
            <a:br>
              <a:rPr lang="en-US" sz="2400" dirty="0"/>
            </a:br>
            <a:r>
              <a:rPr lang="en-US" sz="2400" dirty="0"/>
              <a:t>• Subsystem A × Subsystem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DFDCB-CB7D-2705-EE26-708C852904D8}"/>
              </a:ext>
            </a:extLst>
          </p:cNvPr>
          <p:cNvSpPr txBox="1"/>
          <p:nvPr/>
        </p:nvSpPr>
        <p:spPr>
          <a:xfrm>
            <a:off x="828962" y="4424327"/>
            <a:ext cx="9783619" cy="830997"/>
          </a:xfrm>
          <a:prstGeom prst="rect">
            <a:avLst/>
          </a:prstGeom>
          <a:solidFill>
            <a:srgbClr val="7CEB99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i="1" dirty="0"/>
              <a:t>Kronecker product mathematically combines independent structures into a larger structured system.</a:t>
            </a:r>
          </a:p>
        </p:txBody>
      </p:sp>
    </p:spTree>
    <p:extLst>
      <p:ext uri="{BB962C8B-B14F-4D97-AF65-F5344CB8AC3E}">
        <p14:creationId xmlns:p14="http://schemas.microsoft.com/office/powerpoint/2010/main" val="33423813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512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Anirban Tarfdar</dc:creator>
  <cp:lastModifiedBy>Anirban Tarfdar</cp:lastModifiedBy>
  <cp:revision>46</cp:revision>
  <dcterms:created xsi:type="dcterms:W3CDTF">2026-01-19T02:38:56Z</dcterms:created>
  <dcterms:modified xsi:type="dcterms:W3CDTF">2026-02-23T05:33:43Z</dcterms:modified>
</cp:coreProperties>
</file>